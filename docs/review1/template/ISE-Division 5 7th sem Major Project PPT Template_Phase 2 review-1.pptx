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71" r:id="rId11"/>
    <p:sldId id="270" r:id="rId12"/>
  </p:sldIdLst>
  <p:sldSz cx="9144000" cy="6858000" type="screen4x3"/>
  <p:notesSz cx="6858000" cy="9144000"/>
  <p:embeddedFontLst>
    <p:embeddedFont>
      <p:font typeface="Arial Black" panose="020B0A04020102020204" pitchFamily="34" charset="0"/>
      <p:regular r:id="rId15"/>
      <p:bold r:id="rId16"/>
    </p:embeddedFont>
    <p:embeddedFont>
      <p:font typeface="Cambria Math" panose="02040503050406030204" pitchFamily="18" charset="0"/>
      <p:regular r:id="rId17"/>
    </p:embeddedFont>
    <p:embeddedFont>
      <p:font typeface="Century Schoolbook" panose="02040604050505020304" pitchFamily="18" charset="0"/>
      <p:regular r:id="rId18"/>
      <p:bold r:id="rId19"/>
      <p:italic r:id="rId20"/>
      <p:boldItalic r:id="rId21"/>
    </p:embeddedFont>
    <p:embeddedFont>
      <p:font typeface="Roboto" panose="020000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gQmHZMLQPRrBnjCO/7tdUMXWBY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03A9E66-F23F-4685-8762-FB8163C4B72E}">
  <a:tblStyle styleId="{803A9E66-F23F-4685-8762-FB8163C4B72E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CECEC"/>
          </a:solidFill>
        </a:fill>
      </a:tcStyle>
    </a:wholeTbl>
    <a:band1H>
      <a:tcTxStyle b="off" i="off"/>
      <a:tcStyle>
        <a:tcBdr/>
        <a:fill>
          <a:solidFill>
            <a:srgbClr val="D6D6D6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6D6D6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font" Target="fonts/font8.fntdata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A7811BD-A0D9-3EE1-9407-F337868D4E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C4D7B2-6F3E-59DD-FDFE-E247263ACC3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66054B-70BE-4932-BEB3-9E86882DF594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4A9260-E315-894A-7727-A05541FBBE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58F91D-4B89-2E4F-8540-19748FE84C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3BCD33-6147-403D-AA0A-457D67530F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616723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BA4D25-6967-8978-CCBC-4EF6EE848CA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074EA8F-8FF2-29B5-64D1-F4B7A4A18E5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64a40ef3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64a40ef39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g3a64a40ef39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F0F4788-8663-2B40-A8DA-EE16EAE36F3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64a40ef39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64a40ef39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3" name="Google Shape;113;g3a64a40ef39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EFB580A-CC69-A1EB-4334-4953B4EE2FD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64a40ef39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64a40ef39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g3a64a40ef39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5213BD1-B11C-93D9-2812-FBB33D60BFE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64a40ef39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64a40ef39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a64a40ef39_2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06A092B-DDD9-08B8-88C0-92F7E428261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64a40ef39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64a40ef39_2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3a64a40ef39_2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994FE26-81B1-ABCB-5078-0084A1BDBE0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64a40ef39_2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64a40ef39_2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a64a40ef39_2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EAE2A33-4FB0-FEB2-45EC-843A6AB6103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64a40ef39_2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64a40ef39_2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3a64a40ef39_2_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2C23AA-E5AB-0C7F-55C3-BA5A4327107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64a40ef3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a64a40ef3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g3a64a40ef39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F053429-B8AC-800A-1E90-CBBEA9786FC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Arial Black"/>
              <a:buNone/>
              <a:defRPr sz="8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0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Dept. of CSE,BMSIT&amp;M                       7th Semester, MAJOR PROJECT PHASE-2 (BCS705) REVIEW ‘1                             AY : 2026-27 </a:t>
            </a:r>
            <a:endParaRPr/>
          </a:p>
        </p:txBody>
      </p:sp>
      <p:sp>
        <p:nvSpPr>
          <p:cNvPr id="22" name="Google Shape;22;p5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5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Dept. of CSE,BMSIT&amp;M                       7th Semester, MAJOR PROJECT PHASE-2 (BCS705) REVIEW ‘1                             AY : 2026-27 </a:t>
            </a:r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Arial Black"/>
              <a:buNone/>
              <a:defRPr sz="8800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0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Dept. of CSE,BMSIT&amp;M                       7th Semester, MAJOR PROJECT PHASE-2 (BCS705) REVIEW ‘1                             AY : 2026-27 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1"/>
          </p:nvPr>
        </p:nvSpPr>
        <p:spPr>
          <a:xfrm>
            <a:off x="1630680" y="1574800"/>
            <a:ext cx="329184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2"/>
          </p:nvPr>
        </p:nvSpPr>
        <p:spPr>
          <a:xfrm>
            <a:off x="5090160" y="1574800"/>
            <a:ext cx="329184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Dept. of CSE,BMSIT&amp;M                       7th Semester, MAJOR PROJECT PHASE-2 (BCS705) REVIEW ‘1                             AY : 2026-27 </a:t>
            </a:r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1627632" y="2259366"/>
            <a:ext cx="3291840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3"/>
          </p:nvPr>
        </p:nvSpPr>
        <p:spPr>
          <a:xfrm>
            <a:off x="5093208" y="1572768"/>
            <a:ext cx="329184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4"/>
          </p:nvPr>
        </p:nvSpPr>
        <p:spPr>
          <a:xfrm>
            <a:off x="5093208" y="2259366"/>
            <a:ext cx="3291840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Dept. of CSE,BMSIT&amp;M                       7th Semester, MAJOR PROJECT PHASE-2 (BCS705) REVIEW ‘1                             AY : 2026-27 </a:t>
            </a:r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Dept. of CSE,BMSIT&amp;M                       7th Semester, MAJOR PROJECT PHASE-2 (BCS705) REVIEW ‘1                             AY : 2026-27 </a:t>
            </a:r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Dept. of CSE,BMSIT&amp;M                       7th Semester, MAJOR PROJECT PHASE-2 (BCS705) REVIEW ‘1                             AY : 2026-27 </a:t>
            </a:r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>
            <a:spLocks noGrp="1"/>
          </p:cNvSpPr>
          <p:nvPr>
            <p:ph type="body" idx="1"/>
          </p:nvPr>
        </p:nvSpPr>
        <p:spPr>
          <a:xfrm>
            <a:off x="3575050" y="1600200"/>
            <a:ext cx="511175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Char char="•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body" idx="2"/>
          </p:nvPr>
        </p:nvSpPr>
        <p:spPr>
          <a:xfrm>
            <a:off x="457200" y="1600200"/>
            <a:ext cx="3008313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Dept. of CSE,BMSIT&amp;M                       7th Semester, MAJOR PROJECT PHASE-2 (BCS705) REVIEW ‘1                             AY : 2026-27 </a:t>
            </a:r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3"/>
          <p:cNvSpPr>
            <a:spLocks noGrp="1"/>
          </p:cNvSpPr>
          <p:nvPr>
            <p:ph type="pic" idx="2"/>
          </p:nvPr>
        </p:nvSpPr>
        <p:spPr>
          <a:xfrm>
            <a:off x="-1" y="0"/>
            <a:ext cx="9000877" cy="484632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72" name="Google Shape;72;p13"/>
          <p:cNvSpPr txBox="1">
            <a:spLocks noGrp="1"/>
          </p:cNvSpPr>
          <p:nvPr>
            <p:ph type="body" idx="1"/>
          </p:nvPr>
        </p:nvSpPr>
        <p:spPr>
          <a:xfrm>
            <a:off x="457200" y="5715000"/>
            <a:ext cx="8153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Dept. of CSE,BMSIT&amp;M                       7th Semester, MAJOR PROJECT PHASE-2 (BCS705) REVIEW ‘1                             AY : 2026-27 </a:t>
            </a:r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 Black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body" idx="1"/>
          </p:nvPr>
        </p:nvSpPr>
        <p:spPr>
          <a:xfrm rot="5400000">
            <a:off x="2080419" y="129382"/>
            <a:ext cx="4373563" cy="76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Dept. of CSE,BMSIT&amp;M                       7th Semester, MAJOR PROJECT PHASE-2 (BCS705) REVIEW ‘1                             AY : 2026-27 </a:t>
            </a:r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Dept. of CSE,BMSIT&amp;M                       7th Semester, MAJOR PROJECT PHASE-2 (BCS705) REVIEW ‘1                             AY : 2026-27 </a:t>
            </a:r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 Black"/>
              <a:buNone/>
              <a:defRPr sz="36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Dept. of CSE,BMSIT&amp;M                       7th Semester, MAJOR PROJECT PHASE-2 (BCS705) REVIEW ‘1                             AY : 2026-27 </a:t>
            </a:r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" name="Google Shape;15;p4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 txBox="1">
            <a:spLocks noGrp="1"/>
          </p:cNvSpPr>
          <p:nvPr>
            <p:ph type="subTitle" idx="1"/>
          </p:nvPr>
        </p:nvSpPr>
        <p:spPr>
          <a:xfrm>
            <a:off x="457201" y="1336869"/>
            <a:ext cx="8245474" cy="512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indent="0" algn="ctr">
              <a:spcBef>
                <a:spcPts val="0"/>
              </a:spcBef>
              <a:buSzPct val="100000"/>
            </a:pPr>
            <a:r>
              <a:rPr lang="en-US" sz="2800" dirty="0">
                <a:solidFill>
                  <a:srgbClr val="7030A0"/>
                </a:solidFill>
              </a:rPr>
              <a:t>7</a:t>
            </a:r>
            <a:r>
              <a:rPr lang="en-US" sz="2800" baseline="30000" dirty="0">
                <a:solidFill>
                  <a:srgbClr val="7030A0"/>
                </a:solidFill>
              </a:rPr>
              <a:t>th</a:t>
            </a:r>
            <a:r>
              <a:rPr lang="en-US" sz="2800" dirty="0">
                <a:solidFill>
                  <a:srgbClr val="7030A0"/>
                </a:solidFill>
              </a:rPr>
              <a:t> Semester, Major Project Phase-2 (BCS705), </a:t>
            </a:r>
          </a:p>
          <a:p>
            <a:pPr marL="0" indent="0" algn="ctr">
              <a:spcBef>
                <a:spcPts val="0"/>
              </a:spcBef>
              <a:buSzPct val="100000"/>
            </a:pPr>
            <a:r>
              <a:rPr lang="en-US" sz="2800" dirty="0">
                <a:solidFill>
                  <a:srgbClr val="7030A0"/>
                </a:solidFill>
              </a:rPr>
              <a:t>Review ‘1’ Presentation on</a:t>
            </a:r>
            <a:endParaRPr lang="en-IN" sz="2800" dirty="0">
              <a:solidFill>
                <a:srgbClr val="7030A0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lang="en-IN" sz="2800" b="1" dirty="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IN" sz="2800" b="1" dirty="0">
                <a:latin typeface="Century Schoolbook"/>
                <a:ea typeface="Century Schoolbook"/>
                <a:cs typeface="Century Schoolbook"/>
                <a:sym typeface="Century Schoolbook"/>
              </a:rPr>
              <a:t>PROJECT TITLE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908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endParaRPr sz="2800" b="1" dirty="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indent="0" algn="ctr">
              <a:spcBef>
                <a:spcPts val="776"/>
              </a:spcBef>
              <a:buSzPct val="100000"/>
            </a:pPr>
            <a:r>
              <a:rPr lang="en-IN" sz="1600" b="1" dirty="0">
                <a:latin typeface="Century Schoolbook"/>
                <a:ea typeface="Century Schoolbook"/>
                <a:cs typeface="Century Schoolbook"/>
                <a:sym typeface="Century Schoolbook"/>
              </a:rPr>
              <a:t>Students Name-1 (USN) </a:t>
            </a:r>
          </a:p>
          <a:p>
            <a:pPr marL="0" indent="0" algn="ctr">
              <a:spcBef>
                <a:spcPts val="776"/>
              </a:spcBef>
              <a:buSzPct val="100000"/>
            </a:pPr>
            <a:r>
              <a:rPr lang="en-IN" sz="1600" b="1" dirty="0">
                <a:latin typeface="Century Schoolbook"/>
                <a:ea typeface="Century Schoolbook"/>
                <a:cs typeface="Century Schoolbook"/>
                <a:sym typeface="Century Schoolbook"/>
              </a:rPr>
              <a:t>Students Name-2(USN)</a:t>
            </a:r>
          </a:p>
          <a:p>
            <a:pPr marL="0" lvl="0" indent="0" algn="ctr">
              <a:spcBef>
                <a:spcPts val="776"/>
              </a:spcBef>
              <a:buSzPct val="100000"/>
            </a:pPr>
            <a:r>
              <a:rPr lang="en-IN" sz="1600" b="1" dirty="0">
                <a:latin typeface="Century Schoolbook"/>
                <a:ea typeface="Century Schoolbook"/>
                <a:cs typeface="Century Schoolbook"/>
                <a:sym typeface="Century Schoolbook"/>
              </a:rPr>
              <a:t>Students Names-3(USN)</a:t>
            </a:r>
          </a:p>
          <a:p>
            <a:pPr marL="0" indent="0" algn="ctr">
              <a:spcBef>
                <a:spcPts val="776"/>
              </a:spcBef>
              <a:buSzPct val="100000"/>
            </a:pPr>
            <a:r>
              <a:rPr lang="en-IN" sz="1600" b="1" dirty="0">
                <a:latin typeface="Century Schoolbook"/>
                <a:ea typeface="Century Schoolbook"/>
                <a:cs typeface="Century Schoolbook"/>
                <a:sym typeface="Century Schoolbook"/>
              </a:rPr>
              <a:t>Students Name4-(USN)</a:t>
            </a:r>
          </a:p>
          <a:p>
            <a:pPr marL="0" lvl="0" indent="0" algn="ctr">
              <a:spcBef>
                <a:spcPts val="776"/>
              </a:spcBef>
              <a:buSzPct val="100000"/>
            </a:pPr>
            <a:endParaRPr lang="en-IN" sz="1600" b="1" dirty="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ctr" rtl="0">
              <a:lnSpc>
                <a:spcPct val="100000"/>
              </a:lnSpc>
              <a:spcBef>
                <a:spcPts val="776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endParaRPr sz="1600" b="1" dirty="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ctr">
              <a:spcBef>
                <a:spcPts val="776"/>
              </a:spcBef>
              <a:buClr>
                <a:srgbClr val="0070C0"/>
              </a:buClr>
              <a:buSzPct val="100000"/>
            </a:pPr>
            <a:r>
              <a:rPr lang="en-US" sz="1600" b="1" dirty="0">
                <a:solidFill>
                  <a:srgbClr val="0070C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VII SEMESTER DEGREE OF BACHELOR OF ENGINEERING IN</a:t>
            </a:r>
            <a:endParaRPr lang="en-US" dirty="0"/>
          </a:p>
          <a:p>
            <a:pPr marL="0" lvl="0" indent="0" algn="ctr" rtl="0">
              <a:lnSpc>
                <a:spcPct val="100000"/>
              </a:lnSpc>
              <a:spcBef>
                <a:spcPts val="776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r>
              <a:rPr lang="en-US" sz="1600" b="1" dirty="0">
                <a:latin typeface="Century Schoolbook"/>
                <a:ea typeface="Century Schoolbook"/>
                <a:cs typeface="Century Schoolbook"/>
                <a:sym typeface="Century Schoolbook"/>
              </a:rPr>
              <a:t>Information Science and Engineering </a:t>
            </a:r>
            <a:endParaRPr sz="1600" b="1" dirty="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ctr" rtl="0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r>
              <a:rPr lang="en-IN" b="1" dirty="0">
                <a:latin typeface="Century Schoolbook"/>
                <a:ea typeface="Century Schoolbook"/>
                <a:cs typeface="Century Schoolbook"/>
                <a:sym typeface="Century Schoolbook"/>
              </a:rPr>
              <a:t>UNDER THE GUIDANCE OF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809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r>
              <a:rPr lang="en-IN" sz="1900" b="1" dirty="0">
                <a:latin typeface="Century Schoolbook"/>
                <a:ea typeface="Century Schoolbook"/>
                <a:cs typeface="Century Schoolbook"/>
                <a:sym typeface="Century Schoolbook"/>
              </a:rPr>
              <a:t>Guide Name</a:t>
            </a:r>
            <a:endParaRPr sz="1900" b="1" dirty="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ctr" rtl="0">
              <a:lnSpc>
                <a:spcPct val="100000"/>
              </a:lnSpc>
              <a:spcBef>
                <a:spcPts val="809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r>
              <a:rPr lang="en-IN" sz="1900" b="1" dirty="0">
                <a:solidFill>
                  <a:srgbClr val="7030A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Designation</a:t>
            </a:r>
            <a:endParaRPr sz="1900" b="1" dirty="0">
              <a:solidFill>
                <a:srgbClr val="7030A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ctr" rtl="0">
              <a:lnSpc>
                <a:spcPct val="100000"/>
              </a:lnSpc>
              <a:spcBef>
                <a:spcPts val="809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r>
              <a:rPr lang="en-IN" sz="1900" b="1" dirty="0">
                <a:solidFill>
                  <a:srgbClr val="7030A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DEPT. OF ISE</a:t>
            </a:r>
            <a:endParaRPr dirty="0">
              <a:solidFill>
                <a:srgbClr val="7030A0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809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r>
              <a:rPr lang="en-IN" sz="1900" b="1" dirty="0">
                <a:solidFill>
                  <a:srgbClr val="7030A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BMSIT&amp;M</a:t>
            </a:r>
            <a:endParaRPr dirty="0">
              <a:solidFill>
                <a:srgbClr val="7030A0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IN" sz="1900" b="1" dirty="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IN" sz="1900" b="1" dirty="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IN" sz="1900" b="1" dirty="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ctr" rtl="0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endParaRPr dirty="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1026" name="Picture 2" descr="VTU online">
            <a:extLst>
              <a:ext uri="{FF2B5EF4-FFF2-40B4-BE49-F238E27FC236}">
                <a16:creationId xmlns:a16="http://schemas.microsoft.com/office/drawing/2014/main" id="{4410DB29-14E2-4208-772F-E71545D76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368" y="79423"/>
            <a:ext cx="792307" cy="1022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99319-A280-BCC3-AB6E-BB354C9237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F44B29C-F20D-B128-BE1D-1EC7A958D1B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03201" y="6492875"/>
            <a:ext cx="8499474" cy="283845"/>
          </a:xfrm>
        </p:spPr>
        <p:txBody>
          <a:bodyPr/>
          <a:lstStyle/>
          <a:p>
            <a:pPr lvl="0"/>
            <a:r>
              <a:rPr lang="en-US" dirty="0"/>
              <a:t>Dept. of ISE,BMSIT&amp;M                       7th Semester, MAJOR PROJECT PHASE-2 (BCS705) REVIEW ‘1                             AY : 2026-27 </a:t>
            </a:r>
            <a:endParaRPr lang="en-IN" dirty="0"/>
          </a:p>
        </p:txBody>
      </p:sp>
      <p:pic>
        <p:nvPicPr>
          <p:cNvPr id="8" name="Picture 2" descr="logo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" t="9343" r="82084" b="10716"/>
          <a:stretch>
            <a:fillRect/>
          </a:stretch>
        </p:blipFill>
        <p:spPr bwMode="auto">
          <a:xfrm>
            <a:off x="396097" y="79423"/>
            <a:ext cx="1096908" cy="1205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logo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72" t="9343" r="-1" b="10716"/>
          <a:stretch>
            <a:fillRect/>
          </a:stretch>
        </p:blipFill>
        <p:spPr bwMode="auto">
          <a:xfrm>
            <a:off x="1607938" y="157018"/>
            <a:ext cx="6196789" cy="1179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entury Schoolbook"/>
              <a:buNone/>
            </a:pPr>
            <a:r>
              <a:rPr lang="en-IN" b="1">
                <a:latin typeface="Century Schoolbook"/>
                <a:ea typeface="Century Schoolbook"/>
                <a:cs typeface="Century Schoolbook"/>
                <a:sym typeface="Century Schoolbook"/>
              </a:rPr>
              <a:t>CONTENT</a:t>
            </a:r>
            <a:br>
              <a:rPr lang="en-IN" b="1"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endParaRPr b="1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02" name="Google Shape;102;p2"/>
          <p:cNvSpPr txBox="1">
            <a:spLocks noGrp="1"/>
          </p:cNvSpPr>
          <p:nvPr>
            <p:ph type="body" idx="1"/>
          </p:nvPr>
        </p:nvSpPr>
        <p:spPr>
          <a:xfrm>
            <a:off x="457200" y="1041009"/>
            <a:ext cx="8229600" cy="5542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571500" lvl="0" indent="-55772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 Math"/>
              <a:buChar char="↪"/>
            </a:pPr>
            <a:r>
              <a:rPr lang="en-IN" sz="2900" b="0" dirty="0"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Abstract  </a:t>
            </a:r>
            <a:endParaRPr sz="2900" b="0" dirty="0">
              <a:latin typeface="Times New Roman" panose="02020603050405020304" pitchFamily="18" charset="0"/>
              <a:ea typeface="Bookman Old Style"/>
              <a:cs typeface="Times New Roman" panose="02020603050405020304" pitchFamily="18" charset="0"/>
              <a:sym typeface="Bookman Old Style"/>
            </a:endParaRPr>
          </a:p>
          <a:p>
            <a:pPr marL="571500" lvl="0" indent="-557720" algn="l" rtl="0">
              <a:lnSpc>
                <a:spcPct val="120000"/>
              </a:lnSpc>
              <a:spcBef>
                <a:spcPts val="11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 Math"/>
              <a:buChar char="↪"/>
            </a:pPr>
            <a:r>
              <a:rPr lang="en-IN" sz="2900" b="0" dirty="0"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Introduction</a:t>
            </a:r>
            <a:endParaRPr sz="2900" b="0" dirty="0">
              <a:latin typeface="Times New Roman" panose="02020603050405020304" pitchFamily="18" charset="0"/>
              <a:ea typeface="Bookman Old Style"/>
              <a:cs typeface="Times New Roman" panose="02020603050405020304" pitchFamily="18" charset="0"/>
              <a:sym typeface="Bookman Old Style"/>
            </a:endParaRPr>
          </a:p>
          <a:p>
            <a:pPr marL="571500" lvl="0" indent="-557720" algn="l" rtl="0">
              <a:lnSpc>
                <a:spcPct val="120000"/>
              </a:lnSpc>
              <a:spcBef>
                <a:spcPts val="1118"/>
              </a:spcBef>
              <a:spcAft>
                <a:spcPts val="0"/>
              </a:spcAft>
              <a:buSzPct val="100000"/>
              <a:buFont typeface="Cambria Math"/>
              <a:buChar char="↪"/>
            </a:pPr>
            <a:r>
              <a:rPr lang="en-IN" sz="2900" b="0" dirty="0"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Problem statement</a:t>
            </a:r>
            <a:endParaRPr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57720" algn="l" rtl="0">
              <a:lnSpc>
                <a:spcPct val="120000"/>
              </a:lnSpc>
              <a:spcBef>
                <a:spcPts val="11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 Math"/>
              <a:buChar char="↪"/>
            </a:pPr>
            <a:r>
              <a:rPr lang="en-IN" sz="2900" b="0" dirty="0"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Objectives of the work</a:t>
            </a:r>
            <a:endParaRPr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57720" algn="l" rtl="0">
              <a:lnSpc>
                <a:spcPct val="120000"/>
              </a:lnSpc>
              <a:spcBef>
                <a:spcPts val="1118"/>
              </a:spcBef>
              <a:spcAft>
                <a:spcPts val="0"/>
              </a:spcAft>
              <a:buSzPct val="100000"/>
              <a:buFont typeface="Cambria Math"/>
              <a:buChar char="↪"/>
            </a:pPr>
            <a:r>
              <a:rPr lang="en-IN" sz="2900" b="0" dirty="0"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Methodology </a:t>
            </a:r>
          </a:p>
          <a:p>
            <a:pPr marL="571500" lvl="0" indent="-557720" algn="l" rtl="0">
              <a:lnSpc>
                <a:spcPct val="120000"/>
              </a:lnSpc>
              <a:spcBef>
                <a:spcPts val="1118"/>
              </a:spcBef>
              <a:spcAft>
                <a:spcPts val="0"/>
              </a:spcAft>
              <a:buSzPct val="100000"/>
              <a:buFont typeface="Cambria Math"/>
              <a:buChar char="↪"/>
            </a:pPr>
            <a:r>
              <a:rPr lang="en-IN" sz="2900" b="0" dirty="0">
                <a:solidFill>
                  <a:schemeClr val="tx1"/>
                </a:solidFill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Implementation of project Execution</a:t>
            </a:r>
            <a:endParaRPr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57720" algn="l" rtl="0">
              <a:lnSpc>
                <a:spcPct val="120000"/>
              </a:lnSpc>
              <a:spcBef>
                <a:spcPts val="1118"/>
              </a:spcBef>
              <a:spcAft>
                <a:spcPts val="0"/>
              </a:spcAft>
              <a:buSzPct val="100000"/>
              <a:buFont typeface="Cambria Math"/>
              <a:buChar char="↪"/>
            </a:pPr>
            <a:r>
              <a:rPr lang="en-IN" sz="29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Setup, Expected Results &amp; Analysis</a:t>
            </a:r>
          </a:p>
          <a:p>
            <a:pPr marL="571500" lvl="0" indent="-557720" algn="l" rtl="0">
              <a:lnSpc>
                <a:spcPct val="120000"/>
              </a:lnSpc>
              <a:spcBef>
                <a:spcPts val="1118"/>
              </a:spcBef>
              <a:spcAft>
                <a:spcPts val="0"/>
              </a:spcAft>
              <a:buSzPct val="100000"/>
              <a:buFont typeface="Cambria Math"/>
              <a:buChar char="↪"/>
            </a:pPr>
            <a:r>
              <a:rPr lang="en-IN" sz="29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Status, Conclusion</a:t>
            </a:r>
          </a:p>
          <a:p>
            <a:pPr marL="571500" lvl="0" indent="-557720" algn="l" rtl="0">
              <a:lnSpc>
                <a:spcPct val="120000"/>
              </a:lnSpc>
              <a:spcBef>
                <a:spcPts val="1118"/>
              </a:spcBef>
              <a:spcAft>
                <a:spcPts val="0"/>
              </a:spcAft>
              <a:buSzPct val="100000"/>
              <a:buFont typeface="Cambria Math"/>
              <a:buChar char="↪"/>
            </a:pPr>
            <a:r>
              <a:rPr lang="en-IN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Publication</a:t>
            </a:r>
          </a:p>
          <a:p>
            <a:pPr marL="571500" lvl="0" indent="-557720" algn="l" rtl="0">
              <a:lnSpc>
                <a:spcPct val="120000"/>
              </a:lnSpc>
              <a:spcBef>
                <a:spcPts val="1118"/>
              </a:spcBef>
              <a:spcAft>
                <a:spcPts val="0"/>
              </a:spcAft>
              <a:buSzPct val="100000"/>
              <a:buFont typeface="Cambria Math"/>
              <a:buChar char="↪"/>
            </a:pPr>
            <a:r>
              <a:rPr lang="en-IN" sz="2900" b="0" dirty="0"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References(IEEE format)</a:t>
            </a:r>
            <a:endParaRPr sz="2900" b="0" dirty="0">
              <a:latin typeface="Times New Roman" panose="02020603050405020304" pitchFamily="18" charset="0"/>
              <a:ea typeface="Bookman Old Style"/>
              <a:cs typeface="Times New Roman" panose="02020603050405020304" pitchFamily="18" charset="0"/>
              <a:sym typeface="Bookman Old Style"/>
            </a:endParaRPr>
          </a:p>
          <a:p>
            <a:pPr marL="45720" lvl="0" indent="0" algn="l" rtl="0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58EB12-1B62-6FEB-4F9A-BB274C4DBC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8E2F0-886E-19C2-554E-EBC5C6F24D9C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57199" y="6492875"/>
            <a:ext cx="8095673" cy="283845"/>
          </a:xfrm>
        </p:spPr>
        <p:txBody>
          <a:bodyPr/>
          <a:lstStyle/>
          <a:p>
            <a:r>
              <a:rPr lang="en-US" dirty="0"/>
              <a:t>Dept. of ISE,BMSIT&amp;M                       7th Semester, MAJOR PROJECT PHASE-2 (BCS705) REVIEW ‘1                             AY : 2026-27 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64a40ef39_0_6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64281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Google Shape;109;g3a64a40ef39_0_6"/>
          <p:cNvSpPr txBox="1">
            <a:spLocks noGrp="1"/>
          </p:cNvSpPr>
          <p:nvPr>
            <p:ph type="body" idx="1"/>
          </p:nvPr>
        </p:nvSpPr>
        <p:spPr>
          <a:xfrm>
            <a:off x="457200" y="1297590"/>
            <a:ext cx="7620000" cy="502412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IN" sz="1600" b="0" dirty="0">
                <a:latin typeface="Times New Roman"/>
                <a:ea typeface="Times New Roman"/>
                <a:cs typeface="Times New Roman"/>
                <a:sym typeface="Times New Roman"/>
              </a:rPr>
              <a:t>Context: Write the background or setting of your mini-project here. Explain why the topic is important and what motivated the work. </a:t>
            </a:r>
            <a:endParaRPr sz="16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IN" sz="1600" b="0" dirty="0">
                <a:latin typeface="Times New Roman"/>
                <a:ea typeface="Times New Roman"/>
                <a:cs typeface="Times New Roman"/>
                <a:sym typeface="Times New Roman"/>
              </a:rPr>
              <a:t>Problem Identified: Clearly mention the specific problem, gap, or challenge that your project aims to solve. Objective: State the goals of the project—what you set out to build, </a:t>
            </a:r>
            <a:r>
              <a:rPr lang="en-IN" sz="1600" b="0" dirty="0" err="1">
                <a:latin typeface="Times New Roman"/>
                <a:ea typeface="Times New Roman"/>
                <a:cs typeface="Times New Roman"/>
                <a:sym typeface="Times New Roman"/>
              </a:rPr>
              <a:t>analyze</a:t>
            </a:r>
            <a:r>
              <a:rPr lang="en-IN" sz="1600" b="0" dirty="0">
                <a:latin typeface="Times New Roman"/>
                <a:ea typeface="Times New Roman"/>
                <a:cs typeface="Times New Roman"/>
                <a:sym typeface="Times New Roman"/>
              </a:rPr>
              <a:t>, or achieve.</a:t>
            </a:r>
            <a:endParaRPr sz="16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IN" sz="1600" b="0" dirty="0">
                <a:latin typeface="Times New Roman"/>
                <a:ea typeface="Times New Roman"/>
                <a:cs typeface="Times New Roman"/>
                <a:sym typeface="Times New Roman"/>
              </a:rPr>
              <a:t> Methods: Briefly describe the methodology you used. This may include algorithms, models, datasets, frameworks, or tools.</a:t>
            </a:r>
            <a:endParaRPr sz="16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IN" sz="1600" b="0" dirty="0">
                <a:latin typeface="Times New Roman"/>
                <a:ea typeface="Times New Roman"/>
                <a:cs typeface="Times New Roman"/>
                <a:sym typeface="Times New Roman"/>
              </a:rPr>
              <a:t> Results: Summarize the key outcomes, model performance, detection accuracy, system behavior, or improvements achieved. </a:t>
            </a:r>
            <a:endParaRPr sz="16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IN" sz="1600" b="0" dirty="0">
                <a:latin typeface="Times New Roman"/>
                <a:ea typeface="Times New Roman"/>
                <a:cs typeface="Times New Roman"/>
                <a:sym typeface="Times New Roman"/>
              </a:rPr>
              <a:t>Keywords: Add all important keywords used in the project (e.g., Deep Learning, Image Processing, CNN, Object Detection, YOLO, Dataset Name, etc.).</a:t>
            </a:r>
            <a:endParaRPr sz="16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IN" sz="1200" dirty="0">
                <a:latin typeface="Times New Roman"/>
                <a:ea typeface="Times New Roman"/>
                <a:cs typeface="Times New Roman"/>
                <a:sym typeface="Times New Roman"/>
              </a:rPr>
              <a:t>Note:  The entire abstract should be between 200 to 250 words</a:t>
            </a:r>
            <a:endParaRPr sz="1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DC5DB4-DE2F-7C54-72E8-D875E945EEC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52983" y="6421437"/>
            <a:ext cx="8318361" cy="283845"/>
          </a:xfrm>
        </p:spPr>
        <p:txBody>
          <a:bodyPr/>
          <a:lstStyle/>
          <a:p>
            <a:r>
              <a:rPr lang="en-US" dirty="0"/>
              <a:t>Dept. of ISE,BMSIT&amp;M                       7th Semester, MAJOR PROJECT PHASE-2 (BCS705) REVIEW ‘1                             AY : 2026-27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4015D3-FC46-4C05-CA6C-5B379E1A48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64a40ef39_0_12"/>
          <p:cNvSpPr txBox="1">
            <a:spLocks noGrp="1"/>
          </p:cNvSpPr>
          <p:nvPr>
            <p:ph type="title"/>
          </p:nvPr>
        </p:nvSpPr>
        <p:spPr>
          <a:xfrm>
            <a:off x="1783080" y="291423"/>
            <a:ext cx="5791200" cy="880554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Google Shape;116;g3a64a40ef39_0_12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7620000" cy="4373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●"/>
            </a:pPr>
            <a:r>
              <a:rPr lang="en-IN" sz="2100" b="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Explain background and motivation.</a:t>
            </a:r>
            <a:endParaRPr sz="21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●"/>
            </a:pPr>
            <a:r>
              <a:rPr lang="en-IN" sz="2100" b="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Define the problem statement clearly.</a:t>
            </a:r>
            <a:endParaRPr sz="21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●"/>
            </a:pPr>
            <a:r>
              <a:rPr lang="en-IN" sz="2100" b="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Scope and importance of the project.</a:t>
            </a:r>
            <a:endParaRPr sz="21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●"/>
            </a:pPr>
            <a:r>
              <a:rPr lang="en-IN" sz="2100" b="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Literature review or related work overview.</a:t>
            </a:r>
            <a:endParaRPr sz="21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2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1D392-EBCD-1E72-4571-835535255C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C057E-C4CC-4DA0-3F99-BA2B87E1A63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57200" y="6492875"/>
            <a:ext cx="8156448" cy="283845"/>
          </a:xfrm>
        </p:spPr>
        <p:txBody>
          <a:bodyPr/>
          <a:lstStyle/>
          <a:p>
            <a:r>
              <a:rPr lang="en-US" dirty="0"/>
              <a:t>Dept. of ISE,BMSIT&amp;M                       7th Semester, MAJOR PROJECT PHASE-2 (BCS705) REVIEW ‘1                             AY : 2026-27 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64a40ef39_0_18"/>
          <p:cNvSpPr txBox="1">
            <a:spLocks noGrp="1"/>
          </p:cNvSpPr>
          <p:nvPr>
            <p:ph type="title"/>
          </p:nvPr>
        </p:nvSpPr>
        <p:spPr>
          <a:xfrm>
            <a:off x="674600" y="312550"/>
            <a:ext cx="7230300" cy="976754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Google Shape;123;g3a64a40ef39_0_18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7620000" cy="4373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n-IN" sz="2200" b="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Detailed description of the problem being addressed.</a:t>
            </a:r>
            <a:endParaRPr sz="22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n-IN" sz="2200" b="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Specify limitations or gaps in current approaches if any.</a:t>
            </a:r>
            <a:endParaRPr sz="22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9181E-A078-B3C5-963B-BBBFBF2AA13C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57200" y="6492875"/>
            <a:ext cx="8055864" cy="283845"/>
          </a:xfrm>
        </p:spPr>
        <p:txBody>
          <a:bodyPr/>
          <a:lstStyle/>
          <a:p>
            <a:r>
              <a:rPr lang="en-US" dirty="0"/>
              <a:t>Dept. of ISE,BMSIT&amp;M                       7th Semester, MAJOR PROJECT PHASE-2 (BCS705) REVIEW ‘1                             AY : 2026-27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1517E-A088-090E-873E-91A0D55F2E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64a40ef39_2_2"/>
          <p:cNvSpPr txBox="1">
            <a:spLocks noGrp="1"/>
          </p:cNvSpPr>
          <p:nvPr>
            <p:ph type="title"/>
          </p:nvPr>
        </p:nvSpPr>
        <p:spPr>
          <a:xfrm>
            <a:off x="457200" y="152725"/>
            <a:ext cx="8194200" cy="1371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Google Shape;130;g3a64a40ef39_2_2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7620000" cy="4373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●"/>
            </a:pPr>
            <a:r>
              <a:rPr lang="en-IN" sz="2100" b="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Clearly list the goals and expected outcomes.</a:t>
            </a:r>
            <a:endParaRPr sz="21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●"/>
            </a:pPr>
            <a:r>
              <a:rPr lang="en-IN" sz="2100" b="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Specify measurable objectives</a:t>
            </a:r>
            <a:endParaRPr sz="21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2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3EB978-79E7-EC0D-D7F2-93B6BFFA31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0EE17-2BAE-351A-5ED4-1C8461DF9FF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57200" y="6492875"/>
            <a:ext cx="8092440" cy="283845"/>
          </a:xfrm>
        </p:spPr>
        <p:txBody>
          <a:bodyPr/>
          <a:lstStyle/>
          <a:p>
            <a:r>
              <a:rPr lang="en-US" dirty="0"/>
              <a:t>Dept. of ISE,BMSIT&amp;M                       7th Semester, MAJOR PROJECT PHASE-2 (BCS705) REVIEW ‘1                             AY : 2026-27 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64a40ef39_2_8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Google Shape;137;g3a64a40ef39_2_8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7620000" cy="4373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n-IN" sz="2200" b="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Explain your approach, framework, or techniques.</a:t>
            </a:r>
            <a:endParaRPr sz="22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n-IN" sz="2200" b="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Tools, technologies, software, and hardware involved.</a:t>
            </a:r>
            <a:endParaRPr sz="22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n-IN" sz="2200" b="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Data flow or control flow description</a:t>
            </a:r>
            <a:endParaRPr sz="22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3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5B6E70-8782-7CF1-A492-D7C8D75323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5039F-2A94-A08F-F818-4DDB82E2B04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57200" y="6492875"/>
            <a:ext cx="8065008" cy="283845"/>
          </a:xfrm>
        </p:spPr>
        <p:txBody>
          <a:bodyPr/>
          <a:lstStyle/>
          <a:p>
            <a:r>
              <a:rPr lang="en-US" dirty="0"/>
              <a:t>Dept. of ISE,BMSIT&amp;M                       7th Semester, MAJOR PROJECT PHASE-2 (BCS705) REVIEW ‘1                             AY : 2026-27 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64a40ef39_2_30"/>
          <p:cNvSpPr txBox="1">
            <a:spLocks noGrp="1"/>
          </p:cNvSpPr>
          <p:nvPr>
            <p:ph type="title"/>
          </p:nvPr>
        </p:nvSpPr>
        <p:spPr>
          <a:xfrm>
            <a:off x="457200" y="152725"/>
            <a:ext cx="8467344" cy="1371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118"/>
              </a:spcBef>
              <a:spcAft>
                <a:spcPts val="0"/>
              </a:spcAft>
              <a:buNone/>
            </a:pPr>
            <a:r>
              <a:rPr lang="en-IN" sz="2900" b="1" dirty="0">
                <a:solidFill>
                  <a:schemeClr val="bg2"/>
                </a:solidFill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DEMONSTRATION OF PROJECT EXECUTION</a:t>
            </a:r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Google Shape;158;g3a64a40ef39_2_30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7620000" cy="4373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Technologies, tools, and frameworks used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Hardware / software requirements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/ input details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Module-wise implementation status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Actual implementation screenshots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Prototype / working model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implementation evidence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FDBD6-0110-1520-ABF8-F9C077D79D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8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3C23F-4D2B-57A9-1A85-3DA16F71FCF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57200" y="6492875"/>
            <a:ext cx="8119872" cy="283845"/>
          </a:xfrm>
        </p:spPr>
        <p:txBody>
          <a:bodyPr/>
          <a:lstStyle/>
          <a:p>
            <a:r>
              <a:rPr lang="en-US" dirty="0"/>
              <a:t>Dept. of ISE,BMSIT&amp;M                       7th Semester, MAJOR PROJECT PHASE-2 (BCS705) REVIEW ‘1                             AY : 2026-27 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64a40ef39_2_37"/>
          <p:cNvSpPr txBox="1">
            <a:spLocks noGrp="1"/>
          </p:cNvSpPr>
          <p:nvPr>
            <p:ph type="title"/>
          </p:nvPr>
        </p:nvSpPr>
        <p:spPr>
          <a:xfrm>
            <a:off x="457200" y="152725"/>
            <a:ext cx="7729200" cy="1371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algn="l"/>
            <a:r>
              <a:rPr lang="en-IN" sz="32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Setup, Results &amp; Analysis</a:t>
            </a:r>
          </a:p>
        </p:txBody>
      </p:sp>
      <p:sp>
        <p:nvSpPr>
          <p:cNvPr id="165" name="Google Shape;165;g3a64a40ef39_2_37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7620000" cy="4373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IN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  <a:endParaRPr lang="en-IN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/ test cases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environment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Parameters / configurations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Testing procedure</a:t>
            </a:r>
          </a:p>
          <a:p>
            <a:pPr algn="l"/>
            <a:r>
              <a:rPr lang="en-IN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results</a:t>
            </a:r>
            <a:endParaRPr lang="en-IN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87834-DEF6-FACB-92D2-96A8CFCC7AE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57200" y="6492875"/>
            <a:ext cx="8037576" cy="283845"/>
          </a:xfrm>
        </p:spPr>
        <p:txBody>
          <a:bodyPr/>
          <a:lstStyle/>
          <a:p>
            <a:r>
              <a:rPr lang="en-US" dirty="0"/>
              <a:t>Dept. of ISE,BMSIT&amp;M                       7th Semester, MAJOR PROJECT PHASE-2 (BCS705) REVIEW ‘1                             AY : 2026-27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15EE9-9EC8-D6D1-7398-7FB1E6CB3F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9</a:t>
            </a:fld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57593-4059-4EFD-2BB0-FF813EA89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718"/>
            <a:ext cx="8486078" cy="1419604"/>
          </a:xfrm>
        </p:spPr>
        <p:txBody>
          <a:bodyPr>
            <a:normAutofit/>
          </a:bodyPr>
          <a:lstStyle/>
          <a:p>
            <a:r>
              <a:rPr lang="en-IN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STATUS, CONCLUSION</a:t>
            </a:r>
            <a:br>
              <a:rPr lang="en-I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3547C-4A7F-1527-C4E9-E426561F0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059366"/>
            <a:ext cx="7620000" cy="5066797"/>
          </a:xfrm>
        </p:spPr>
        <p:txBody>
          <a:bodyPr>
            <a:normAutofit/>
          </a:bodyPr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 Project Status</a:t>
            </a:r>
            <a:endParaRPr lang="en-IN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Completed modules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Modules under development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Pending work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Solutions adopted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 achieved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F00D8-5DAB-3041-83E8-E5C536AA4A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AF726E8-5086-0729-9262-62B17A327BB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57200" y="6492875"/>
            <a:ext cx="8028432" cy="283845"/>
          </a:xfrm>
        </p:spPr>
        <p:txBody>
          <a:bodyPr/>
          <a:lstStyle/>
          <a:p>
            <a:r>
              <a:rPr lang="en-US" dirty="0"/>
              <a:t>Dept. of ISE,BMSIT&amp;M                       7th Semester, MAJOR PROJECT PHASE-2 (BCS705) REVIEW ‘1                             AY : 2026-27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098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64a40ef39_0_0"/>
          <p:cNvSpPr txBox="1">
            <a:spLocks noGrp="1"/>
          </p:cNvSpPr>
          <p:nvPr>
            <p:ph type="title"/>
          </p:nvPr>
        </p:nvSpPr>
        <p:spPr>
          <a:xfrm>
            <a:off x="457200" y="152725"/>
            <a:ext cx="7620000" cy="1371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PUBLICATIONS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3" name="Google Shape;193;g3a64a40ef39_0_0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8257032" cy="4373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90000"/>
              <a:buFont typeface="Arial"/>
              <a:buNone/>
            </a:pPr>
            <a:r>
              <a:rPr lang="en-IN" sz="1800" b="0" dirty="0"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Instructions to the team :</a:t>
            </a:r>
            <a:endParaRPr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334327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ct val="90000"/>
              <a:buChar char="•"/>
            </a:pPr>
            <a:r>
              <a:rPr lang="en-IN" sz="1800" b="0" dirty="0"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Each team must publish their work in a reputed conference / journal indexed in Scopus / Web of Science. (exclusive marks are allotted for this parameter) or Patent </a:t>
            </a:r>
            <a:endParaRPr sz="1800" b="0" dirty="0">
              <a:latin typeface="Times New Roman" panose="02020603050405020304" pitchFamily="18" charset="0"/>
              <a:ea typeface="Bookman Old Style"/>
              <a:cs typeface="Times New Roman" panose="02020603050405020304" pitchFamily="18" charset="0"/>
              <a:sym typeface="Bookman Old Style"/>
            </a:endParaRPr>
          </a:p>
          <a:p>
            <a:pPr marL="571500" lvl="0" indent="-2286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90000"/>
              <a:buFont typeface="Arial"/>
              <a:buNone/>
            </a:pPr>
            <a:endParaRPr sz="1800" b="0" dirty="0">
              <a:latin typeface="Times New Roman" panose="02020603050405020304" pitchFamily="18" charset="0"/>
              <a:ea typeface="Bookman Old Style"/>
              <a:cs typeface="Times New Roman" panose="02020603050405020304" pitchFamily="18" charset="0"/>
              <a:sym typeface="Bookman Old Style"/>
            </a:endParaRPr>
          </a:p>
          <a:p>
            <a:pPr marL="571500" lvl="0" indent="-334327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ct val="90000"/>
              <a:buChar char="•"/>
            </a:pPr>
            <a:r>
              <a:rPr lang="en-IN" sz="1800" b="0" dirty="0"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Project report must be prepared using LaTeX software.</a:t>
            </a:r>
            <a:endParaRPr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2286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90000"/>
              <a:buFont typeface="Arial"/>
              <a:buNone/>
            </a:pPr>
            <a:endParaRPr sz="1800" b="0" dirty="0">
              <a:latin typeface="Times New Roman" panose="02020603050405020304" pitchFamily="18" charset="0"/>
              <a:ea typeface="Bookman Old Style"/>
              <a:cs typeface="Times New Roman" panose="02020603050405020304" pitchFamily="18" charset="0"/>
              <a:sym typeface="Bookman Old Style"/>
            </a:endParaRPr>
          </a:p>
          <a:p>
            <a:pPr marL="571500" lvl="0" indent="-334327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ct val="90000"/>
              <a:buChar char="•"/>
            </a:pPr>
            <a:r>
              <a:rPr lang="en-IN" sz="1800" b="0" dirty="0"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The Project reports and research paper should be checked through </a:t>
            </a:r>
            <a:r>
              <a:rPr lang="en-IN" sz="1800" b="0" i="1" dirty="0">
                <a:solidFill>
                  <a:srgbClr val="FF0000"/>
                </a:solidFill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Turnitin</a:t>
            </a:r>
            <a:r>
              <a:rPr lang="en-IN" sz="1800" b="0" dirty="0">
                <a:solidFill>
                  <a:srgbClr val="FF0000"/>
                </a:solidFill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 </a:t>
            </a:r>
            <a:r>
              <a:rPr lang="en-IN" sz="1800" b="0" dirty="0"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Plagiarism tool. (Must be less than 15%)</a:t>
            </a:r>
            <a:endParaRPr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E51F1-3898-D2F1-E130-E335DF49869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57200" y="6492875"/>
            <a:ext cx="7790688" cy="283845"/>
          </a:xfrm>
        </p:spPr>
        <p:txBody>
          <a:bodyPr/>
          <a:lstStyle/>
          <a:p>
            <a:r>
              <a:rPr lang="en-US" dirty="0"/>
              <a:t>Dept. of ISE,BMSIT&amp;M                       7th Semester, MAJOR PROJECT PHASE-2 (BCS705) REVIEW ‘1                             AY : 2026-27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BF170-66C7-99AD-5F18-88CCB6F91C6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11</a:t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ssential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759</Words>
  <Application>Microsoft Office PowerPoint</Application>
  <PresentationFormat>On-screen Show (4:3)</PresentationFormat>
  <Paragraphs>127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Cambria Math</vt:lpstr>
      <vt:lpstr>Arial Black</vt:lpstr>
      <vt:lpstr>Calibri</vt:lpstr>
      <vt:lpstr>Century Schoolbook</vt:lpstr>
      <vt:lpstr>Times New Roman</vt:lpstr>
      <vt:lpstr>Arial</vt:lpstr>
      <vt:lpstr>Roboto</vt:lpstr>
      <vt:lpstr>Essential</vt:lpstr>
      <vt:lpstr>PowerPoint Presentation</vt:lpstr>
      <vt:lpstr>CONTENT </vt:lpstr>
      <vt:lpstr>ABSTRACT</vt:lpstr>
      <vt:lpstr>INTRODUCTION</vt:lpstr>
      <vt:lpstr>PROBLEM STATEMENT</vt:lpstr>
      <vt:lpstr>OBJECTIVES OF THE WORK</vt:lpstr>
      <vt:lpstr>METHODOLOGY </vt:lpstr>
      <vt:lpstr>DEMONSTRATION OF PROJECT EXECUTION</vt:lpstr>
      <vt:lpstr>Experimental Setup, Results &amp; Analysis</vt:lpstr>
      <vt:lpstr>PROJECT STATUS, CONCLUSION </vt:lpstr>
      <vt:lpstr>PUBLICATIONS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Sri Kothapalli</cp:lastModifiedBy>
  <cp:revision>14</cp:revision>
  <dcterms:modified xsi:type="dcterms:W3CDTF">2026-08-27T05:30:32Z</dcterms:modified>
</cp:coreProperties>
</file>