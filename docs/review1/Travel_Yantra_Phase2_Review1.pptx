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72" r:id="rId31"/>
    <p:sldId id="265" r:id="rId9"/>
    <p:sldId id="273" r:id="rId32"/>
    <p:sldId id="274" r:id="rId33"/>
    <p:sldId id="266" r:id="rId10"/>
    <p:sldId id="275" r:id="rId30"/>
    <p:sldId id="271" r:id="rId11"/>
    <p:sldId id="270" r:id="rId12"/>
    <p:sldId id="276" r:id="rId29"/>
  </p:sldIdLst>
  <p:sldSz cx="9144000" cy="6858000" type="screen4x3"/>
  <p:notesSz cx="6858000" cy="9144000"/>
  <p:embeddedFontLst>
    <p:embeddedFont>
      <p:font typeface="Arial Black" panose="020B0A04020102020204" pitchFamily="34" charset="0"/>
      <p:regular r:id="rId15"/>
      <p:bold r:id="rId16"/>
    </p:embeddedFont>
    <p:embeddedFont>
      <p:font typeface="Cambria Math" panose="02040503050406030204" pitchFamily="18" charset="0"/>
      <p:regular r:id="rId17"/>
    </p:embeddedFont>
    <p:embeddedFont>
      <p:font typeface="Century Schoolbook" panose="02040604050505020304" pitchFamily="18" charset="0"/>
      <p:regular r:id="rId18"/>
      <p:bold r:id="rId19"/>
      <p:italic r:id="rId20"/>
      <p:boldItalic r:id="rId21"/>
    </p:embeddedFont>
    <p:embeddedFont>
      <p:font typeface="Roboto" panose="020000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QmHZMLQPRrBnjCO/7tdUMXWB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3A9E66-F23F-4685-8762-FB8163C4B72E}">
  <a:tblStyle styleId="{803A9E66-F23F-4685-8762-FB8163C4B72E}"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CECEC"/>
          </a:solidFill>
        </a:fill>
      </a:tcStyle>
    </a:wholeTbl>
    <a:band1H>
      <a:tcTxStyle b="off" i="off"/>
      <a:tcStyle>
        <a:tcBdr/>
        <a:fill>
          <a:solidFill>
            <a:srgbClr val="D6D6D6"/>
          </a:solidFill>
        </a:fill>
      </a:tcStyle>
    </a:band1H>
    <a:band2H>
      <a:tcTxStyle b="off" i="off"/>
      <a:tcStyle>
        <a:tcBdr/>
      </a:tcStyle>
    </a:band2H>
    <a:band1V>
      <a:tcTxStyle b="off" i="off"/>
      <a:tcStyle>
        <a:tcBdr/>
        <a:fill>
          <a:solidFill>
            <a:srgbClr val="D6D6D6"/>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9" Type="http://schemas.openxmlformats.org/officeDocument/2006/relationships/slide" Target="slides/slide16.xml"/><Relationship Id="rId30" Type="http://schemas.openxmlformats.org/officeDocument/2006/relationships/slide" Target="slides/slide15.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customschemas.google.com/relationships/presentationmetadata" Target="metadata"/><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7811BD-A0D9-3EE1-9407-F337868D4E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BC4D7B2-6F3E-59DD-FDFE-E247263ACC3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66054B-70BE-4932-BEB3-9E86882DF594}" type="datetimeFigureOut">
              <a:rPr lang="en-IN" smtClean="0"/>
              <a:t>27-08-2026</a:t>
            </a:fld>
            <a:endParaRPr lang="en-IN"/>
          </a:p>
        </p:txBody>
      </p:sp>
      <p:sp>
        <p:nvSpPr>
          <p:cNvPr id="4" name="Footer Placeholder 3">
            <a:extLst>
              <a:ext uri="{FF2B5EF4-FFF2-40B4-BE49-F238E27FC236}">
                <a16:creationId xmlns:a16="http://schemas.microsoft.com/office/drawing/2014/main" id="{754A9260-E315-894A-7727-A05541FBBE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958F91D-4B89-2E4F-8540-19748FE84C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3BCD33-6147-403D-AA0A-457D67530F69}" type="slidenum">
              <a:rPr lang="en-IN" smtClean="0"/>
              <a:t>‹#›</a:t>
            </a:fld>
            <a:endParaRPr lang="en-IN"/>
          </a:p>
        </p:txBody>
      </p:sp>
    </p:spTree>
    <p:extLst>
      <p:ext uri="{BB962C8B-B14F-4D97-AF65-F5344CB8AC3E}">
        <p14:creationId xmlns:p14="http://schemas.microsoft.com/office/powerpoint/2010/main" val="65616723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CCBA4D25-6967-8978-CCBC-4EF6EE848CA6}"/>
              </a:ext>
            </a:extLst>
          </p:cNvPr>
          <p:cNvSpPr>
            <a:spLocks noGrp="1"/>
          </p:cNvSpPr>
          <p:nvPr>
            <p:ph type="ftr" idx="11"/>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7074EA8F-8FF2-29B5-64D1-F4B7A4A18E55}"/>
              </a:ext>
            </a:extLst>
          </p:cNvPr>
          <p:cNvSpPr>
            <a:spLocks noGrp="1"/>
          </p:cNvSpPr>
          <p:nvPr>
            <p:ph type="ftr" idx="11"/>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64a40ef39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64a40ef39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3a64a40ef39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3</a:t>
            </a:fld>
            <a:endParaRPr/>
          </a:p>
        </p:txBody>
      </p:sp>
      <p:sp>
        <p:nvSpPr>
          <p:cNvPr id="2" name="Footer Placeholder 1">
            <a:extLst>
              <a:ext uri="{FF2B5EF4-FFF2-40B4-BE49-F238E27FC236}">
                <a16:creationId xmlns:a16="http://schemas.microsoft.com/office/drawing/2014/main" id="{6F0F4788-8663-2B40-A8DA-EE16EAE36F31}"/>
              </a:ext>
            </a:extLst>
          </p:cNvPr>
          <p:cNvSpPr>
            <a:spLocks noGrp="1"/>
          </p:cNvSpPr>
          <p:nvPr>
            <p:ph type="ftr" idx="11"/>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64a40ef39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a64a40ef39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3" name="Google Shape;113;g3a64a40ef39_0_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4</a:t>
            </a:fld>
            <a:endParaRPr/>
          </a:p>
        </p:txBody>
      </p:sp>
      <p:sp>
        <p:nvSpPr>
          <p:cNvPr id="2" name="Footer Placeholder 1">
            <a:extLst>
              <a:ext uri="{FF2B5EF4-FFF2-40B4-BE49-F238E27FC236}">
                <a16:creationId xmlns:a16="http://schemas.microsoft.com/office/drawing/2014/main" id="{5EFB580A-CC69-A1EB-4334-4953B4EE2FD8}"/>
              </a:ext>
            </a:extLst>
          </p:cNvPr>
          <p:cNvSpPr>
            <a:spLocks noGrp="1"/>
          </p:cNvSpPr>
          <p:nvPr>
            <p:ph type="ftr" idx="11"/>
          </p:nvPr>
        </p:nvSpPr>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64a40ef39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64a40ef39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3a64a40ef39_0_1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5</a:t>
            </a:fld>
            <a:endParaRPr/>
          </a:p>
        </p:txBody>
      </p:sp>
      <p:sp>
        <p:nvSpPr>
          <p:cNvPr id="2" name="Footer Placeholder 1">
            <a:extLst>
              <a:ext uri="{FF2B5EF4-FFF2-40B4-BE49-F238E27FC236}">
                <a16:creationId xmlns:a16="http://schemas.microsoft.com/office/drawing/2014/main" id="{D5213BD1-B11C-93D9-2812-FBB33D60BFE5}"/>
              </a:ext>
            </a:extLst>
          </p:cNvPr>
          <p:cNvSpPr>
            <a:spLocks noGrp="1"/>
          </p:cNvSpPr>
          <p:nvPr>
            <p:ph type="ftr" idx="11"/>
          </p:nvPr>
        </p:nvSpPr>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64a40ef39_2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a64a40ef39_2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g3a64a40ef39_2_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6</a:t>
            </a:fld>
            <a:endParaRPr/>
          </a:p>
        </p:txBody>
      </p:sp>
      <p:sp>
        <p:nvSpPr>
          <p:cNvPr id="2" name="Footer Placeholder 1">
            <a:extLst>
              <a:ext uri="{FF2B5EF4-FFF2-40B4-BE49-F238E27FC236}">
                <a16:creationId xmlns:a16="http://schemas.microsoft.com/office/drawing/2014/main" id="{606A092B-DDD9-08B8-88C0-92F7E428261A}"/>
              </a:ext>
            </a:extLst>
          </p:cNvPr>
          <p:cNvSpPr>
            <a:spLocks noGrp="1"/>
          </p:cNvSpPr>
          <p:nvPr>
            <p:ph type="ftr" idx="11"/>
          </p:nvPr>
        </p:nvSpPr>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a64a40ef39_2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64a40ef39_2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a64a40ef39_2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7</a:t>
            </a:fld>
            <a:endParaRPr/>
          </a:p>
        </p:txBody>
      </p:sp>
      <p:sp>
        <p:nvSpPr>
          <p:cNvPr id="2" name="Footer Placeholder 1">
            <a:extLst>
              <a:ext uri="{FF2B5EF4-FFF2-40B4-BE49-F238E27FC236}">
                <a16:creationId xmlns:a16="http://schemas.microsoft.com/office/drawing/2014/main" id="{E994FE26-81B1-ABCB-5078-0084A1BDBE06}"/>
              </a:ext>
            </a:extLst>
          </p:cNvPr>
          <p:cNvSpPr>
            <a:spLocks noGrp="1"/>
          </p:cNvSpPr>
          <p:nvPr>
            <p:ph type="ftr" idx="11"/>
          </p:nvPr>
        </p:nvSpPr>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64a40ef39_2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a64a40ef39_2_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a64a40ef39_2_3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8</a:t>
            </a:fld>
            <a:endParaRPr/>
          </a:p>
        </p:txBody>
      </p:sp>
      <p:sp>
        <p:nvSpPr>
          <p:cNvPr id="2" name="Footer Placeholder 1">
            <a:extLst>
              <a:ext uri="{FF2B5EF4-FFF2-40B4-BE49-F238E27FC236}">
                <a16:creationId xmlns:a16="http://schemas.microsoft.com/office/drawing/2014/main" id="{DEAE2A33-4FB0-FEB2-45EC-843A6AB61038}"/>
              </a:ext>
            </a:extLst>
          </p:cNvPr>
          <p:cNvSpPr>
            <a:spLocks noGrp="1"/>
          </p:cNvSpPr>
          <p:nvPr>
            <p:ph type="ftr" idx="11"/>
          </p:nvPr>
        </p:nvSpPr>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a64a40ef39_2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a64a40ef39_2_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g3a64a40ef39_2_3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9</a:t>
            </a:fld>
            <a:endParaRPr/>
          </a:p>
        </p:txBody>
      </p:sp>
      <p:sp>
        <p:nvSpPr>
          <p:cNvPr id="2" name="Footer Placeholder 1">
            <a:extLst>
              <a:ext uri="{FF2B5EF4-FFF2-40B4-BE49-F238E27FC236}">
                <a16:creationId xmlns:a16="http://schemas.microsoft.com/office/drawing/2014/main" id="{572C23AA-E5AB-0C7F-55C3-BA5A4327107C}"/>
              </a:ext>
            </a:extLst>
          </p:cNvPr>
          <p:cNvSpPr>
            <a:spLocks noGrp="1"/>
          </p:cNvSpPr>
          <p:nvPr>
            <p:ph type="ftr" idx="11"/>
          </p:nvPr>
        </p:nvSpPr>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a64a40ef39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a64a40ef39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g3a64a40ef39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11</a:t>
            </a:fld>
            <a:endParaRPr/>
          </a:p>
        </p:txBody>
      </p:sp>
      <p:sp>
        <p:nvSpPr>
          <p:cNvPr id="2" name="Footer Placeholder 1">
            <a:extLst>
              <a:ext uri="{FF2B5EF4-FFF2-40B4-BE49-F238E27FC236}">
                <a16:creationId xmlns:a16="http://schemas.microsoft.com/office/drawing/2014/main" id="{4F053429-B8AC-800A-1E90-CBBEA9786FC9}"/>
              </a:ext>
            </a:extLst>
          </p:cNvPr>
          <p:cNvSpPr>
            <a:spLocks noGrp="1"/>
          </p:cNvSpPr>
          <p:nvPr>
            <p:ph type="ftr" idx="11"/>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5"/>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subTitle" idx="1"/>
          </p:nvPr>
        </p:nvSpPr>
        <p:spPr>
          <a:xfrm>
            <a:off x="457200" y="4800600"/>
            <a:ext cx="6858000" cy="914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Clr>
                <a:schemeClr val="dk2"/>
              </a:buClr>
              <a:buSzPts val="2000"/>
              <a:buNone/>
              <a:defRPr b="0" cap="none">
                <a:solidFill>
                  <a:schemeClr val="dk2"/>
                </a:solidFill>
                <a:latin typeface="Arial Black"/>
                <a:ea typeface="Arial Black"/>
                <a:cs typeface="Arial Black"/>
                <a:sym typeface="Arial Black"/>
              </a:defRPr>
            </a:lvl1pPr>
            <a:lvl2pPr lvl="1" algn="ctr">
              <a:lnSpc>
                <a:spcPct val="100000"/>
              </a:lnSpc>
              <a:spcBef>
                <a:spcPts val="600"/>
              </a:spcBef>
              <a:spcAft>
                <a:spcPts val="0"/>
              </a:spcAft>
              <a:buSzPts val="2000"/>
              <a:buNone/>
              <a:defRPr>
                <a:solidFill>
                  <a:srgbClr val="888888"/>
                </a:solidFill>
              </a:defRPr>
            </a:lvl2pPr>
            <a:lvl3pPr lvl="2" algn="ctr">
              <a:lnSpc>
                <a:spcPct val="100000"/>
              </a:lnSpc>
              <a:spcBef>
                <a:spcPts val="360"/>
              </a:spcBef>
              <a:spcAft>
                <a:spcPts val="0"/>
              </a:spcAft>
              <a:buSzPts val="1800"/>
              <a:buNone/>
              <a:defRPr>
                <a:solidFill>
                  <a:srgbClr val="888888"/>
                </a:solidFill>
              </a:defRPr>
            </a:lvl3pPr>
            <a:lvl4pPr lvl="3" algn="ctr">
              <a:lnSpc>
                <a:spcPct val="100000"/>
              </a:lnSpc>
              <a:spcBef>
                <a:spcPts val="360"/>
              </a:spcBef>
              <a:spcAft>
                <a:spcPts val="0"/>
              </a:spcAft>
              <a:buSzPts val="1800"/>
              <a:buNone/>
              <a:defRPr>
                <a:solidFill>
                  <a:srgbClr val="888888"/>
                </a:solidFill>
              </a:defRPr>
            </a:lvl4pPr>
            <a:lvl5pPr lvl="4" algn="ctr">
              <a:lnSpc>
                <a:spcPct val="100000"/>
              </a:lnSpc>
              <a:spcBef>
                <a:spcPts val="360"/>
              </a:spcBef>
              <a:spcAft>
                <a:spcPts val="0"/>
              </a:spcAft>
              <a:buSzPts val="18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a:endParaRPr/>
          </a:p>
        </p:txBody>
      </p:sp>
      <p:sp>
        <p:nvSpPr>
          <p:cNvPr id="20" name="Google Shape;20;p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22" name="Google Shape;22;p5"/>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 name="Google Shape;23;p5"/>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 name="Google Shape;24;p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8" name="Google Shape;28;p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30" name="Google Shape;30;p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457200" y="1447800"/>
            <a:ext cx="7772400" cy="432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body" idx="1"/>
          </p:nvPr>
        </p:nvSpPr>
        <p:spPr>
          <a:xfrm>
            <a:off x="457200" y="228601"/>
            <a:ext cx="7772400" cy="10668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chemeClr val="dk2"/>
              </a:buClr>
              <a:buSzPts val="2000"/>
              <a:buNone/>
              <a:defRPr sz="2000" b="0" cap="none">
                <a:solidFill>
                  <a:schemeClr val="dk2"/>
                </a:solidFill>
                <a:latin typeface="Arial Black"/>
                <a:ea typeface="Arial Black"/>
                <a:cs typeface="Arial Black"/>
                <a:sym typeface="Arial Black"/>
              </a:defRPr>
            </a:lvl1pPr>
            <a:lvl2pPr marL="914400" lvl="1" indent="-228600" algn="l">
              <a:lnSpc>
                <a:spcPct val="100000"/>
              </a:lnSpc>
              <a:spcBef>
                <a:spcPts val="60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228600" algn="l">
              <a:lnSpc>
                <a:spcPct val="100000"/>
              </a:lnSpc>
              <a:spcBef>
                <a:spcPts val="280"/>
              </a:spcBef>
              <a:spcAft>
                <a:spcPts val="0"/>
              </a:spcAft>
              <a:buSzPts val="1400"/>
              <a:buNone/>
              <a:defRPr sz="1400">
                <a:solidFill>
                  <a:srgbClr val="888888"/>
                </a:solidFill>
              </a:defRPr>
            </a:lvl6pPr>
            <a:lvl7pPr marL="3200400" lvl="6" indent="-228600" algn="l">
              <a:lnSpc>
                <a:spcPct val="100000"/>
              </a:lnSpc>
              <a:spcBef>
                <a:spcPts val="280"/>
              </a:spcBef>
              <a:spcAft>
                <a:spcPts val="0"/>
              </a:spcAft>
              <a:buSzPts val="1400"/>
              <a:buNone/>
              <a:defRPr sz="1400">
                <a:solidFill>
                  <a:srgbClr val="888888"/>
                </a:solidFill>
              </a:defRPr>
            </a:lvl7pPr>
            <a:lvl8pPr marL="3657600" lvl="7" indent="-228600" algn="l">
              <a:lnSpc>
                <a:spcPct val="100000"/>
              </a:lnSpc>
              <a:spcBef>
                <a:spcPts val="280"/>
              </a:spcBef>
              <a:spcAft>
                <a:spcPts val="0"/>
              </a:spcAft>
              <a:buSzPts val="1400"/>
              <a:buNone/>
              <a:defRPr sz="1400">
                <a:solidFill>
                  <a:srgbClr val="888888"/>
                </a:solidFill>
              </a:defRPr>
            </a:lvl8pPr>
            <a:lvl9pPr marL="4114800" lvl="8" indent="-228600" algn="l">
              <a:lnSpc>
                <a:spcPct val="100000"/>
              </a:lnSpc>
              <a:spcBef>
                <a:spcPts val="280"/>
              </a:spcBef>
              <a:spcAft>
                <a:spcPts val="0"/>
              </a:spcAft>
              <a:buSzPts val="1400"/>
              <a:buNone/>
              <a:defRPr sz="1400">
                <a:solidFill>
                  <a:srgbClr val="888888"/>
                </a:solidFill>
              </a:defRPr>
            </a:lvl9pPr>
          </a:lstStyle>
          <a:p>
            <a:endParaRPr/>
          </a:p>
        </p:txBody>
      </p:sp>
      <p:sp>
        <p:nvSpPr>
          <p:cNvPr id="34" name="Google Shape;34;p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36" name="Google Shape;36;p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8"/>
          <p:cNvSpPr txBox="1">
            <a:spLocks noGrp="1"/>
          </p:cNvSpPr>
          <p:nvPr>
            <p:ph type="body" idx="1"/>
          </p:nvPr>
        </p:nvSpPr>
        <p:spPr>
          <a:xfrm>
            <a:off x="163068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None/>
              <a:defRPr sz="2800"/>
            </a:lvl1pPr>
            <a:lvl2pPr marL="914400" lvl="1" indent="-381000" algn="l">
              <a:lnSpc>
                <a:spcPct val="100000"/>
              </a:lnSpc>
              <a:spcBef>
                <a:spcPts val="60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0" name="Google Shape;40;p8"/>
          <p:cNvSpPr txBox="1">
            <a:spLocks noGrp="1"/>
          </p:cNvSpPr>
          <p:nvPr>
            <p:ph type="body" idx="2"/>
          </p:nvPr>
        </p:nvSpPr>
        <p:spPr>
          <a:xfrm>
            <a:off x="509016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60"/>
              </a:spcBef>
              <a:spcAft>
                <a:spcPts val="0"/>
              </a:spcAft>
              <a:buClr>
                <a:schemeClr val="dk1"/>
              </a:buClr>
              <a:buSzPts val="2800"/>
              <a:buNone/>
              <a:defRPr sz="2800"/>
            </a:lvl1pPr>
            <a:lvl2pPr marL="914400" lvl="1" indent="-381000" algn="l">
              <a:lnSpc>
                <a:spcPct val="100000"/>
              </a:lnSpc>
              <a:spcBef>
                <a:spcPts val="60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1" name="Google Shape;41;p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43" name="Google Shape;43;p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3600"/>
              <a:buFont typeface="Arial Black"/>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1627632"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7" name="Google Shape;47;p9"/>
          <p:cNvSpPr txBox="1">
            <a:spLocks noGrp="1"/>
          </p:cNvSpPr>
          <p:nvPr>
            <p:ph type="body" idx="2"/>
          </p:nvPr>
        </p:nvSpPr>
        <p:spPr>
          <a:xfrm>
            <a:off x="1627632"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None/>
              <a:defRPr sz="2400"/>
            </a:lvl1pPr>
            <a:lvl2pPr marL="914400" lvl="1" indent="-355600" algn="l">
              <a:lnSpc>
                <a:spcPct val="100000"/>
              </a:lnSpc>
              <a:spcBef>
                <a:spcPts val="6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48" name="Google Shape;48;p9"/>
          <p:cNvSpPr txBox="1">
            <a:spLocks noGrp="1"/>
          </p:cNvSpPr>
          <p:nvPr>
            <p:ph type="body" idx="3"/>
          </p:nvPr>
        </p:nvSpPr>
        <p:spPr>
          <a:xfrm>
            <a:off x="5093208"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9" name="Google Shape;49;p9"/>
          <p:cNvSpPr txBox="1">
            <a:spLocks noGrp="1"/>
          </p:cNvSpPr>
          <p:nvPr>
            <p:ph type="body" idx="4"/>
          </p:nvPr>
        </p:nvSpPr>
        <p:spPr>
          <a:xfrm>
            <a:off x="5093208"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80"/>
              </a:spcBef>
              <a:spcAft>
                <a:spcPts val="0"/>
              </a:spcAft>
              <a:buClr>
                <a:schemeClr val="dk1"/>
              </a:buClr>
              <a:buSzPts val="2400"/>
              <a:buNone/>
              <a:defRPr sz="2400"/>
            </a:lvl1pPr>
            <a:lvl2pPr marL="914400" lvl="1" indent="-355600" algn="l">
              <a:lnSpc>
                <a:spcPct val="100000"/>
              </a:lnSpc>
              <a:spcBef>
                <a:spcPts val="6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0" name="Google Shape;50;p9"/>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52" name="Google Shape;52;p9"/>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0"/>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57" name="Google Shape;57;p10"/>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1"/>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1"/>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61" name="Google Shape;61;p11"/>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12"/>
          <p:cNvSpPr txBox="1">
            <a:spLocks noGrp="1"/>
          </p:cNvSpPr>
          <p:nvPr>
            <p:ph type="body" idx="1"/>
          </p:nvPr>
        </p:nvSpPr>
        <p:spPr>
          <a:xfrm>
            <a:off x="3575050" y="1600200"/>
            <a:ext cx="5111750"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640"/>
              </a:spcBef>
              <a:spcAft>
                <a:spcPts val="0"/>
              </a:spcAft>
              <a:buClr>
                <a:schemeClr val="dk1"/>
              </a:buClr>
              <a:buSzPts val="3200"/>
              <a:buNone/>
              <a:defRPr sz="3200"/>
            </a:lvl1pPr>
            <a:lvl2pPr marL="914400" lvl="1" indent="-406400" algn="l">
              <a:lnSpc>
                <a:spcPct val="100000"/>
              </a:lnSpc>
              <a:spcBef>
                <a:spcPts val="60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55600" algn="l">
              <a:lnSpc>
                <a:spcPct val="100000"/>
              </a:lnSpc>
              <a:spcBef>
                <a:spcPts val="400"/>
              </a:spcBef>
              <a:spcAft>
                <a:spcPts val="0"/>
              </a:spcAft>
              <a:buSzPts val="2000"/>
              <a:buChar char="•"/>
              <a:defRPr sz="2000"/>
            </a:lvl6pPr>
            <a:lvl7pPr marL="3200400" lvl="6" indent="-355600" algn="l">
              <a:lnSpc>
                <a:spcPct val="100000"/>
              </a:lnSpc>
              <a:spcBef>
                <a:spcPts val="400"/>
              </a:spcBef>
              <a:spcAft>
                <a:spcPts val="0"/>
              </a:spcAft>
              <a:buSzPts val="2000"/>
              <a:buChar char="•"/>
              <a:defRPr sz="2000"/>
            </a:lvl7pPr>
            <a:lvl8pPr marL="3657600" lvl="7" indent="-355600" algn="l">
              <a:lnSpc>
                <a:spcPct val="100000"/>
              </a:lnSpc>
              <a:spcBef>
                <a:spcPts val="400"/>
              </a:spcBef>
              <a:spcAft>
                <a:spcPts val="0"/>
              </a:spcAft>
              <a:buSzPts val="2000"/>
              <a:buChar char="•"/>
              <a:defRPr sz="2000"/>
            </a:lvl8pPr>
            <a:lvl9pPr marL="4114800" lvl="8" indent="-355600" algn="l">
              <a:lnSpc>
                <a:spcPct val="100000"/>
              </a:lnSpc>
              <a:spcBef>
                <a:spcPts val="400"/>
              </a:spcBef>
              <a:spcAft>
                <a:spcPts val="0"/>
              </a:spcAft>
              <a:buSzPts val="2000"/>
              <a:buChar char="•"/>
              <a:defRPr sz="2000"/>
            </a:lvl9pPr>
          </a:lstStyle>
          <a:p>
            <a:endParaRPr/>
          </a:p>
        </p:txBody>
      </p:sp>
      <p:sp>
        <p:nvSpPr>
          <p:cNvPr id="64" name="Google Shape;64;p12"/>
          <p:cNvSpPr txBox="1">
            <a:spLocks noGrp="1"/>
          </p:cNvSpPr>
          <p:nvPr>
            <p:ph type="body" idx="2"/>
          </p:nvPr>
        </p:nvSpPr>
        <p:spPr>
          <a:xfrm>
            <a:off x="457200" y="1600200"/>
            <a:ext cx="3008313" cy="44805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5" name="Google Shape;65;p12"/>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67" name="Google Shape;67;p12"/>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68" name="Google Shape;68;p1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9"/>
        <p:cNvGrpSpPr/>
        <p:nvPr/>
      </p:nvGrpSpPr>
      <p:grpSpPr>
        <a:xfrm>
          <a:off x="0" y="0"/>
          <a:ext cx="0" cy="0"/>
          <a:chOff x="0" y="0"/>
          <a:chExt cx="0" cy="0"/>
        </a:xfrm>
      </p:grpSpPr>
      <p:sp>
        <p:nvSpPr>
          <p:cNvPr id="70" name="Google Shape;70;p13"/>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1" name="Google Shape;71;p13"/>
          <p:cNvSpPr>
            <a:spLocks noGrp="1"/>
          </p:cNvSpPr>
          <p:nvPr>
            <p:ph type="pic" idx="2"/>
          </p:nvPr>
        </p:nvSpPr>
        <p:spPr>
          <a:xfrm>
            <a:off x="-1" y="0"/>
            <a:ext cx="9000877" cy="4846320"/>
          </a:xfrm>
          <a:prstGeom prst="rect">
            <a:avLst/>
          </a:prstGeom>
          <a:solidFill>
            <a:srgbClr val="BFBFBF"/>
          </a:solidFill>
          <a:ln>
            <a:noFill/>
          </a:ln>
        </p:spPr>
      </p:sp>
      <p:sp>
        <p:nvSpPr>
          <p:cNvPr id="72" name="Google Shape;72;p13"/>
          <p:cNvSpPr txBox="1">
            <a:spLocks noGrp="1"/>
          </p:cNvSpPr>
          <p:nvPr>
            <p:ph type="body" idx="1"/>
          </p:nvPr>
        </p:nvSpPr>
        <p:spPr>
          <a:xfrm>
            <a:off x="457200" y="5715000"/>
            <a:ext cx="8153400" cy="457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3" name="Google Shape;73;p13"/>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3"/>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75" name="Google Shape;75;p13"/>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76" name="Google Shape;76;p13"/>
          <p:cNvSpPr txBox="1">
            <a:spLocks noGrp="1"/>
          </p:cNvSpPr>
          <p:nvPr>
            <p:ph type="title"/>
          </p:nvPr>
        </p:nvSpPr>
        <p:spPr>
          <a:xfrm>
            <a:off x="457200" y="4953000"/>
            <a:ext cx="8153400" cy="7620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2"/>
              </a:buClr>
              <a:buSzPts val="3200"/>
              <a:buFont typeface="Arial Black"/>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3"/>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4"/>
          <p:cNvSpPr txBox="1">
            <a:spLocks noGrp="1"/>
          </p:cNvSpPr>
          <p:nvPr>
            <p:ph type="body" idx="1"/>
          </p:nvPr>
        </p:nvSpPr>
        <p:spPr>
          <a:xfrm rot="5400000">
            <a:off x="2080419" y="129382"/>
            <a:ext cx="4373563" cy="76200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1" name="Google Shape;81;p1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83" name="Google Shape;83;p1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7" name="Google Shape;87;p1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Dept. of CSE,BMSIT&amp;M                       7th Semester, MAJOR PROJECT PHASE-2 (BCS705) REVIEW ‘1                             AY : 2026-27 </a:t>
            </a:r>
            <a:endParaRPr/>
          </a:p>
        </p:txBody>
      </p:sp>
      <p:sp>
        <p:nvSpPr>
          <p:cNvPr id="89" name="Google Shape;89;p1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dk2"/>
              </a:buClr>
              <a:buSzPts val="3600"/>
              <a:buFont typeface="Arial Black"/>
              <a:buNone/>
              <a:defRPr sz="3600" b="0" i="0" u="none" strike="noStrike" cap="none">
                <a:solidFill>
                  <a:schemeClr val="dk2"/>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lnSpc>
                <a:spcPct val="100000"/>
              </a:lnSpc>
              <a:spcBef>
                <a:spcPts val="6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r>
              <a:rPr lang="en-US"/>
              <a:t>Dept. of CSE,BMSIT&amp;M                       7th Semester, MAJOR PROJECT PHASE-2 (BCS705) REVIEW ‘1                             AY : 2026-27 </a:t>
            </a:r>
            <a:endParaRPr/>
          </a:p>
        </p:txBody>
      </p:sp>
      <p:sp>
        <p:nvSpPr>
          <p:cNvPr id="14" name="Google Shape;14;p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2400"/>
              <a:buFont typeface="Arial"/>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15" name="Google Shape;15;p4"/>
          <p:cNvSpPr/>
          <p:nvPr/>
        </p:nvSpPr>
        <p:spPr>
          <a:xfrm>
            <a:off x="9001124" y="0"/>
            <a:ext cx="142876" cy="1371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 name="Google Shape;16;p4"/>
          <p:cNvSpPr/>
          <p:nvPr/>
        </p:nvSpPr>
        <p:spPr>
          <a:xfrm>
            <a:off x="9001124" y="1371600"/>
            <a:ext cx="142876"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
          <p:cNvSpPr txBox="1">
            <a:spLocks noGrp="1"/>
          </p:cNvSpPr>
          <p:nvPr>
            <p:ph type="subTitle" idx="1"/>
          </p:nvPr>
        </p:nvSpPr>
        <p:spPr>
          <a:xfrm>
            <a:off x="457201" y="1336869"/>
            <a:ext cx="8245474" cy="5126729"/>
          </a:xfrm>
          <a:prstGeom prst="rect">
            <a:avLst/>
          </a:prstGeom>
          <a:noFill/>
          <a:ln>
            <a:noFill/>
          </a:ln>
        </p:spPr>
        <p:txBody>
          <a:bodyPr spcFirstLastPara="1" wrap="square" lIns="91425" tIns="45700" rIns="91425" bIns="45700" anchor="t" anchorCtr="0">
            <a:normAutofit fontScale="77500" lnSpcReduction="20000"/>
          </a:bodyPr>
          <a:lstStyle/>
          <a:p>
            <a:pPr marL="0" indent="0" algn="ctr">
              <a:spcBef>
                <a:spcPts val="0"/>
              </a:spcBef>
              <a:buSzPct val="100000"/>
            </a:pPr>
            <a:r>
              <a:rPr lang="en-US" sz="2800" dirty="0">
                <a:solidFill>
                  <a:srgbClr val="7030A0"/>
                </a:solidFill>
              </a:rPr>
              <a:t>7</a:t>
            </a:r>
            <a:r>
              <a:rPr lang="en-US" sz="2800" baseline="30000" dirty="0">
                <a:solidFill>
                  <a:srgbClr val="7030A0"/>
                </a:solidFill>
              </a:rPr>
              <a:t>th</a:t>
            </a:r>
            <a:r>
              <a:rPr lang="en-US" sz="2800" dirty="0">
                <a:solidFill>
                  <a:srgbClr val="7030A0"/>
                </a:solidFill>
              </a:rPr>
              <a:t> Semester, Major Project Phase-2 (BCS705), </a:t>
            </a:r>
          </a:p>
          <a:p>
            <a:pPr marL="0" indent="0" algn="ctr">
              <a:spcBef>
                <a:spcPts val="0"/>
              </a:spcBef>
              <a:buSzPct val="100000"/>
            </a:pPr>
            <a:r>
              <a:rPr lang="en-US" sz="2800" dirty="0">
                <a:solidFill>
                  <a:srgbClr val="7030A0"/>
                </a:solidFill>
              </a:rPr>
              <a:t>Review ‘1’ Presentation on</a:t>
            </a:r>
            <a:endParaRPr lang="en-IN" sz="2800" dirty="0">
              <a:solidFill>
                <a:srgbClr val="7030A0"/>
              </a:solidFill>
            </a:endParaRPr>
          </a:p>
          <a:p>
            <a:pPr marL="0" lvl="0" indent="0" algn="ctr" rtl="0">
              <a:lnSpc>
                <a:spcPct val="100000"/>
              </a:lnSpc>
              <a:spcBef>
                <a:spcPts val="0"/>
              </a:spcBef>
              <a:spcAft>
                <a:spcPts val="0"/>
              </a:spcAft>
              <a:buSzPct val="100000"/>
              <a:buNone/>
            </a:pPr>
            <a:endParaRPr lang="en-IN" sz="2800" b="1" dirty="0">
              <a:latin typeface="Century Schoolbook"/>
              <a:ea typeface="Century Schoolbook"/>
              <a:cs typeface="Century Schoolbook"/>
              <a:sym typeface="Century Schoolbook"/>
            </a:endParaRPr>
          </a:p>
          <a:p>
            <a:pPr marL="0" lvl="0" indent="0" algn="ctr" rtl="0">
              <a:lnSpc>
                <a:spcPct val="100000"/>
              </a:lnSpc>
              <a:spcBef>
                <a:spcPts val="0"/>
              </a:spcBef>
              <a:spcAft>
                <a:spcPts val="0"/>
              </a:spcAft>
              <a:buSzPct val="100000"/>
              <a:buNone/>
            </a:pPr>
            <a:r>
              <a:rPr lang="en-IN" sz="2400" b="1" dirty="0">
                <a:latin typeface="Century Schoolbook"/>
                <a:ea typeface="Century Schoolbook"/>
                <a:cs typeface="Century Schoolbook"/>
                <a:sym typeface="Century Schoolbook"/>
              </a:rPr>
              <a:t>Travel Yantra — AI Based Personalized Travel Itinerary Planner and Virtual Tour Guide with Multilingual Support</a:t>
            </a:r>
            <a:endParaRPr dirty="0"/>
          </a:p>
          <a:p>
            <a:pPr marL="0" lvl="0" indent="0" algn="ctr" rtl="0">
              <a:lnSpc>
                <a:spcPct val="100000"/>
              </a:lnSpc>
              <a:spcBef>
                <a:spcPts val="908"/>
              </a:spcBef>
              <a:spcAft>
                <a:spcPts val="0"/>
              </a:spcAft>
              <a:buClr>
                <a:schemeClr val="dk2"/>
              </a:buClr>
              <a:buSzPct val="100000"/>
              <a:buNone/>
            </a:pPr>
            <a:endParaRPr sz="2800" b="1" dirty="0">
              <a:latin typeface="Century Schoolbook"/>
              <a:ea typeface="Century Schoolbook"/>
              <a:cs typeface="Century Schoolbook"/>
              <a:sym typeface="Century Schoolbook"/>
            </a:endParaRPr>
          </a:p>
          <a:p>
            <a:pPr marL="0" indent="0" algn="ctr">
              <a:spcBef>
                <a:spcPts val="776"/>
              </a:spcBef>
              <a:buSzPct val="100000"/>
            </a:pPr>
            <a:r>
              <a:rPr lang="en-IN" sz="1600" b="1" dirty="0">
                <a:latin typeface="Century Schoolbook"/>
                <a:ea typeface="Century Schoolbook"/>
                <a:cs typeface="Century Schoolbook"/>
                <a:sym typeface="Century Schoolbook"/>
              </a:rPr>
              <a:t>Nithin G (1BY23IS140)</a:t>
            </a:r>
          </a:p>
          <a:p>
            <a:pPr marL="0" indent="0" algn="ctr">
              <a:spcBef>
                <a:spcPts val="776"/>
              </a:spcBef>
              <a:buSzPct val="100000"/>
            </a:pPr>
            <a:r>
              <a:rPr lang="en-IN" sz="1600" b="1" dirty="0">
                <a:latin typeface="Century Schoolbook"/>
                <a:ea typeface="Century Schoolbook"/>
                <a:cs typeface="Century Schoolbook"/>
                <a:sym typeface="Century Schoolbook"/>
              </a:rPr>
              <a:t>Pushkar Reddy S (1BY23IS167)</a:t>
            </a:r>
          </a:p>
          <a:p>
            <a:pPr marL="0" lvl="0" indent="0" algn="ctr">
              <a:spcBef>
                <a:spcPts val="776"/>
              </a:spcBef>
              <a:buSzPct val="100000"/>
            </a:pPr>
            <a:r>
              <a:rPr lang="en-IN" sz="1600" b="1" dirty="0">
                <a:latin typeface="Century Schoolbook"/>
                <a:ea typeface="Century Schoolbook"/>
                <a:cs typeface="Century Schoolbook"/>
                <a:sym typeface="Century Schoolbook"/>
              </a:rPr>
              <a:t>Rishab Paul (1BY23IS175)</a:t>
            </a:r>
          </a:p>
          <a:p>
            <a:pPr marL="0" indent="0" algn="ctr">
              <a:spcBef>
                <a:spcPts val="776"/>
              </a:spcBef>
              <a:buSzPct val="100000"/>
            </a:pPr>
            <a:r>
              <a:rPr lang="en-IN" sz="1600" b="1" dirty="0">
                <a:latin typeface="Century Schoolbook"/>
                <a:ea typeface="Century Schoolbook"/>
                <a:cs typeface="Century Schoolbook"/>
                <a:sym typeface="Century Schoolbook"/>
              </a:rPr>
              <a:t>Rohan Balu (1BY23IS177)</a:t>
            </a:r>
          </a:p>
          <a:p>
            <a:pPr marL="0" lvl="0" indent="0" algn="ctr">
              <a:spcBef>
                <a:spcPts val="776"/>
              </a:spcBef>
              <a:buSzPct val="100000"/>
            </a:pPr>
            <a:endParaRPr lang="en-IN" sz="1600" b="1" dirty="0">
              <a:latin typeface="Century Schoolbook"/>
              <a:ea typeface="Century Schoolbook"/>
              <a:cs typeface="Century Schoolbook"/>
              <a:sym typeface="Century Schoolbook"/>
            </a:endParaRPr>
          </a:p>
          <a:p>
            <a:pPr marL="0" lvl="0" indent="0" algn="ctr" rtl="0">
              <a:lnSpc>
                <a:spcPct val="100000"/>
              </a:lnSpc>
              <a:spcBef>
                <a:spcPts val="776"/>
              </a:spcBef>
              <a:spcAft>
                <a:spcPts val="0"/>
              </a:spcAft>
              <a:buClr>
                <a:schemeClr val="dk2"/>
              </a:buClr>
              <a:buSzPct val="100000"/>
              <a:buNone/>
            </a:pPr>
            <a:endParaRPr sz="1600" b="1" dirty="0">
              <a:latin typeface="Century Schoolbook"/>
              <a:ea typeface="Century Schoolbook"/>
              <a:cs typeface="Century Schoolbook"/>
              <a:sym typeface="Century Schoolbook"/>
            </a:endParaRPr>
          </a:p>
          <a:p>
            <a:pPr marL="0" lvl="0" indent="0" algn="ctr">
              <a:spcBef>
                <a:spcPts val="776"/>
              </a:spcBef>
              <a:buClr>
                <a:srgbClr val="0070C0"/>
              </a:buClr>
              <a:buSzPct val="100000"/>
            </a:pPr>
            <a:r>
              <a:rPr lang="en-US" sz="1600" b="1" dirty="0">
                <a:solidFill>
                  <a:srgbClr val="0070C0"/>
                </a:solidFill>
                <a:latin typeface="Century Schoolbook"/>
                <a:ea typeface="Century Schoolbook"/>
                <a:cs typeface="Century Schoolbook"/>
                <a:sym typeface="Century Schoolbook"/>
              </a:rPr>
              <a:t>VII SEMESTER DEGREE OF BACHELOR OF ENGINEERING IN</a:t>
            </a:r>
            <a:endParaRPr lang="en-US" dirty="0"/>
          </a:p>
          <a:p>
            <a:pPr marL="0" lvl="0" indent="0" algn="ctr" rtl="0">
              <a:lnSpc>
                <a:spcPct val="100000"/>
              </a:lnSpc>
              <a:spcBef>
                <a:spcPts val="776"/>
              </a:spcBef>
              <a:spcAft>
                <a:spcPts val="0"/>
              </a:spcAft>
              <a:buClr>
                <a:schemeClr val="dk2"/>
              </a:buClr>
              <a:buSzPct val="100000"/>
              <a:buNone/>
            </a:pPr>
            <a:r>
              <a:rPr lang="en-US" sz="1600" b="1" dirty="0">
                <a:latin typeface="Century Schoolbook"/>
                <a:ea typeface="Century Schoolbook"/>
                <a:cs typeface="Century Schoolbook"/>
                <a:sym typeface="Century Schoolbook"/>
              </a:rPr>
              <a:t>Information Science and Engineering </a:t>
            </a:r>
            <a:endParaRPr sz="1600" b="1" dirty="0">
              <a:latin typeface="Century Schoolbook"/>
              <a:ea typeface="Century Schoolbook"/>
              <a:cs typeface="Century Schoolbook"/>
              <a:sym typeface="Century Schoolbook"/>
            </a:endParaRPr>
          </a:p>
          <a:p>
            <a:pPr marL="0" lvl="0" indent="0" algn="ctr" rtl="0">
              <a:lnSpc>
                <a:spcPct val="100000"/>
              </a:lnSpc>
              <a:spcBef>
                <a:spcPts val="820"/>
              </a:spcBef>
              <a:spcAft>
                <a:spcPts val="0"/>
              </a:spcAft>
              <a:buClr>
                <a:schemeClr val="dk2"/>
              </a:buClr>
              <a:buSzPct val="100000"/>
              <a:buNone/>
            </a:pPr>
            <a:r>
              <a:rPr lang="en-IN" b="1" dirty="0">
                <a:latin typeface="Century Schoolbook"/>
                <a:ea typeface="Century Schoolbook"/>
                <a:cs typeface="Century Schoolbook"/>
                <a:sym typeface="Century Schoolbook"/>
              </a:rPr>
              <a:t>UNDER THE GUIDANCE OF</a:t>
            </a:r>
            <a:endParaRPr dirty="0"/>
          </a:p>
          <a:p>
            <a:pPr marL="0" lvl="0" indent="0" algn="ctr" rtl="0">
              <a:lnSpc>
                <a:spcPct val="100000"/>
              </a:lnSpc>
              <a:spcBef>
                <a:spcPts val="809"/>
              </a:spcBef>
              <a:spcAft>
                <a:spcPts val="0"/>
              </a:spcAft>
              <a:buClr>
                <a:schemeClr val="dk2"/>
              </a:buClr>
              <a:buSzPct val="100000"/>
              <a:buNone/>
            </a:pPr>
            <a:r>
              <a:rPr lang="en-IN" sz="1900" b="1" dirty="0">
                <a:latin typeface="Century Schoolbook"/>
                <a:ea typeface="Century Schoolbook"/>
                <a:cs typeface="Century Schoolbook"/>
                <a:sym typeface="Century Schoolbook"/>
              </a:rPr>
              <a:t>Prof. Shwetha T</a:t>
            </a:r>
            <a:endParaRPr sz="1900" b="1" dirty="0">
              <a:latin typeface="Century Schoolbook"/>
              <a:ea typeface="Century Schoolbook"/>
              <a:cs typeface="Century Schoolbook"/>
              <a:sym typeface="Century Schoolbook"/>
            </a:endParaRPr>
          </a:p>
          <a:p>
            <a:pPr marL="0" lvl="0" indent="0" algn="ctr" rtl="0">
              <a:lnSpc>
                <a:spcPct val="100000"/>
              </a:lnSpc>
              <a:spcBef>
                <a:spcPts val="809"/>
              </a:spcBef>
              <a:spcAft>
                <a:spcPts val="0"/>
              </a:spcAft>
              <a:buClr>
                <a:schemeClr val="dk2"/>
              </a:buClr>
              <a:buSzPct val="100000"/>
              <a:buNone/>
            </a:pPr>
            <a:r>
              <a:rPr lang="en-IN" sz="1900" b="1" dirty="0">
                <a:solidFill>
                  <a:srgbClr val="7030A0"/>
                </a:solidFill>
                <a:latin typeface="Century Schoolbook"/>
                <a:ea typeface="Century Schoolbook"/>
                <a:cs typeface="Century Schoolbook"/>
                <a:sym typeface="Century Schoolbook"/>
              </a:rPr>
              <a:t>Assistant Professor, Dept. of ISE</a:t>
            </a:r>
            <a:endParaRPr sz="1900" b="1" dirty="0">
              <a:solidFill>
                <a:srgbClr val="7030A0"/>
              </a:solidFill>
              <a:latin typeface="Century Schoolbook"/>
              <a:ea typeface="Century Schoolbook"/>
              <a:cs typeface="Century Schoolbook"/>
              <a:sym typeface="Century Schoolbook"/>
            </a:endParaRPr>
          </a:p>
          <a:p>
            <a:pPr marL="0" lvl="0" indent="0" algn="ctr" rtl="0">
              <a:lnSpc>
                <a:spcPct val="100000"/>
              </a:lnSpc>
              <a:spcBef>
                <a:spcPts val="809"/>
              </a:spcBef>
              <a:spcAft>
                <a:spcPts val="0"/>
              </a:spcAft>
              <a:buClr>
                <a:schemeClr val="dk2"/>
              </a:buClr>
              <a:buSzPct val="100000"/>
              <a:buNone/>
            </a:pPr>
            <a:r>
              <a:rPr lang="en-IN" sz="1900" b="1" dirty="0">
                <a:solidFill>
                  <a:srgbClr val="7030A0"/>
                </a:solidFill>
                <a:latin typeface="Century Schoolbook"/>
                <a:ea typeface="Century Schoolbook"/>
                <a:cs typeface="Century Schoolbook"/>
                <a:sym typeface="Century Schoolbook"/>
              </a:rPr>
              <a:t>DEPT. OF ISE</a:t>
            </a:r>
            <a:endParaRPr dirty="0">
              <a:solidFill>
                <a:srgbClr val="7030A0"/>
              </a:solidFill>
            </a:endParaRPr>
          </a:p>
          <a:p>
            <a:pPr marL="0" lvl="0" indent="0" algn="ctr" rtl="0">
              <a:lnSpc>
                <a:spcPct val="100000"/>
              </a:lnSpc>
              <a:spcBef>
                <a:spcPts val="809"/>
              </a:spcBef>
              <a:spcAft>
                <a:spcPts val="0"/>
              </a:spcAft>
              <a:buClr>
                <a:schemeClr val="dk2"/>
              </a:buClr>
              <a:buSzPct val="100000"/>
              <a:buNone/>
            </a:pPr>
            <a:r>
              <a:rPr lang="en-IN" sz="1900" b="1" dirty="0">
                <a:solidFill>
                  <a:srgbClr val="7030A0"/>
                </a:solidFill>
                <a:latin typeface="Century Schoolbook"/>
                <a:ea typeface="Century Schoolbook"/>
                <a:cs typeface="Century Schoolbook"/>
                <a:sym typeface="Century Schoolbook"/>
              </a:rPr>
              <a:t>BMSIT&amp;M</a:t>
            </a:r>
            <a:endParaRPr dirty="0">
              <a:solidFill>
                <a:srgbClr val="7030A0"/>
              </a:solidFill>
            </a:endParaRPr>
          </a:p>
          <a:p>
            <a:pPr marL="0" marR="0" lvl="0" indent="0" algn="ctr" rtl="0">
              <a:lnSpc>
                <a:spcPct val="100000"/>
              </a:lnSpc>
              <a:spcBef>
                <a:spcPts val="0"/>
              </a:spcBef>
              <a:spcAft>
                <a:spcPts val="0"/>
              </a:spcAft>
              <a:buClr>
                <a:srgbClr val="000000"/>
              </a:buClr>
              <a:buSzPts val="1800"/>
              <a:buFont typeface="Arial"/>
              <a:buNone/>
            </a:pPr>
            <a:endParaRPr lang="en-IN" sz="1900" b="1" dirty="0">
              <a:latin typeface="Century Schoolbook"/>
              <a:ea typeface="Century Schoolbook"/>
              <a:cs typeface="Century Schoolbook"/>
              <a:sym typeface="Century Schoolbook"/>
            </a:endParaRPr>
          </a:p>
          <a:p>
            <a:pPr marL="0" marR="0" lvl="0" indent="0" algn="ctr" rtl="0">
              <a:lnSpc>
                <a:spcPct val="100000"/>
              </a:lnSpc>
              <a:spcBef>
                <a:spcPts val="0"/>
              </a:spcBef>
              <a:spcAft>
                <a:spcPts val="0"/>
              </a:spcAft>
              <a:buClr>
                <a:srgbClr val="000000"/>
              </a:buClr>
              <a:buSzPts val="1800"/>
              <a:buFont typeface="Arial"/>
              <a:buNone/>
            </a:pPr>
            <a:endParaRPr lang="en-IN" sz="1900" b="1" dirty="0">
              <a:latin typeface="Century Schoolbook"/>
              <a:ea typeface="Century Schoolbook"/>
              <a:cs typeface="Century Schoolbook"/>
              <a:sym typeface="Century Schoolbook"/>
            </a:endParaRPr>
          </a:p>
          <a:p>
            <a:pPr marL="0" marR="0" lvl="0" indent="0" algn="ctr" rtl="0">
              <a:lnSpc>
                <a:spcPct val="100000"/>
              </a:lnSpc>
              <a:spcBef>
                <a:spcPts val="0"/>
              </a:spcBef>
              <a:spcAft>
                <a:spcPts val="0"/>
              </a:spcAft>
              <a:buClr>
                <a:srgbClr val="000000"/>
              </a:buClr>
              <a:buSzPts val="1800"/>
              <a:buFont typeface="Arial"/>
              <a:buNone/>
            </a:pPr>
            <a:endParaRPr lang="en-IN" sz="1900" b="1" dirty="0">
              <a:latin typeface="Century Schoolbook"/>
              <a:ea typeface="Century Schoolbook"/>
              <a:cs typeface="Century Schoolbook"/>
              <a:sym typeface="Century Schoolbook"/>
            </a:endParaRPr>
          </a:p>
          <a:p>
            <a:pPr marL="0" lvl="0" indent="0" algn="ctr" rtl="0">
              <a:lnSpc>
                <a:spcPct val="100000"/>
              </a:lnSpc>
              <a:spcBef>
                <a:spcPts val="820"/>
              </a:spcBef>
              <a:spcAft>
                <a:spcPts val="0"/>
              </a:spcAft>
              <a:buClr>
                <a:schemeClr val="dk2"/>
              </a:buClr>
              <a:buSzPct val="100000"/>
              <a:buNone/>
            </a:pPr>
            <a:endParaRPr dirty="0">
              <a:latin typeface="Century Schoolbook"/>
              <a:ea typeface="Century Schoolbook"/>
              <a:cs typeface="Century Schoolbook"/>
              <a:sym typeface="Century Schoolbook"/>
            </a:endParaRPr>
          </a:p>
        </p:txBody>
      </p:sp>
      <p:pic>
        <p:nvPicPr>
          <p:cNvPr id="1026" name="Picture 2" descr="VTU online">
            <a:extLst>
              <a:ext uri="{FF2B5EF4-FFF2-40B4-BE49-F238E27FC236}">
                <a16:creationId xmlns:a16="http://schemas.microsoft.com/office/drawing/2014/main" id="{4410DB29-14E2-4208-772F-E71545D76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368" y="79423"/>
            <a:ext cx="792307" cy="1022833"/>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14899319-A280-BCC3-AB6E-BB354C9237D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1</a:t>
            </a:fld>
            <a:endParaRPr lang="en-IN"/>
          </a:p>
        </p:txBody>
      </p:sp>
      <p:sp>
        <p:nvSpPr>
          <p:cNvPr id="7" name="Footer Placeholder 6">
            <a:extLst>
              <a:ext uri="{FF2B5EF4-FFF2-40B4-BE49-F238E27FC236}">
                <a16:creationId xmlns:a16="http://schemas.microsoft.com/office/drawing/2014/main" id="{7F44B29C-F20D-B128-BE1D-1EC7A958D1B4}"/>
              </a:ext>
            </a:extLst>
          </p:cNvPr>
          <p:cNvSpPr>
            <a:spLocks noGrp="1"/>
          </p:cNvSpPr>
          <p:nvPr>
            <p:ph type="ftr" idx="11"/>
          </p:nvPr>
        </p:nvSpPr>
        <p:spPr>
          <a:xfrm>
            <a:off x="203201" y="6492875"/>
            <a:ext cx="8499474" cy="283845"/>
          </a:xfrm>
        </p:spPr>
        <p:txBody>
          <a:bodyPr/>
          <a:lstStyle/>
          <a:p>
            <a:pPr lvl="0"/>
            <a:r>
              <a:rPr lang="en-US" dirty="0"/>
              <a:t>Dept. of ISE,BMSIT&amp;M                       7th Semester, MAJOR PROJECT PHASE-2 (BCS705) REVIEW ‘1                             AY : 2026-27 </a:t>
            </a:r>
            <a:endParaRPr lang="en-IN" dirty="0"/>
          </a:p>
        </p:txBody>
      </p:sp>
      <p:pic>
        <p:nvPicPr>
          <p:cNvPr id="8" name="Picture 2" descr="logo"/>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75" t="9343" r="82084" b="10716"/>
          <a:stretch>
            <a:fillRect/>
          </a:stretch>
        </p:blipFill>
        <p:spPr bwMode="auto">
          <a:xfrm>
            <a:off x="396097" y="79423"/>
            <a:ext cx="1096908" cy="12057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logo"/>
          <p:cNvPicPr>
            <a:picLocks noChangeAspect="1" noChangeArrowheads="1"/>
          </p:cNvPicPr>
          <p:nvPr/>
        </p:nvPicPr>
        <p:blipFill rotWithShape="1">
          <a:blip r:embed="rId5">
            <a:extLst>
              <a:ext uri="{28A0092B-C50C-407E-A947-70E740481C1C}">
                <a14:useLocalDpi xmlns:a14="http://schemas.microsoft.com/office/drawing/2010/main" val="0"/>
              </a:ext>
            </a:extLst>
          </a:blip>
          <a:srcRect l="19272" t="9343" r="-1" b="10716"/>
          <a:stretch>
            <a:fillRect/>
          </a:stretch>
        </p:blipFill>
        <p:spPr bwMode="auto">
          <a:xfrm>
            <a:off x="1607938" y="157018"/>
            <a:ext cx="6196789" cy="11798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dk2"/>
              </a:buClr>
              <a:buSzPts val="3600"/>
              <a:buFont typeface="Century Schoolbook"/>
              <a:buNone/>
            </a:pPr>
            <a:r>
              <a:rPr lang="en-IN" b="1">
                <a:latin typeface="Century Schoolbook"/>
                <a:ea typeface="Century Schoolbook"/>
                <a:cs typeface="Century Schoolbook"/>
                <a:sym typeface="Century Schoolbook"/>
              </a:rPr>
              <a:t>CONTENT</a:t>
            </a:r>
            <a:br>
              <a:rPr lang="en-IN" b="1">
                <a:latin typeface="Century Schoolbook"/>
                <a:ea typeface="Century Schoolbook"/>
                <a:cs typeface="Century Schoolbook"/>
                <a:sym typeface="Century Schoolbook"/>
              </a:rPr>
            </a:br>
            <a:endParaRPr b="1">
              <a:latin typeface="Century Schoolbook"/>
              <a:ea typeface="Century Schoolbook"/>
              <a:cs typeface="Century Schoolbook"/>
              <a:sym typeface="Century Schoolbook"/>
            </a:endParaRPr>
          </a:p>
        </p:txBody>
      </p:sp>
      <p:sp>
        <p:nvSpPr>
          <p:cNvPr id="102" name="Google Shape;102;p2"/>
          <p:cNvSpPr txBox="1">
            <a:spLocks noGrp="1"/>
          </p:cNvSpPr>
          <p:nvPr>
            <p:ph type="body" idx="1"/>
          </p:nvPr>
        </p:nvSpPr>
        <p:spPr>
          <a:xfrm>
            <a:off x="457200" y="1041009"/>
            <a:ext cx="8229600" cy="5542671"/>
          </a:xfrm>
          <a:prstGeom prst="rect">
            <a:avLst/>
          </a:prstGeom>
          <a:noFill/>
          <a:ln>
            <a:noFill/>
          </a:ln>
        </p:spPr>
        <p:txBody>
          <a:bodyPr spcFirstLastPara="1" wrap="square" lIns="91425" tIns="45700" rIns="91425" bIns="45700" anchor="t" anchorCtr="0">
            <a:normAutofit fontScale="92500" lnSpcReduction="20000"/>
          </a:bodyPr>
          <a:lstStyle/>
          <a:p>
            <a:pPr marL="571500" lvl="0" indent="-557720" algn="l" rtl="0">
              <a:lnSpc>
                <a:spcPct val="120000"/>
              </a:lnSpc>
              <a:spcBef>
                <a:spcPts val="0"/>
              </a:spcBef>
              <a:spcAft>
                <a:spcPts val="0"/>
              </a:spcAft>
              <a:buClr>
                <a:schemeClr val="dk1"/>
              </a:buClr>
              <a:buSzPct val="100000"/>
              <a:buFont typeface="Cambria Math"/>
              <a:buChar char="↪"/>
            </a:pPr>
            <a:r>
              <a:rPr lang="en-IN" sz="2900" b="0" dirty="0">
                <a:latin typeface="Times New Roman" panose="02020603050405020304" pitchFamily="18" charset="0"/>
                <a:ea typeface="Bookman Old Style"/>
                <a:cs typeface="Times New Roman" panose="02020603050405020304" pitchFamily="18" charset="0"/>
                <a:sym typeface="Bookman Old Style"/>
              </a:rPr>
              <a:t>Abstract  </a:t>
            </a:r>
            <a:endParaRPr sz="2900" b="0" dirty="0">
              <a:latin typeface="Times New Roman" panose="02020603050405020304" pitchFamily="18" charset="0"/>
              <a:ea typeface="Bookman Old Style"/>
              <a:cs typeface="Times New Roman" panose="02020603050405020304" pitchFamily="18" charset="0"/>
              <a:sym typeface="Bookman Old Style"/>
            </a:endParaRPr>
          </a:p>
          <a:p>
            <a:pPr marL="571500" lvl="0" indent="-557720" algn="l" rtl="0">
              <a:lnSpc>
                <a:spcPct val="120000"/>
              </a:lnSpc>
              <a:spcBef>
                <a:spcPts val="1118"/>
              </a:spcBef>
              <a:spcAft>
                <a:spcPts val="0"/>
              </a:spcAft>
              <a:buClr>
                <a:schemeClr val="dk1"/>
              </a:buClr>
              <a:buSzPct val="100000"/>
              <a:buFont typeface="Cambria Math"/>
              <a:buChar char="↪"/>
            </a:pPr>
            <a:r>
              <a:rPr lang="en-IN" sz="2900" b="0" dirty="0">
                <a:latin typeface="Times New Roman" panose="02020603050405020304" pitchFamily="18" charset="0"/>
                <a:ea typeface="Bookman Old Style"/>
                <a:cs typeface="Times New Roman" panose="02020603050405020304" pitchFamily="18" charset="0"/>
                <a:sym typeface="Bookman Old Style"/>
              </a:rPr>
              <a:t>Introduction</a:t>
            </a:r>
            <a:endParaRPr sz="2900" b="0" dirty="0">
              <a:latin typeface="Times New Roman" panose="02020603050405020304" pitchFamily="18" charset="0"/>
              <a:ea typeface="Bookman Old Style"/>
              <a:cs typeface="Times New Roman" panose="02020603050405020304" pitchFamily="18" charset="0"/>
              <a:sym typeface="Bookman Old Style"/>
            </a:endParaRPr>
          </a:p>
          <a:p>
            <a:pPr marL="571500" lvl="0" indent="-557720" algn="l" rtl="0">
              <a:lnSpc>
                <a:spcPct val="120000"/>
              </a:lnSpc>
              <a:spcBef>
                <a:spcPts val="1118"/>
              </a:spcBef>
              <a:spcAft>
                <a:spcPts val="0"/>
              </a:spcAft>
              <a:buSzPct val="100000"/>
              <a:buFont typeface="Cambria Math"/>
              <a:buChar char="↪"/>
            </a:pPr>
            <a:r>
              <a:rPr lang="en-IN" sz="2900" b="0" dirty="0">
                <a:latin typeface="Times New Roman" panose="02020603050405020304" pitchFamily="18" charset="0"/>
                <a:ea typeface="Bookman Old Style"/>
                <a:cs typeface="Times New Roman" panose="02020603050405020304" pitchFamily="18" charset="0"/>
                <a:sym typeface="Bookman Old Style"/>
              </a:rPr>
              <a:t>Problem statement</a:t>
            </a:r>
            <a:endParaRPr b="0" dirty="0">
              <a:latin typeface="Times New Roman" panose="02020603050405020304" pitchFamily="18" charset="0"/>
              <a:cs typeface="Times New Roman" panose="02020603050405020304" pitchFamily="18" charset="0"/>
            </a:endParaRPr>
          </a:p>
          <a:p>
            <a:pPr marL="571500" lvl="0" indent="-557720" algn="l" rtl="0">
              <a:lnSpc>
                <a:spcPct val="120000"/>
              </a:lnSpc>
              <a:spcBef>
                <a:spcPts val="1118"/>
              </a:spcBef>
              <a:spcAft>
                <a:spcPts val="0"/>
              </a:spcAft>
              <a:buClr>
                <a:schemeClr val="dk1"/>
              </a:buClr>
              <a:buSzPct val="100000"/>
              <a:buFont typeface="Cambria Math"/>
              <a:buChar char="↪"/>
            </a:pPr>
            <a:r>
              <a:rPr lang="en-IN" sz="2900" b="0" dirty="0">
                <a:latin typeface="Times New Roman" panose="02020603050405020304" pitchFamily="18" charset="0"/>
                <a:ea typeface="Bookman Old Style"/>
                <a:cs typeface="Times New Roman" panose="02020603050405020304" pitchFamily="18" charset="0"/>
                <a:sym typeface="Bookman Old Style"/>
              </a:rPr>
              <a:t>Objectives of the work</a:t>
            </a:r>
            <a:endParaRPr b="0" dirty="0">
              <a:latin typeface="Times New Roman" panose="02020603050405020304" pitchFamily="18" charset="0"/>
              <a:cs typeface="Times New Roman" panose="02020603050405020304" pitchFamily="18" charset="0"/>
            </a:endParaRPr>
          </a:p>
          <a:p>
            <a:pPr marL="571500" lvl="0" indent="-557720" algn="l" rtl="0">
              <a:lnSpc>
                <a:spcPct val="120000"/>
              </a:lnSpc>
              <a:spcBef>
                <a:spcPts val="1118"/>
              </a:spcBef>
              <a:spcAft>
                <a:spcPts val="0"/>
              </a:spcAft>
              <a:buSzPct val="100000"/>
              <a:buFont typeface="Cambria Math"/>
              <a:buChar char="↪"/>
            </a:pPr>
            <a:r>
              <a:rPr lang="en-IN" sz="2900" b="0" dirty="0">
                <a:latin typeface="Times New Roman" panose="02020603050405020304" pitchFamily="18" charset="0"/>
                <a:ea typeface="Bookman Old Style"/>
                <a:cs typeface="Times New Roman" panose="02020603050405020304" pitchFamily="18" charset="0"/>
                <a:sym typeface="Bookman Old Style"/>
              </a:rPr>
              <a:t>Methodology </a:t>
            </a:r>
          </a:p>
          <a:p>
            <a:pPr marL="571500" lvl="0" indent="-557720" algn="l" rtl="0">
              <a:lnSpc>
                <a:spcPct val="120000"/>
              </a:lnSpc>
              <a:spcBef>
                <a:spcPts val="1118"/>
              </a:spcBef>
              <a:spcAft>
                <a:spcPts val="0"/>
              </a:spcAft>
              <a:buSzPct val="100000"/>
              <a:buFont typeface="Cambria Math"/>
              <a:buChar char="↪"/>
            </a:pPr>
            <a:r>
              <a:rPr lang="en-IN" sz="2900" b="0" dirty="0">
                <a:solidFill>
                  <a:schemeClr val="tx1"/>
                </a:solidFill>
                <a:latin typeface="Times New Roman" panose="02020603050405020304" pitchFamily="18" charset="0"/>
                <a:ea typeface="Bookman Old Style"/>
                <a:cs typeface="Times New Roman" panose="02020603050405020304" pitchFamily="18" charset="0"/>
                <a:sym typeface="Bookman Old Style"/>
              </a:rPr>
              <a:t>Implementation of project Execution</a:t>
            </a:r>
            <a:endParaRPr b="0" dirty="0">
              <a:solidFill>
                <a:schemeClr val="tx1"/>
              </a:solidFill>
              <a:latin typeface="Times New Roman" panose="02020603050405020304" pitchFamily="18" charset="0"/>
              <a:cs typeface="Times New Roman" panose="02020603050405020304" pitchFamily="18" charset="0"/>
            </a:endParaRPr>
          </a:p>
          <a:p>
            <a:pPr marL="571500" lvl="0" indent="-557720" algn="l" rtl="0">
              <a:lnSpc>
                <a:spcPct val="120000"/>
              </a:lnSpc>
              <a:spcBef>
                <a:spcPts val="1118"/>
              </a:spcBef>
              <a:spcAft>
                <a:spcPts val="0"/>
              </a:spcAft>
              <a:buSzPct val="100000"/>
              <a:buFont typeface="Cambria Math"/>
              <a:buChar char="↪"/>
            </a:pPr>
            <a:r>
              <a:rPr lang="en-IN" sz="2900" b="0" dirty="0">
                <a:solidFill>
                  <a:schemeClr val="tx1"/>
                </a:solidFill>
                <a:latin typeface="Times New Roman" panose="02020603050405020304" pitchFamily="18" charset="0"/>
                <a:cs typeface="Times New Roman" panose="02020603050405020304" pitchFamily="18" charset="0"/>
              </a:rPr>
              <a:t>Experimental Setup, Expected Results &amp; Analysis</a:t>
            </a:r>
          </a:p>
          <a:p>
            <a:pPr marL="571500" lvl="0" indent="-557720" algn="l" rtl="0">
              <a:lnSpc>
                <a:spcPct val="120000"/>
              </a:lnSpc>
              <a:spcBef>
                <a:spcPts val="1118"/>
              </a:spcBef>
              <a:spcAft>
                <a:spcPts val="0"/>
              </a:spcAft>
              <a:buSzPct val="100000"/>
              <a:buFont typeface="Cambria Math"/>
              <a:buChar char="↪"/>
            </a:pPr>
            <a:r>
              <a:rPr lang="en-IN" sz="2900" b="0" dirty="0">
                <a:solidFill>
                  <a:schemeClr val="tx1"/>
                </a:solidFill>
                <a:latin typeface="Times New Roman" panose="02020603050405020304" pitchFamily="18" charset="0"/>
                <a:cs typeface="Times New Roman" panose="02020603050405020304" pitchFamily="18" charset="0"/>
              </a:rPr>
              <a:t>Project Status, Conclusion</a:t>
            </a:r>
          </a:p>
          <a:p>
            <a:pPr marL="571500" lvl="0" indent="-557720" algn="l" rtl="0">
              <a:lnSpc>
                <a:spcPct val="120000"/>
              </a:lnSpc>
              <a:spcBef>
                <a:spcPts val="1118"/>
              </a:spcBef>
              <a:spcAft>
                <a:spcPts val="0"/>
              </a:spcAft>
              <a:buSzPct val="100000"/>
              <a:buFont typeface="Cambria Math"/>
              <a:buChar char="↪"/>
            </a:pPr>
            <a:r>
              <a:rPr lang="en-IN" sz="2800" b="0" dirty="0">
                <a:solidFill>
                  <a:schemeClr val="tx1"/>
                </a:solidFill>
                <a:latin typeface="Times New Roman" panose="02020603050405020304" pitchFamily="18" charset="0"/>
                <a:cs typeface="Times New Roman" panose="02020603050405020304" pitchFamily="18" charset="0"/>
              </a:rPr>
              <a:t>Publication</a:t>
            </a:r>
          </a:p>
          <a:p>
            <a:pPr marL="571500" lvl="0" indent="-557720" algn="l" rtl="0">
              <a:lnSpc>
                <a:spcPct val="120000"/>
              </a:lnSpc>
              <a:spcBef>
                <a:spcPts val="1118"/>
              </a:spcBef>
              <a:spcAft>
                <a:spcPts val="0"/>
              </a:spcAft>
              <a:buSzPct val="100000"/>
              <a:buFont typeface="Cambria Math"/>
              <a:buChar char="↪"/>
            </a:pPr>
            <a:r>
              <a:rPr lang="en-IN" sz="2900" b="0" dirty="0">
                <a:latin typeface="Times New Roman" panose="02020603050405020304" pitchFamily="18" charset="0"/>
                <a:ea typeface="Bookman Old Style"/>
                <a:cs typeface="Times New Roman" panose="02020603050405020304" pitchFamily="18" charset="0"/>
                <a:sym typeface="Bookman Old Style"/>
              </a:rPr>
              <a:t>References(IEEE format)</a:t>
            </a:r>
            <a:endParaRPr sz="2900" b="0" dirty="0">
              <a:latin typeface="Times New Roman" panose="02020603050405020304" pitchFamily="18" charset="0"/>
              <a:ea typeface="Bookman Old Style"/>
              <a:cs typeface="Times New Roman" panose="02020603050405020304" pitchFamily="18" charset="0"/>
              <a:sym typeface="Bookman Old Style"/>
            </a:endParaRPr>
          </a:p>
          <a:p>
            <a:pPr marL="45720" lvl="0" indent="0" algn="l" rtl="0">
              <a:lnSpc>
                <a:spcPct val="100000"/>
              </a:lnSpc>
              <a:spcBef>
                <a:spcPts val="880"/>
              </a:spcBef>
              <a:spcAft>
                <a:spcPts val="0"/>
              </a:spcAft>
              <a:buClr>
                <a:schemeClr val="dk1"/>
              </a:buClr>
              <a:buSzPct val="100000"/>
              <a:buNone/>
            </a:pPr>
            <a:endParaRPr dirty="0"/>
          </a:p>
        </p:txBody>
      </p:sp>
      <p:sp>
        <p:nvSpPr>
          <p:cNvPr id="4" name="Slide Number Placeholder 3">
            <a:extLst>
              <a:ext uri="{FF2B5EF4-FFF2-40B4-BE49-F238E27FC236}">
                <a16:creationId xmlns:a16="http://schemas.microsoft.com/office/drawing/2014/main" id="{3558EB12-1B62-6FEB-4F9A-BB274C4DBCB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2</a:t>
            </a:fld>
            <a:endParaRPr lang="en-IN"/>
          </a:p>
        </p:txBody>
      </p:sp>
      <p:sp>
        <p:nvSpPr>
          <p:cNvPr id="5" name="Footer Placeholder 4">
            <a:extLst>
              <a:ext uri="{FF2B5EF4-FFF2-40B4-BE49-F238E27FC236}">
                <a16:creationId xmlns:a16="http://schemas.microsoft.com/office/drawing/2014/main" id="{2828E2F0-886E-19C2-554E-EBC5C6F24D9C}"/>
              </a:ext>
            </a:extLst>
          </p:cNvPr>
          <p:cNvSpPr>
            <a:spLocks noGrp="1"/>
          </p:cNvSpPr>
          <p:nvPr>
            <p:ph type="ftr" idx="11"/>
          </p:nvPr>
        </p:nvSpPr>
        <p:spPr>
          <a:xfrm>
            <a:off x="457199" y="6492875"/>
            <a:ext cx="8095673" cy="283845"/>
          </a:xfrm>
        </p:spPr>
        <p:txBody>
          <a:bodyPr/>
          <a:lstStyle/>
          <a:p>
            <a:r>
              <a:rPr lang="en-US" dirty="0"/>
              <a:t>Dept. of ISE,BMSIT&amp;M                       7th Semester, MAJOR PROJECT PHASE-2 (BCS705) REVIEW ‘1                             AY : 2026-27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a64a40ef39_0_6"/>
          <p:cNvSpPr txBox="1">
            <a:spLocks noGrp="1"/>
          </p:cNvSpPr>
          <p:nvPr>
            <p:ph type="title"/>
          </p:nvPr>
        </p:nvSpPr>
        <p:spPr>
          <a:xfrm>
            <a:off x="457200" y="152718"/>
            <a:ext cx="5791200" cy="64281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ABSTRACT</a:t>
            </a:r>
            <a:endParaRPr dirty="0">
              <a:latin typeface="Times New Roman" panose="02020603050405020304" pitchFamily="18" charset="0"/>
              <a:cs typeface="Times New Roman" panose="02020603050405020304" pitchFamily="18" charset="0"/>
            </a:endParaRPr>
          </a:p>
        </p:txBody>
      </p:sp>
      <p:sp>
        <p:nvSpPr>
          <p:cNvPr id="109" name="Google Shape;109;g3a64a40ef39_0_6"/>
          <p:cNvSpPr txBox="1">
            <a:spLocks noGrp="1"/>
          </p:cNvSpPr>
          <p:nvPr>
            <p:ph type="body" idx="1"/>
          </p:nvPr>
        </p:nvSpPr>
        <p:spPr>
          <a:xfrm>
            <a:off x="457200" y="1297590"/>
            <a:ext cx="7620000" cy="5024120"/>
          </a:xfrm>
          <a:prstGeom prst="rect">
            <a:avLst/>
          </a:prstGeom>
        </p:spPr>
        <p:txBody>
          <a:bodyPr spcFirstLastPara="1" wrap="square" lIns="91425" tIns="45700" rIns="91425" bIns="45700" anchor="t" anchorCtr="0">
            <a:normAutofit fontScale="92500" lnSpcReduction="20000"/>
          </a:bodyPr>
          <a:lstStyle/>
          <a:p>
            <a:pPr marL="457200" indent="-304800" algn="l" rtl="0">
              <a:lnSpc>
                <a:spcPct val="115000"/>
              </a:lnSpc>
              <a:spcBef>
                <a:spcPts val="0"/>
              </a:spcBef>
              <a:spcAft>
                <a:spcPts val="800"/>
              </a:spcAft>
              <a:buSzPts val="1200"/>
              <a:buFont typeface="Times New Roman"/>
              <a:buChar char="●"/>
            </a:pPr>
            <a:r>
              <a:rPr lang="en-IN" sz="1400" b="0" dirty="0">
                <a:latin typeface="Times New Roman"/>
                <a:ea typeface="Times New Roman"/>
                <a:cs typeface="Times New Roman"/>
                <a:sym typeface="Times New Roman"/>
              </a:rPr>
              <a:t>Context: Planning a multi-day trip in India means assembling it by hand across booking, review and mapping platforms, and almost every one of those tools assumes the traveller reads English. At the site itself there is no grounded guide to explain what is being looked at.</a:t>
            </a:r>
            <a:endParaRPr sz="1600" b="0" dirty="0">
              <a:latin typeface="Times New Roman"/>
              <a:ea typeface="Times New Roman"/>
              <a:cs typeface="Times New Roman"/>
              <a:sym typeface="Times New Roman"/>
            </a:endParaRPr>
          </a:p>
          <a:p>
            <a:pPr marL="457200" indent="-304800" algn="l" rtl="0">
              <a:lnSpc>
                <a:spcPct val="115000"/>
              </a:lnSpc>
              <a:spcBef>
                <a:spcPts val="0"/>
              </a:spcBef>
              <a:spcAft>
                <a:spcPts val="800"/>
              </a:spcAft>
              <a:buSzPts val="1200"/>
              <a:buFont typeface="Times New Roman"/>
              <a:buChar char="●"/>
            </a:pPr>
            <a:r>
              <a:rPr lang="en-IN" sz="1400" b="0" dirty="0">
                <a:latin typeface="Times New Roman"/>
                <a:ea typeface="Times New Roman"/>
                <a:cs typeface="Times New Roman"/>
                <a:sym typeface="Times New Roman"/>
              </a:rPr>
              <a:t>Problem Identified: Generic large language models are fluent but unreliable planners — GPT-4 passes 0.6 percent of multi-constraint plans on the TravelPlanner benchmark — and free-form generation invents opening hours, fees and history that a traveller cannot check.</a:t>
            </a:r>
            <a:endParaRPr sz="1600" b="0" dirty="0">
              <a:latin typeface="Times New Roman"/>
              <a:ea typeface="Times New Roman"/>
              <a:cs typeface="Times New Roman"/>
              <a:sym typeface="Times New Roman"/>
            </a:endParaRPr>
          </a:p>
          <a:p>
            <a:pPr marL="457200" indent="-304800" algn="l" rtl="0">
              <a:lnSpc>
                <a:spcPct val="115000"/>
              </a:lnSpc>
              <a:spcBef>
                <a:spcPts val="0"/>
              </a:spcBef>
              <a:spcAft>
                <a:spcPts val="800"/>
              </a:spcAft>
              <a:buSzPts val="1200"/>
              <a:buFont typeface="Times New Roman"/>
              <a:buChar char="●"/>
            </a:pPr>
            <a:r>
              <a:rPr lang="en-IN" sz="1400" b="0" dirty="0">
                <a:latin typeface="Times New Roman"/>
                <a:ea typeface="Times New Roman"/>
                <a:cs typeface="Times New Roman"/>
                <a:sym typeface="Times New Roman"/>
              </a:rPr>
              <a:t>Objective: This review demonstrates two of the six project objectives in working software: Objective 1, AI-Powered Personalised Itinerary Generation, and Objective 5, Virtual Cultural Tour Guide, delivered as the feature named Katha.</a:t>
            </a:r>
            <a:endParaRPr sz="1600" b="0" dirty="0">
              <a:latin typeface="Times New Roman"/>
              <a:ea typeface="Times New Roman"/>
              <a:cs typeface="Times New Roman"/>
              <a:sym typeface="Times New Roman"/>
            </a:endParaRPr>
          </a:p>
          <a:p>
            <a:pPr marL="457200" indent="-304800" algn="l" rtl="0">
              <a:lnSpc>
                <a:spcPct val="115000"/>
              </a:lnSpc>
              <a:spcBef>
                <a:spcPts val="0"/>
              </a:spcBef>
              <a:spcAft>
                <a:spcPts val="800"/>
              </a:spcAft>
              <a:buSzPts val="1200"/>
              <a:buFont typeface="Times New Roman"/>
              <a:buChar char="●"/>
            </a:pPr>
            <a:r>
              <a:rPr lang="en-IN" sz="1400" b="0" dirty="0">
                <a:latin typeface="Times New Roman"/>
                <a:ea typeface="Times New Roman"/>
                <a:cs typeface="Times New Roman"/>
                <a:sym typeface="Times New Roman"/>
              </a:rPr>
              <a:t>Methods: A deterministic solver computes the itinerary — candidate selection, k-means day clustering, nearest-neighbour and 2-opt ordering under opening-hour windows, a validator and a repair loop. The language model is confined to parsing the traveller's words and narrating what the solver has already decided, over a retrieval-augmented corpus in which every paragraph carries a source.</a:t>
            </a:r>
            <a:endParaRPr sz="1600" b="0" dirty="0">
              <a:latin typeface="Times New Roman"/>
              <a:ea typeface="Times New Roman"/>
              <a:cs typeface="Times New Roman"/>
              <a:sym typeface="Times New Roman"/>
            </a:endParaRPr>
          </a:p>
          <a:p>
            <a:pPr marL="457200" indent="-304800" algn="l" rtl="0">
              <a:lnSpc>
                <a:spcPct val="115000"/>
              </a:lnSpc>
              <a:spcBef>
                <a:spcPts val="0"/>
              </a:spcBef>
              <a:spcAft>
                <a:spcPts val="800"/>
              </a:spcAft>
              <a:buSzPts val="1200"/>
              <a:buFont typeface="Times New Roman"/>
              <a:buChar char="●"/>
            </a:pPr>
            <a:r>
              <a:rPr lang="en-IN" sz="1400" b="0" dirty="0">
                <a:latin typeface="Times New Roman"/>
                <a:ea typeface="Times New Roman"/>
                <a:cs typeface="Times New Roman"/>
                <a:sym typeface="Times New Roman"/>
              </a:rPr>
              <a:t>Results: On the seeded demonstration trip the routed itinerary is 30.9 km against 34.98 km for the same stops visited in list order, with 37 of 37 constraint checks passed and a 3 ms build. Retrieval reaches Recall@5 of 0.933, all 14 narration segments passed the groundedness check, and 101 automated tests pass.</a:t>
            </a:r>
            <a:endParaRPr sz="1600" b="0" dirty="0">
              <a:latin typeface="Times New Roman"/>
              <a:ea typeface="Times New Roman"/>
              <a:cs typeface="Times New Roman"/>
              <a:sym typeface="Times New Roman"/>
            </a:endParaRPr>
          </a:p>
        </p:txBody>
      </p:sp>
      <p:sp>
        <p:nvSpPr>
          <p:cNvPr id="6" name="Footer Placeholder 5">
            <a:extLst>
              <a:ext uri="{FF2B5EF4-FFF2-40B4-BE49-F238E27FC236}">
                <a16:creationId xmlns:a16="http://schemas.microsoft.com/office/drawing/2014/main" id="{F7DC5DB4-DE2F-7C54-72E8-D875E945EEC0}"/>
              </a:ext>
            </a:extLst>
          </p:cNvPr>
          <p:cNvSpPr>
            <a:spLocks noGrp="1"/>
          </p:cNvSpPr>
          <p:nvPr>
            <p:ph type="ftr" idx="11"/>
          </p:nvPr>
        </p:nvSpPr>
        <p:spPr>
          <a:xfrm>
            <a:off x="252983" y="6421437"/>
            <a:ext cx="8318361" cy="283845"/>
          </a:xfrm>
        </p:spPr>
        <p:txBody>
          <a:bodyPr/>
          <a:lstStyle/>
          <a:p>
            <a:r>
              <a:rPr lang="en-US" dirty="0"/>
              <a:t>Dept. of ISE,BMSIT&amp;M                       7th Semester, MAJOR PROJECT PHASE-2 (BCS705) REVIEW ‘1                             AY : 2026-27 </a:t>
            </a:r>
            <a:endParaRPr lang="en-IN" dirty="0"/>
          </a:p>
        </p:txBody>
      </p:sp>
      <p:sp>
        <p:nvSpPr>
          <p:cNvPr id="7" name="Slide Number Placeholder 6">
            <a:extLst>
              <a:ext uri="{FF2B5EF4-FFF2-40B4-BE49-F238E27FC236}">
                <a16:creationId xmlns:a16="http://schemas.microsoft.com/office/drawing/2014/main" id="{374015D3-FC46-4C05-CA6C-5B379E1A48D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3a64a40ef39_0_12"/>
          <p:cNvSpPr txBox="1">
            <a:spLocks noGrp="1"/>
          </p:cNvSpPr>
          <p:nvPr>
            <p:ph type="title"/>
          </p:nvPr>
        </p:nvSpPr>
        <p:spPr>
          <a:xfrm>
            <a:off x="457200" y="155448"/>
            <a:ext cx="8193024" cy="749808"/>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IN" dirty="0" sz="300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116" name="Google Shape;116;g3a64a40ef39_0_12"/>
          <p:cNvSpPr txBox="1">
            <a:spLocks noGrp="1"/>
          </p:cNvSpPr>
          <p:nvPr>
            <p:ph type="body" idx="1"/>
          </p:nvPr>
        </p:nvSpPr>
        <p:spPr>
          <a:xfrm>
            <a:off x="457200" y="1325880"/>
            <a:ext cx="8193024" cy="4937760"/>
          </a:xfrm>
          <a:prstGeom prst="rect">
            <a:avLst/>
          </a:prstGeom>
        </p:spPr>
        <p:txBody>
          <a:bodyPr spcFirstLastPara="1" wrap="square" lIns="91425" tIns="45700" rIns="91425" bIns="45700" anchor="t" anchorCtr="0">
            <a:normAutofit/>
          </a:bodyPr>
          <a:lstStyle/>
          <a:p>
            <a:pPr marL="457200" indent="-361950" algn="l" rtl="0">
              <a:lnSpc>
                <a:spcPct val="115000"/>
              </a:lnSpc>
              <a:spcBef>
                <a:spcPts val="0"/>
              </a:spcBef>
              <a:spcAft>
                <a:spcPts val="1000"/>
              </a:spcAft>
              <a:buSzPts val="21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Travel Yantra is an AI-based personalised itinerary planner and virtual tour guide for the Indian tourism context, built for travellers who currently plan across several disconnected platforms and who are more comfortable in an Indian language than in English.</a:t>
            </a:r>
            <a:endParaRPr sz="2100" b="0" dirty="0">
              <a:latin typeface="Times New Roman" panose="02020603050405020304" pitchFamily="18" charset="0"/>
              <a:ea typeface="Roboto"/>
              <a:cs typeface="Times New Roman" panose="02020603050405020304" pitchFamily="18" charset="0"/>
              <a:sym typeface="Roboto"/>
            </a:endParaRPr>
          </a:p>
          <a:p>
            <a:pPr marL="457200" indent="-361950" algn="l" rtl="0">
              <a:lnSpc>
                <a:spcPct val="115000"/>
              </a:lnSpc>
              <a:spcBef>
                <a:spcPts val="0"/>
              </a:spcBef>
              <a:spcAft>
                <a:spcPts val="1000"/>
              </a:spcAft>
              <a:buSzPts val="21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Phase 1 established the problem, surveyed twenty-two papers and set six measurable objectives. Phase 2 is implementation. This review presents working software for two of those six objectives, evaluated on real data rather than described as intent.</a:t>
            </a:r>
            <a:endParaRPr sz="2100" b="0" dirty="0">
              <a:latin typeface="Times New Roman" panose="02020603050405020304" pitchFamily="18" charset="0"/>
              <a:ea typeface="Roboto"/>
              <a:cs typeface="Times New Roman" panose="02020603050405020304" pitchFamily="18" charset="0"/>
              <a:sym typeface="Roboto"/>
            </a:endParaRPr>
          </a:p>
          <a:p>
            <a:pPr marL="457200" indent="-361950" algn="l" rtl="0">
              <a:lnSpc>
                <a:spcPct val="115000"/>
              </a:lnSpc>
              <a:spcBef>
                <a:spcPts val="0"/>
              </a:spcBef>
              <a:spcAft>
                <a:spcPts val="1000"/>
              </a:spcAft>
              <a:buSzPts val="21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Scope of this review — Objective 1: the planner is an India-wide architecture; nothing in the solver is specific to one state. It is demonstrated on a Karnataka dataset because that is where our verified data currently exists.</a:t>
            </a:r>
            <a:endParaRPr sz="2100" b="0" dirty="0">
              <a:latin typeface="Times New Roman" panose="02020603050405020304" pitchFamily="18" charset="0"/>
              <a:ea typeface="Roboto"/>
              <a:cs typeface="Times New Roman" panose="02020603050405020304" pitchFamily="18" charset="0"/>
              <a:sym typeface="Roboto"/>
            </a:endParaRPr>
          </a:p>
          <a:p>
            <a:pPr marL="457200" indent="-361950" algn="l" rtl="0">
              <a:lnSpc>
                <a:spcPct val="115000"/>
              </a:lnSpc>
              <a:spcBef>
                <a:spcPts val="0"/>
              </a:spcBef>
              <a:spcAft>
                <a:spcPts val="1000"/>
              </a:spcAft>
              <a:buSzPts val="21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Scope of this review — Objective 5: the Katha guide is scoped to Karnataka, since every paragraph it can speak has to be written and sourced before it can be retrieved.</a:t>
            </a:r>
            <a:endParaRPr sz="2100" b="0" dirty="0">
              <a:latin typeface="Times New Roman" panose="02020603050405020304" pitchFamily="18" charset="0"/>
              <a:ea typeface="Roboto"/>
              <a:cs typeface="Times New Roman" panose="02020603050405020304" pitchFamily="18" charset="0"/>
              <a:sym typeface="Roboto"/>
            </a:endParaRPr>
          </a:p>
          <a:p>
            <a:pPr marL="457200" indent="-361950" algn="l" rtl="0">
              <a:lnSpc>
                <a:spcPct val="115000"/>
              </a:lnSpc>
              <a:spcBef>
                <a:spcPts val="0"/>
              </a:spcBef>
              <a:spcAft>
                <a:spcPts val="1000"/>
              </a:spcAft>
              <a:buSzPts val="21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Related work in one line: TravelPlanner (Xie et al., ICML 2024) showed that a single language model fails multi-constraint travel planning; Hao et al. (NAACL 2025) recovered the accuracy on that same benchmark by handing the constraints to a solver; and ChinaTravel (Shao et al., ICLR 2026) reproduced the effect on a second, harder benchmark. Our architecture follows that finding rather than restating the problem.</a:t>
            </a:r>
            <a:endParaRPr sz="2100" b="0" dirty="0">
              <a:latin typeface="Times New Roman" panose="02020603050405020304" pitchFamily="18" charset="0"/>
              <a:ea typeface="Roboto"/>
              <a:cs typeface="Times New Roman" panose="02020603050405020304" pitchFamily="18" charset="0"/>
              <a:sym typeface="Roboto"/>
            </a:endParaRPr>
          </a:p>
        </p:txBody>
      </p:sp>
      <p:sp>
        <p:nvSpPr>
          <p:cNvPr id="4" name="Slide Number Placeholder 3">
            <a:extLst>
              <a:ext uri="{FF2B5EF4-FFF2-40B4-BE49-F238E27FC236}">
                <a16:creationId xmlns:a16="http://schemas.microsoft.com/office/drawing/2014/main" id="{0A61D392-EBCD-1E72-4571-835535255CA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4</a:t>
            </a:fld>
            <a:endParaRPr lang="en-IN"/>
          </a:p>
        </p:txBody>
      </p:sp>
      <p:sp>
        <p:nvSpPr>
          <p:cNvPr id="5" name="Footer Placeholder 4">
            <a:extLst>
              <a:ext uri="{FF2B5EF4-FFF2-40B4-BE49-F238E27FC236}">
                <a16:creationId xmlns:a16="http://schemas.microsoft.com/office/drawing/2014/main" id="{5D6C057E-C4CC-4DA0-3F99-BA2B87E1A63A}"/>
              </a:ext>
            </a:extLst>
          </p:cNvPr>
          <p:cNvSpPr>
            <a:spLocks noGrp="1"/>
          </p:cNvSpPr>
          <p:nvPr>
            <p:ph type="ftr" idx="11"/>
          </p:nvPr>
        </p:nvSpPr>
        <p:spPr>
          <a:xfrm>
            <a:off x="457200" y="6492875"/>
            <a:ext cx="8156448" cy="283845"/>
          </a:xfrm>
        </p:spPr>
        <p:txBody>
          <a:bodyPr/>
          <a:lstStyle/>
          <a:p>
            <a:r>
              <a:rPr lang="en-US" dirty="0"/>
              <a:t>Dept. of ISE,BMSIT&amp;M                       7th Semester, MAJOR PROJECT PHASE-2 (BCS705) REVIEW ‘1                             AY : 2026-27 </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3a64a40ef39_0_18"/>
          <p:cNvSpPr txBox="1">
            <a:spLocks noGrp="1"/>
          </p:cNvSpPr>
          <p:nvPr>
            <p:ph type="title"/>
          </p:nvPr>
        </p:nvSpPr>
        <p:spPr>
          <a:xfrm>
            <a:off x="457200" y="155448"/>
            <a:ext cx="8193024" cy="749808"/>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IN" dirty="0" sz="3000">
                <a:latin typeface="Times New Roman" panose="02020603050405020304" pitchFamily="18" charset="0"/>
                <a:cs typeface="Times New Roman" panose="02020603050405020304" pitchFamily="18" charset="0"/>
              </a:rPr>
              <a:t>PROBLEM STATEMENT</a:t>
            </a:r>
            <a:endParaRPr dirty="0">
              <a:latin typeface="Times New Roman" panose="02020603050405020304" pitchFamily="18" charset="0"/>
              <a:cs typeface="Times New Roman" panose="02020603050405020304" pitchFamily="18" charset="0"/>
            </a:endParaRPr>
          </a:p>
        </p:txBody>
      </p:sp>
      <p:sp>
        <p:nvSpPr>
          <p:cNvPr id="123" name="Google Shape;123;g3a64a40ef39_0_18"/>
          <p:cNvSpPr txBox="1">
            <a:spLocks noGrp="1"/>
          </p:cNvSpPr>
          <p:nvPr>
            <p:ph type="body" idx="1"/>
          </p:nvPr>
        </p:nvSpPr>
        <p:spPr>
          <a:xfrm>
            <a:off x="457200" y="1325880"/>
            <a:ext cx="8193024" cy="4937760"/>
          </a:xfrm>
          <a:prstGeom prst="rect">
            <a:avLst/>
          </a:prstGeom>
        </p:spPr>
        <p:txBody>
          <a:bodyPr spcFirstLastPara="1" wrap="square" lIns="91425" tIns="45700" rIns="91425" bIns="45700" anchor="t" anchorCtr="0">
            <a:normAutofit/>
          </a:bodyPr>
          <a:lstStyle/>
          <a:p>
            <a:pPr marL="457200" indent="-368300" algn="l" rtl="0">
              <a:lnSpc>
                <a:spcPct val="115000"/>
              </a:lnSpc>
              <a:spcBef>
                <a:spcPts val="0"/>
              </a:spcBef>
              <a:spcAft>
                <a:spcPts val="1000"/>
              </a:spcAft>
              <a:buSzPts val="22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A traveller assembling a three-day trip must reconcile opening hours, weekly closing days, entry fees, road time between stops, a midday meal, a budget and how far the oldest member of the group can walk. These are hard constraints and they interact: fixing one breaks another.</a:t>
            </a:r>
            <a:endParaRPr sz="2200" b="0" dirty="0">
              <a:latin typeface="Times New Roman" panose="02020603050405020304" pitchFamily="18" charset="0"/>
              <a:ea typeface="Roboto"/>
              <a:cs typeface="Times New Roman" panose="02020603050405020304" pitchFamily="18" charset="0"/>
              <a:sym typeface="Roboto"/>
            </a:endParaRPr>
          </a:p>
          <a:p>
            <a:pPr marL="457200" indent="-368300" algn="l" rtl="0">
              <a:lnSpc>
                <a:spcPct val="115000"/>
              </a:lnSpc>
              <a:spcBef>
                <a:spcPts val="0"/>
              </a:spcBef>
              <a:spcAft>
                <a:spcPts val="1000"/>
              </a:spcAft>
              <a:buSzPts val="22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Booking and review platforms each solve one slice — flights, hotels, reviews, maps — and leave the traveller to be the integration layer. Not one of them sequences a day against opening hours.</a:t>
            </a:r>
            <a:endParaRPr sz="2200" b="0" dirty="0">
              <a:latin typeface="Times New Roman" panose="02020603050405020304" pitchFamily="18" charset="0"/>
              <a:ea typeface="Roboto"/>
              <a:cs typeface="Times New Roman" panose="02020603050405020304" pitchFamily="18" charset="0"/>
              <a:sym typeface="Roboto"/>
            </a:endParaRPr>
          </a:p>
          <a:p>
            <a:pPr marL="457200" indent="-368300" algn="l" rtl="0">
              <a:lnSpc>
                <a:spcPct val="115000"/>
              </a:lnSpc>
              <a:spcBef>
                <a:spcPts val="0"/>
              </a:spcBef>
              <a:spcAft>
                <a:spcPts val="1000"/>
              </a:spcAft>
              <a:buSzPts val="22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General-purpose chat models are fluent, but measured at a 0.6 percent pass rate on multi-constraint travel plans, and they state fees and timings with a confidence they have not earned.</a:t>
            </a:r>
            <a:endParaRPr sz="2200" b="0" dirty="0">
              <a:latin typeface="Times New Roman" panose="02020603050405020304" pitchFamily="18" charset="0"/>
              <a:ea typeface="Roboto"/>
              <a:cs typeface="Times New Roman" panose="02020603050405020304" pitchFamily="18" charset="0"/>
              <a:sym typeface="Roboto"/>
            </a:endParaRPr>
          </a:p>
          <a:p>
            <a:pPr marL="457200" indent="-368300" algn="l" rtl="0">
              <a:lnSpc>
                <a:spcPct val="115000"/>
              </a:lnSpc>
              <a:spcBef>
                <a:spcPts val="0"/>
              </a:spcBef>
              <a:spcAft>
                <a:spcPts val="1000"/>
              </a:spcAft>
              <a:buSzPts val="22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Both classes of tool are English-first, which excludes the traveller who would rather read and listen in Kannada or Hindi.</a:t>
            </a:r>
            <a:endParaRPr sz="2200" b="0" dirty="0">
              <a:latin typeface="Times New Roman" panose="02020603050405020304" pitchFamily="18" charset="0"/>
              <a:ea typeface="Roboto"/>
              <a:cs typeface="Times New Roman" panose="02020603050405020304" pitchFamily="18" charset="0"/>
              <a:sym typeface="Roboto"/>
            </a:endParaRPr>
          </a:p>
          <a:p>
            <a:pPr marL="457200" indent="-368300" algn="l" rtl="0">
              <a:lnSpc>
                <a:spcPct val="115000"/>
              </a:lnSpc>
              <a:spcBef>
                <a:spcPts val="0"/>
              </a:spcBef>
              <a:spcAft>
                <a:spcPts val="1000"/>
              </a:spcAft>
              <a:buSzPts val="2200"/>
              <a:buFont typeface="Roboto"/>
              <a:buChar char="●"/>
            </a:pPr>
            <a:r>
              <a:rPr lang="en-IN" sz="1600" b="0" dirty="0">
                <a:latin typeface="Times New Roman" panose="02020603050405020304" pitchFamily="18" charset="0"/>
                <a:ea typeface="Roboto"/>
                <a:cs typeface="Times New Roman" panose="02020603050405020304" pitchFamily="18" charset="0"/>
                <a:sym typeface="Roboto"/>
              </a:rPr>
              <a:t>On site, there is no grounded, source-cited guide. This is exactly where a fabricated date or fee is least detectable by the listener and most damaging to trust.</a:t>
            </a:r>
            <a:endParaRPr sz="2200" b="0" dirty="0">
              <a:latin typeface="Times New Roman" panose="02020603050405020304" pitchFamily="18" charset="0"/>
              <a:ea typeface="Roboto"/>
              <a:cs typeface="Times New Roman" panose="02020603050405020304" pitchFamily="18" charset="0"/>
              <a:sym typeface="Roboto"/>
            </a:endParaRPr>
          </a:p>
          <a:p>
            <a:pPr marL="457200" indent="-368300" algn="l" rtl="0">
              <a:lnSpc>
                <a:spcPct val="115000"/>
              </a:lnSpc>
              <a:spcBef>
                <a:spcPts val="0"/>
              </a:spcBef>
              <a:spcAft>
                <a:spcPts val="1000"/>
              </a:spcAft>
              <a:buSzPts val="2200"/>
              <a:buFont typeface="Roboto"/>
              <a:buChar char="●"/>
            </a:pPr>
            <a:r>
              <a:rPr lang="en-IN" sz="1600" b="1" dirty="0">
                <a:latin typeface="Times New Roman" panose="02020603050405020304" pitchFamily="18" charset="0"/>
                <a:ea typeface="Roboto"/>
                <a:cs typeface="Times New Roman" panose="02020603050405020304" pitchFamily="18" charset="0"/>
                <a:sym typeface="Roboto"/>
              </a:rPr>
              <a:t>Stated as an engineering problem: an itinerary must be computed against its constraints and be able to show the working — not generated and hoped for.</a:t>
            </a:r>
            <a:endParaRPr sz="2200" b="0" dirty="0">
              <a:latin typeface="Times New Roman" panose="02020603050405020304" pitchFamily="18" charset="0"/>
              <a:ea typeface="Roboto"/>
              <a:cs typeface="Times New Roman" panose="02020603050405020304" pitchFamily="18" charset="0"/>
              <a:sym typeface="Roboto"/>
            </a:endParaRPr>
          </a:p>
        </p:txBody>
      </p:sp>
      <p:sp>
        <p:nvSpPr>
          <p:cNvPr id="5" name="Footer Placeholder 4">
            <a:extLst>
              <a:ext uri="{FF2B5EF4-FFF2-40B4-BE49-F238E27FC236}">
                <a16:creationId xmlns:a16="http://schemas.microsoft.com/office/drawing/2014/main" id="{5339181E-A078-B3C5-963B-BBBFBF2AA13C}"/>
              </a:ext>
            </a:extLst>
          </p:cNvPr>
          <p:cNvSpPr>
            <a:spLocks noGrp="1"/>
          </p:cNvSpPr>
          <p:nvPr>
            <p:ph type="ftr" idx="11"/>
          </p:nvPr>
        </p:nvSpPr>
        <p:spPr>
          <a:xfrm>
            <a:off x="457200" y="6492875"/>
            <a:ext cx="8055864" cy="283845"/>
          </a:xfrm>
        </p:spPr>
        <p:txBody>
          <a:bodyPr/>
          <a:lstStyle/>
          <a:p>
            <a:r>
              <a:rPr lang="en-US" dirty="0"/>
              <a:t>Dept. of ISE,BMSIT&amp;M                       7th Semester, MAJOR PROJECT PHASE-2 (BCS705) REVIEW ‘1                             AY : 2026-27 </a:t>
            </a:r>
            <a:endParaRPr lang="en-IN" dirty="0"/>
          </a:p>
        </p:txBody>
      </p:sp>
      <p:sp>
        <p:nvSpPr>
          <p:cNvPr id="6" name="Slide Number Placeholder 5">
            <a:extLst>
              <a:ext uri="{FF2B5EF4-FFF2-40B4-BE49-F238E27FC236}">
                <a16:creationId xmlns:a16="http://schemas.microsoft.com/office/drawing/2014/main" id="{A821517E-A088-090E-873E-91A0D55F2E0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3a64a40ef39_2_2"/>
          <p:cNvSpPr txBox="1">
            <a:spLocks noGrp="1"/>
          </p:cNvSpPr>
          <p:nvPr>
            <p:ph type="title"/>
          </p:nvPr>
        </p:nvSpPr>
        <p:spPr>
          <a:xfrm>
            <a:off x="457200" y="155448"/>
            <a:ext cx="8193024" cy="749808"/>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IN" dirty="0" sz="3000">
                <a:latin typeface="Times New Roman" panose="02020603050405020304" pitchFamily="18" charset="0"/>
                <a:cs typeface="Times New Roman" panose="02020603050405020304" pitchFamily="18" charset="0"/>
              </a:rPr>
              <a:t>OBJECTIVES OF THE WORK</a:t>
            </a:r>
            <a:endParaRPr dirty="0">
              <a:latin typeface="Times New Roman" panose="02020603050405020304" pitchFamily="18" charset="0"/>
              <a:cs typeface="Times New Roman" panose="02020603050405020304" pitchFamily="18" charset="0"/>
            </a:endParaRPr>
          </a:p>
        </p:txBody>
      </p:sp>
      <p:sp>
        <p:nvSpPr>
          <p:cNvPr id="130" name="Google Shape;130;g3a64a40ef39_2_2"/>
          <p:cNvSpPr txBox="1">
            <a:spLocks noGrp="1"/>
          </p:cNvSpPr>
          <p:nvPr>
            <p:ph type="body" idx="1"/>
          </p:nvPr>
        </p:nvSpPr>
        <p:spPr>
          <a:xfrm>
            <a:off x="457200" y="1097280"/>
            <a:ext cx="8193024" cy="5212080"/>
          </a:xfrm>
          <a:prstGeom prst="rect">
            <a:avLst/>
          </a:prstGeom>
        </p:spPr>
        <p:txBody>
          <a:bodyPr spcFirstLastPara="1" wrap="square" lIns="91425" tIns="45700" rIns="91425" bIns="45700" anchor="t" anchorCtr="0">
            <a:normAutofit/>
          </a:bodyPr>
          <a:lstStyle/>
          <a:p>
            <a:pPr marL="457200" indent="-361950" algn="l" rtl="0">
              <a:lnSpc>
                <a:spcPct val="115000"/>
              </a:lnSpc>
              <a:spcBef>
                <a:spcPts val="0"/>
              </a:spcBef>
              <a:spcAft>
                <a:spcPts val="600"/>
              </a:spcAft>
              <a:buSzPts val="2100"/>
              <a:buFont typeface="Roboto"/>
              <a:buChar char="●"/>
            </a:pPr>
            <a:r>
              <a:rPr lang="en-IN" sz="1350" b="1" dirty="0">
                <a:latin typeface="Times New Roman" panose="02020603050405020304" pitchFamily="18" charset="0"/>
                <a:ea typeface="Roboto"/>
                <a:cs typeface="Times New Roman" panose="02020603050405020304" pitchFamily="18" charset="0"/>
                <a:sym typeface="Roboto"/>
              </a:rPr>
              <a:t>Demonstrated in this review</a:t>
            </a:r>
            <a:endParaRPr sz="2100" b="0" dirty="0">
              <a:latin typeface="Times New Roman" panose="02020603050405020304" pitchFamily="18" charset="0"/>
              <a:ea typeface="Roboto"/>
              <a:cs typeface="Times New Roman" panose="02020603050405020304" pitchFamily="18" charset="0"/>
              <a:sym typeface="Roboto"/>
            </a:endParaRPr>
          </a:p>
          <a:p>
            <a:pPr marL="457200" lvl="1" indent="-361950" algn="l" rtl="0">
              <a:lnSpc>
                <a:spcPct val="115000"/>
              </a:lnSpc>
              <a:spcBef>
                <a:spcPts val="0"/>
              </a:spcBef>
              <a:spcAft>
                <a:spcPts val="600"/>
              </a:spcAft>
              <a:buSzPts val="2100"/>
              <a:buFont typeface="Roboto"/>
              <a:buChar char="●"/>
            </a:pPr>
            <a:r>
              <a:rPr lang="en-IN" sz="1350" b="0" dirty="0">
                <a:latin typeface="Times New Roman" panose="02020603050405020304" pitchFamily="18" charset="0"/>
                <a:ea typeface="Roboto"/>
                <a:cs typeface="Times New Roman" panose="02020603050405020304" pitchFamily="18" charset="0"/>
                <a:sym typeface="Roboto"/>
              </a:rPr>
              <a:t>Objective 1 — AI-Powered Personalised Itinerary Generation: “Design and implement a multi-agent AI system that generates day-by-day itineraries from user preferences, budget, dates and group composition, targeting a user satisfaction rate of ninety percent or higher.”</a:t>
            </a:r>
            <a:endParaRPr sz="2100" b="0" dirty="0">
              <a:latin typeface="Times New Roman" panose="02020603050405020304" pitchFamily="18" charset="0"/>
              <a:ea typeface="Roboto"/>
              <a:cs typeface="Times New Roman" panose="02020603050405020304" pitchFamily="18" charset="0"/>
              <a:sym typeface="Roboto"/>
            </a:endParaRPr>
          </a:p>
          <a:p>
            <a:pPr marL="457200" lvl="1" indent="-361950" algn="l" rtl="0">
              <a:lnSpc>
                <a:spcPct val="115000"/>
              </a:lnSpc>
              <a:spcBef>
                <a:spcPts val="0"/>
              </a:spcBef>
              <a:spcAft>
                <a:spcPts val="600"/>
              </a:spcAft>
              <a:buSzPts val="2100"/>
              <a:buFont typeface="Roboto"/>
              <a:buChar char="●"/>
            </a:pPr>
            <a:r>
              <a:rPr lang="en-IN" sz="1350" b="0" dirty="0">
                <a:latin typeface="Times New Roman" panose="02020603050405020304" pitchFamily="18" charset="0"/>
                <a:ea typeface="Roboto"/>
                <a:cs typeface="Times New Roman" panose="02020603050405020304" pitchFamily="18" charset="0"/>
                <a:sym typeface="Roboto"/>
              </a:rPr>
              <a:t>Objective 5 — Virtual Cultural Tour Guide: “Build a Retrieval-Augmented Generation based interactive guide for history, food, cultural significance and emergency information, with sub-three-second response latency.” Delivered as the feature named Katha.</a:t>
            </a:r>
            <a:endParaRPr sz="2100" b="0" dirty="0">
              <a:latin typeface="Times New Roman" panose="02020603050405020304" pitchFamily="18" charset="0"/>
              <a:ea typeface="Roboto"/>
              <a:cs typeface="Times New Roman" panose="02020603050405020304" pitchFamily="18" charset="0"/>
              <a:sym typeface="Roboto"/>
            </a:endParaRPr>
          </a:p>
          <a:p>
            <a:pPr marL="457200" indent="-361950" algn="l" rtl="0">
              <a:lnSpc>
                <a:spcPct val="115000"/>
              </a:lnSpc>
              <a:spcBef>
                <a:spcPts val="0"/>
              </a:spcBef>
              <a:spcAft>
                <a:spcPts val="600"/>
              </a:spcAft>
              <a:buSzPts val="2100"/>
              <a:buFont typeface="Roboto"/>
              <a:buChar char="●"/>
            </a:pPr>
            <a:r>
              <a:rPr lang="en-IN" sz="1350" b="1" dirty="0">
                <a:latin typeface="Times New Roman" panose="02020603050405020304" pitchFamily="18" charset="0"/>
                <a:ea typeface="Roboto"/>
                <a:cs typeface="Times New Roman" panose="02020603050405020304" pitchFamily="18" charset="0"/>
                <a:sym typeface="Roboto"/>
              </a:rPr>
              <a:t>Scope: Objective 1 is an India-wide architecture demonstrated on Karnataka; Objective 5 is scoped to Karnataka.</a:t>
            </a:r>
            <a:endParaRPr sz="2100" b="0" dirty="0">
              <a:latin typeface="Times New Roman" panose="02020603050405020304" pitchFamily="18" charset="0"/>
              <a:ea typeface="Roboto"/>
              <a:cs typeface="Times New Roman" panose="02020603050405020304" pitchFamily="18" charset="0"/>
              <a:sym typeface="Roboto"/>
            </a:endParaRPr>
          </a:p>
          <a:p>
            <a:pPr marL="457200" indent="-361950" algn="l" rtl="0">
              <a:lnSpc>
                <a:spcPct val="115000"/>
              </a:lnSpc>
              <a:spcBef>
                <a:spcPts val="0"/>
              </a:spcBef>
              <a:spcAft>
                <a:spcPts val="600"/>
              </a:spcAft>
              <a:buSzPts val="2100"/>
              <a:buFont typeface="Roboto"/>
              <a:buChar char="●"/>
            </a:pPr>
            <a:r>
              <a:rPr lang="en-IN" sz="1350" b="1" dirty="0">
                <a:latin typeface="Times New Roman" panose="02020603050405020304" pitchFamily="18" charset="0"/>
                <a:ea typeface="Roboto"/>
                <a:cs typeface="Times New Roman" panose="02020603050405020304" pitchFamily="18" charset="0"/>
                <a:sym typeface="Roboto"/>
              </a:rPr>
              <a:t>Deferred to Review 2</a:t>
            </a:r>
            <a:endParaRPr sz="2100" b="0" dirty="0">
              <a:latin typeface="Times New Roman" panose="02020603050405020304" pitchFamily="18" charset="0"/>
              <a:ea typeface="Roboto"/>
              <a:cs typeface="Times New Roman" panose="02020603050405020304" pitchFamily="18" charset="0"/>
              <a:sym typeface="Roboto"/>
            </a:endParaRPr>
          </a:p>
          <a:p>
            <a:pPr marL="457200" lvl="1" indent="-361950" algn="l" rtl="0">
              <a:lnSpc>
                <a:spcPct val="115000"/>
              </a:lnSpc>
              <a:spcBef>
                <a:spcPts val="0"/>
              </a:spcBef>
              <a:spcAft>
                <a:spcPts val="600"/>
              </a:spcAft>
              <a:buSzPts val="2100"/>
              <a:buFont typeface="Roboto"/>
              <a:buChar char="●"/>
            </a:pPr>
            <a:r>
              <a:rPr lang="en-IN" sz="1350" b="0" dirty="0">
                <a:latin typeface="Times New Roman" panose="02020603050405020304" pitchFamily="18" charset="0"/>
                <a:ea typeface="Roboto"/>
                <a:cs typeface="Times New Roman" panose="02020603050405020304" pitchFamily="18" charset="0"/>
                <a:sym typeface="Roboto"/>
              </a:rPr>
              <a:t>Objective 2 — Multilingual Natural Language Support across Hindi, Tamil, Telugu, Kannada and Bengali. English and Kannada are working today; the full five-language pipeline is Review-2 work.</a:t>
            </a:r>
            <a:endParaRPr sz="2100" b="0" dirty="0">
              <a:latin typeface="Times New Roman" panose="02020603050405020304" pitchFamily="18" charset="0"/>
              <a:ea typeface="Roboto"/>
              <a:cs typeface="Times New Roman" panose="02020603050405020304" pitchFamily="18" charset="0"/>
              <a:sym typeface="Roboto"/>
            </a:endParaRPr>
          </a:p>
          <a:p>
            <a:pPr marL="457200" lvl="1" indent="-361950" algn="l" rtl="0">
              <a:lnSpc>
                <a:spcPct val="115000"/>
              </a:lnSpc>
              <a:spcBef>
                <a:spcPts val="0"/>
              </a:spcBef>
              <a:spcAft>
                <a:spcPts val="600"/>
              </a:spcAft>
              <a:buSzPts val="2100"/>
              <a:buFont typeface="Roboto"/>
              <a:buChar char="●"/>
            </a:pPr>
            <a:r>
              <a:rPr lang="en-IN" sz="1350" b="0" dirty="0">
                <a:latin typeface="Times New Roman" panose="02020603050405020304" pitchFamily="18" charset="0"/>
                <a:ea typeface="Roboto"/>
                <a:cs typeface="Times New Roman" panose="02020603050405020304" pitchFamily="18" charset="0"/>
                <a:sym typeface="Roboto"/>
              </a:rPr>
              <a:t>Objective 3 — Multi-Channel Deployment and Accessibility across web, WhatsApp and voice. The web channel is built; WhatsApp and telephony are Review-2 work.</a:t>
            </a:r>
            <a:endParaRPr sz="2100" b="0" dirty="0">
              <a:latin typeface="Times New Roman" panose="02020603050405020304" pitchFamily="18" charset="0"/>
              <a:ea typeface="Roboto"/>
              <a:cs typeface="Times New Roman" panose="02020603050405020304" pitchFamily="18" charset="0"/>
              <a:sym typeface="Roboto"/>
            </a:endParaRPr>
          </a:p>
          <a:p>
            <a:pPr marL="457200" lvl="1" indent="-361950" algn="l" rtl="0">
              <a:lnSpc>
                <a:spcPct val="115000"/>
              </a:lnSpc>
              <a:spcBef>
                <a:spcPts val="0"/>
              </a:spcBef>
              <a:spcAft>
                <a:spcPts val="600"/>
              </a:spcAft>
              <a:buSzPts val="2100"/>
              <a:buFont typeface="Roboto"/>
              <a:buChar char="●"/>
            </a:pPr>
            <a:r>
              <a:rPr lang="en-IN" sz="1350" b="0" dirty="0">
                <a:latin typeface="Times New Roman" panose="02020603050405020304" pitchFamily="18" charset="0"/>
                <a:ea typeface="Roboto"/>
                <a:cs typeface="Times New Roman" panose="02020603050405020304" pitchFamily="18" charset="0"/>
                <a:sym typeface="Roboto"/>
              </a:rPr>
              <a:t>Objective 4 — Real-Time Booking and Route Optimisation against live booking and routing APIs.</a:t>
            </a:r>
            <a:endParaRPr sz="2100" b="0" dirty="0">
              <a:latin typeface="Times New Roman" panose="02020603050405020304" pitchFamily="18" charset="0"/>
              <a:ea typeface="Roboto"/>
              <a:cs typeface="Times New Roman" panose="02020603050405020304" pitchFamily="18" charset="0"/>
              <a:sym typeface="Roboto"/>
            </a:endParaRPr>
          </a:p>
          <a:p>
            <a:pPr marL="457200" indent="-361950" algn="l" rtl="0">
              <a:lnSpc>
                <a:spcPct val="115000"/>
              </a:lnSpc>
              <a:spcBef>
                <a:spcPts val="0"/>
              </a:spcBef>
              <a:spcAft>
                <a:spcPts val="600"/>
              </a:spcAft>
              <a:buSzPts val="2100"/>
              <a:buFont typeface="Roboto"/>
              <a:buChar char="●"/>
            </a:pPr>
            <a:r>
              <a:rPr lang="en-IN" sz="1350" b="0" dirty="0">
                <a:latin typeface="Times New Roman" panose="02020603050405020304" pitchFamily="18" charset="0"/>
                <a:ea typeface="Roboto"/>
                <a:cs typeface="Times New Roman" panose="02020603050405020304" pitchFamily="18" charset="0"/>
                <a:sym typeface="Roboto"/>
              </a:rPr>
              <a:t>Objective 6 — Privacy and Cost Constraints is a standing constraint, not a milestone: the stack is open-source-first and the measured model spend for the whole project to date is under one US dollar.</a:t>
            </a:r>
            <a:endParaRPr sz="2100" b="0" dirty="0">
              <a:latin typeface="Times New Roman" panose="02020603050405020304" pitchFamily="18" charset="0"/>
              <a:ea typeface="Roboto"/>
              <a:cs typeface="Times New Roman" panose="02020603050405020304" pitchFamily="18" charset="0"/>
              <a:sym typeface="Roboto"/>
            </a:endParaRPr>
          </a:p>
        </p:txBody>
      </p:sp>
      <p:sp>
        <p:nvSpPr>
          <p:cNvPr id="4" name="Slide Number Placeholder 3">
            <a:extLst>
              <a:ext uri="{FF2B5EF4-FFF2-40B4-BE49-F238E27FC236}">
                <a16:creationId xmlns:a16="http://schemas.microsoft.com/office/drawing/2014/main" id="{0B3EB978-79E7-EC0D-D7F2-93B6BFFA3179}"/>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6</a:t>
            </a:fld>
            <a:endParaRPr lang="en-IN"/>
          </a:p>
        </p:txBody>
      </p:sp>
      <p:sp>
        <p:nvSpPr>
          <p:cNvPr id="5" name="Footer Placeholder 4">
            <a:extLst>
              <a:ext uri="{FF2B5EF4-FFF2-40B4-BE49-F238E27FC236}">
                <a16:creationId xmlns:a16="http://schemas.microsoft.com/office/drawing/2014/main" id="{E5D0EE17-2BAE-351A-5ED4-1C8461DF9FF7}"/>
              </a:ext>
            </a:extLst>
          </p:cNvPr>
          <p:cNvSpPr>
            <a:spLocks noGrp="1"/>
          </p:cNvSpPr>
          <p:nvPr>
            <p:ph type="ftr" idx="11"/>
          </p:nvPr>
        </p:nvSpPr>
        <p:spPr>
          <a:xfrm>
            <a:off x="457200" y="6492875"/>
            <a:ext cx="8092440" cy="283845"/>
          </a:xfrm>
        </p:spPr>
        <p:txBody>
          <a:bodyPr/>
          <a:lstStyle/>
          <a:p>
            <a:r>
              <a:rPr lang="en-US" dirty="0"/>
              <a:t>Dept. of ISE,BMSIT&amp;M                       7th Semester, MAJOR PROJECT PHASE-2 (BCS705) REVIEW ‘1                             AY : 2026-27 </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a64a40ef39_2_8"/>
          <p:cNvSpPr txBox="1">
            <a:spLocks noGrp="1"/>
          </p:cNvSpPr>
          <p:nvPr>
            <p:ph type="title"/>
          </p:nvPr>
        </p:nvSpPr>
        <p:spPr>
          <a:xfrm>
            <a:off x="457200" y="155448"/>
            <a:ext cx="8193024" cy="749808"/>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IN" dirty="0" sz="3000">
                <a:latin typeface="Times New Roman" panose="02020603050405020304" pitchFamily="18" charset="0"/>
                <a:cs typeface="Times New Roman" panose="02020603050405020304" pitchFamily="18" charset="0"/>
              </a:rPr>
              <a:t>METHODOLOGY</a:t>
            </a:r>
            <a:endParaRPr dirty="0">
              <a:latin typeface="Times New Roman" panose="02020603050405020304" pitchFamily="18" charset="0"/>
              <a:cs typeface="Times New Roman" panose="02020603050405020304" pitchFamily="18" charset="0"/>
            </a:endParaRPr>
          </a:p>
        </p:txBody>
      </p:sp>
      <p:sp>
        <p:nvSpPr>
          <p:cNvPr id="137" name="Google Shape;137;g3a64a40ef39_2_8"/>
          <p:cNvSpPr txBox="1">
            <a:spLocks noGrp="1"/>
          </p:cNvSpPr>
          <p:nvPr>
            <p:ph type="body" idx="1"/>
          </p:nvPr>
        </p:nvSpPr>
        <p:spPr>
          <a:xfrm>
            <a:off x="457200" y="914400"/>
            <a:ext cx="8193024" cy="960120"/>
          </a:xfrm>
          <a:prstGeom prst="rect">
            <a:avLst/>
          </a:prstGeom>
        </p:spPr>
        <p:txBody>
          <a:bodyPr spcFirstLastPara="1" wrap="square" lIns="91425" tIns="45700" rIns="91425" bIns="45700" anchor="t" anchorCtr="0">
            <a:normAutofit/>
          </a:bodyPr>
          <a:lstStyle/>
          <a:p>
            <a:pPr marL="457200" indent="-368300" algn="l" rtl="0">
              <a:lnSpc>
                <a:spcPct val="115000"/>
              </a:lnSpc>
              <a:spcBef>
                <a:spcPts val="0"/>
              </a:spcBef>
              <a:spcAft>
                <a:spcPts val="400"/>
              </a:spcAft>
              <a:buSzPts val="2200"/>
              <a:buFont typeface="Roboto"/>
              <a:buChar char="●"/>
            </a:pPr>
            <a:r>
              <a:rPr lang="en-IN" sz="1400" b="1" dirty="0">
                <a:latin typeface="Times New Roman" panose="02020603050405020304" pitchFamily="18" charset="0"/>
                <a:ea typeface="Roboto"/>
                <a:cs typeface="Times New Roman" panose="02020603050405020304" pitchFamily="18" charset="0"/>
                <a:sym typeface="Roboto"/>
              </a:rPr>
              <a:t>The language model parses what the traveller writes and narrates what has been decided. The itinerary itself is computed by our own deterministic solver.</a:t>
            </a:r>
            <a:endParaRPr sz="2200" b="0" dirty="0">
              <a:latin typeface="Times New Roman" panose="02020603050405020304" pitchFamily="18" charset="0"/>
              <a:ea typeface="Roboto"/>
              <a:cs typeface="Times New Roman" panose="02020603050405020304" pitchFamily="18" charset="0"/>
              <a:sym typeface="Roboto"/>
            </a:endParaRPr>
          </a:p>
          <a:p>
            <a:pPr marL="457200" indent="-368300" algn="l" rtl="0">
              <a:lnSpc>
                <a:spcPct val="115000"/>
              </a:lnSpc>
              <a:spcBef>
                <a:spcPts val="0"/>
              </a:spcBef>
              <a:spcAft>
                <a:spcPts val="400"/>
              </a:spcAft>
              <a:buSzPts val="2200"/>
              <a:buFont typeface="Roboto"/>
              <a:buChar char="●"/>
            </a:pPr>
            <a:r>
              <a:rPr lang="en-IN" sz="1400" b="0" dirty="0">
                <a:latin typeface="Times New Roman" panose="02020603050405020304" pitchFamily="18" charset="0"/>
                <a:ea typeface="Roboto"/>
                <a:cs typeface="Times New Roman" panose="02020603050405020304" pitchFamily="18" charset="0"/>
                <a:sym typeface="Roboto"/>
              </a:rPr>
              <a:t>Seven of the eight stages below are ordinary code with a fixed random seed, so the same request always produces the same plan.</a:t>
            </a:r>
            <a:endParaRPr sz="2200" b="0" dirty="0">
              <a:latin typeface="Times New Roman" panose="02020603050405020304" pitchFamily="18" charset="0"/>
              <a:ea typeface="Roboto"/>
              <a:cs typeface="Times New Roman" panose="02020603050405020304" pitchFamily="18" charset="0"/>
              <a:sym typeface="Roboto"/>
            </a:endParaRPr>
          </a:p>
        </p:txBody>
      </p:sp>
      <p:sp>
        <p:nvSpPr>
          <p:cNvPr id="4" name="Slide Number Placeholder 3">
            <a:extLst>
              <a:ext uri="{FF2B5EF4-FFF2-40B4-BE49-F238E27FC236}">
                <a16:creationId xmlns:a16="http://schemas.microsoft.com/office/drawing/2014/main" id="{535B6E70-8782-7CF1-A492-D7C8D753238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7</a:t>
            </a:fld>
            <a:endParaRPr lang="en-IN"/>
          </a:p>
        </p:txBody>
      </p:sp>
      <p:sp>
        <p:nvSpPr>
          <p:cNvPr id="5" name="Footer Placeholder 4">
            <a:extLst>
              <a:ext uri="{FF2B5EF4-FFF2-40B4-BE49-F238E27FC236}">
                <a16:creationId xmlns:a16="http://schemas.microsoft.com/office/drawing/2014/main" id="{FBF5039F-2A94-A08F-F818-4DDB82E2B044}"/>
              </a:ext>
            </a:extLst>
          </p:cNvPr>
          <p:cNvSpPr>
            <a:spLocks noGrp="1"/>
          </p:cNvSpPr>
          <p:nvPr>
            <p:ph type="ftr" idx="11"/>
          </p:nvPr>
        </p:nvSpPr>
        <p:spPr>
          <a:xfrm>
            <a:off x="457200" y="6492875"/>
            <a:ext cx="8065008" cy="283845"/>
          </a:xfrm>
        </p:spPr>
        <p:txBody>
          <a:bodyPr/>
          <a:lstStyle/>
          <a:p>
            <a:r>
              <a:rPr lang="en-US" dirty="0"/>
              <a:t>Dept. of ISE,BMSIT&amp;M                       7th Semester, MAJOR PROJECT PHASE-2 (BCS705) REVIEW ‘1                             AY : 2026-27 </a:t>
            </a:r>
            <a:endParaRPr lang="en-IN" dirty="0"/>
          </a:p>
        </p:txBody>
      </p:sp>
      <p:sp>
        <p:nvSpPr>
          <p:cNvPr id="138" name="Rounded Rectangle 137"/>
          <p:cNvSpPr/>
          <p:nvPr/>
        </p:nvSpPr>
        <p:spPr>
          <a:xfrm>
            <a:off x="502920" y="2103120"/>
            <a:ext cx="1938528" cy="960120"/>
          </a:xfrm>
          <a:prstGeom prst="roundRect">
            <a:avLst/>
          </a:prstGeom>
          <a:solidFill>
            <a:srgbClr val="FFFFFF"/>
          </a:solidFill>
          <a:ln w="22225">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950" b="1">
                <a:solidFill>
                  <a:srgbClr val="000000"/>
                </a:solidFill>
                <a:latin typeface="Times New Roman"/>
              </a:rPr>
              <a:t>1 Intake</a:t>
            </a:r>
          </a:p>
          <a:p>
            <a:pPr algn="ctr"/>
            <a:r>
              <a:rPr sz="850" b="0">
                <a:solidFill>
                  <a:srgbClr val="000000"/>
                </a:solidFill>
                <a:latin typeface="Times New Roman"/>
              </a:rPr>
              <a:t>form: who, when,</a:t>
            </a:r>
          </a:p>
          <a:p>
            <a:pPr algn="ctr"/>
            <a:r>
              <a:rPr sz="850" b="0">
                <a:solidFill>
                  <a:srgbClr val="000000"/>
                </a:solidFill>
                <a:latin typeface="Times New Roman"/>
              </a:rPr>
              <a:t>budget, pace, tastes</a:t>
            </a:r>
          </a:p>
        </p:txBody>
      </p:sp>
      <p:cxnSp>
        <p:nvCxnSpPr>
          <p:cNvPr id="139" name="Connector 138"/>
          <p:cNvCxnSpPr/>
          <p:nvPr/>
        </p:nvCxnSpPr>
        <p:spPr>
          <a:xfrm>
            <a:off x="2441448" y="2583179"/>
            <a:ext cx="128016" cy="0"/>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sp>
        <p:nvSpPr>
          <p:cNvPr id="140" name="Rounded Rectangle 139"/>
          <p:cNvSpPr/>
          <p:nvPr/>
        </p:nvSpPr>
        <p:spPr>
          <a:xfrm>
            <a:off x="2569464" y="2103120"/>
            <a:ext cx="1938528" cy="960120"/>
          </a:xfrm>
          <a:prstGeom prst="roundRect">
            <a:avLst/>
          </a:prstGeom>
          <a:solidFill>
            <a:srgbClr val="FFFFFF"/>
          </a:solidFill>
          <a:ln w="22225">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950" b="1">
                <a:solidFill>
                  <a:srgbClr val="000000"/>
                </a:solidFill>
                <a:latin typeface="Times New Roman"/>
              </a:rPr>
              <a:t>2 Candidates</a:t>
            </a:r>
          </a:p>
          <a:p>
            <a:pPr algn="ctr"/>
            <a:r>
              <a:rPr sz="850" b="0">
                <a:solidFill>
                  <a:srgbClr val="000000"/>
                </a:solidFill>
                <a:latin typeface="Times New Roman"/>
              </a:rPr>
              <a:t>SQL + interest tags +</a:t>
            </a:r>
          </a:p>
          <a:p>
            <a:pPr algn="ctr"/>
            <a:r>
              <a:rPr sz="850" b="0">
                <a:solidFill>
                  <a:srgbClr val="000000"/>
                </a:solidFill>
                <a:latin typeface="Times New Roman"/>
              </a:rPr>
              <a:t>knowledge-graph edges</a:t>
            </a:r>
          </a:p>
        </p:txBody>
      </p:sp>
      <p:cxnSp>
        <p:nvCxnSpPr>
          <p:cNvPr id="141" name="Connector 140"/>
          <p:cNvCxnSpPr/>
          <p:nvPr/>
        </p:nvCxnSpPr>
        <p:spPr>
          <a:xfrm>
            <a:off x="4507992" y="2583179"/>
            <a:ext cx="128016" cy="0"/>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sp>
        <p:nvSpPr>
          <p:cNvPr id="142" name="Rounded Rectangle 141"/>
          <p:cNvSpPr/>
          <p:nvPr/>
        </p:nvSpPr>
        <p:spPr>
          <a:xfrm>
            <a:off x="4636008" y="2103120"/>
            <a:ext cx="1938528" cy="960120"/>
          </a:xfrm>
          <a:prstGeom prst="roundRect">
            <a:avLst/>
          </a:prstGeom>
          <a:solidFill>
            <a:srgbClr val="FFFFFF"/>
          </a:solidFill>
          <a:ln w="22225">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950" b="1">
                <a:solidFill>
                  <a:srgbClr val="000000"/>
                </a:solidFill>
                <a:latin typeface="Times New Roman"/>
              </a:rPr>
              <a:t>3 Cluster</a:t>
            </a:r>
          </a:p>
          <a:p>
            <a:pPr algn="ctr"/>
            <a:r>
              <a:rPr sz="850" b="0">
                <a:solidFill>
                  <a:srgbClr val="000000"/>
                </a:solidFill>
                <a:latin typeface="Times New Roman"/>
              </a:rPr>
              <a:t>k-means over (lat, lng),</a:t>
            </a:r>
          </a:p>
          <a:p>
            <a:pPr algn="ctr"/>
            <a:r>
              <a:rPr sz="850" b="0">
                <a:solidFill>
                  <a:srgbClr val="000000"/>
                </a:solidFill>
                <a:latin typeface="Times New Roman"/>
              </a:rPr>
              <a:t>fixed seed</a:t>
            </a:r>
          </a:p>
        </p:txBody>
      </p:sp>
      <p:cxnSp>
        <p:nvCxnSpPr>
          <p:cNvPr id="143" name="Connector 142"/>
          <p:cNvCxnSpPr/>
          <p:nvPr/>
        </p:nvCxnSpPr>
        <p:spPr>
          <a:xfrm>
            <a:off x="6574536" y="2583179"/>
            <a:ext cx="128016" cy="0"/>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sp>
        <p:nvSpPr>
          <p:cNvPr id="144" name="Rounded Rectangle 143"/>
          <p:cNvSpPr/>
          <p:nvPr/>
        </p:nvSpPr>
        <p:spPr>
          <a:xfrm>
            <a:off x="6702552" y="2103120"/>
            <a:ext cx="1938528" cy="960120"/>
          </a:xfrm>
          <a:prstGeom prst="roundRect">
            <a:avLst/>
          </a:prstGeom>
          <a:solidFill>
            <a:srgbClr val="FFFFFF"/>
          </a:solidFill>
          <a:ln w="22225">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950" b="1">
                <a:solidFill>
                  <a:srgbClr val="000000"/>
                </a:solidFill>
                <a:latin typeface="Times New Roman"/>
              </a:rPr>
              <a:t>4 Route</a:t>
            </a:r>
          </a:p>
          <a:p>
            <a:pPr algn="ctr"/>
            <a:r>
              <a:rPr sz="850" b="0">
                <a:solidFill>
                  <a:srgbClr val="000000"/>
                </a:solidFill>
                <a:latin typeface="Times New Roman"/>
              </a:rPr>
              <a:t>nearest neighbour, then</a:t>
            </a:r>
          </a:p>
          <a:p>
            <a:pPr algn="ctr"/>
            <a:r>
              <a:rPr sz="850" b="0">
                <a:solidFill>
                  <a:srgbClr val="000000"/>
                </a:solidFill>
                <a:latin typeface="Times New Roman"/>
              </a:rPr>
              <a:t>2-opt under hour windows</a:t>
            </a:r>
          </a:p>
        </p:txBody>
      </p:sp>
      <p:cxnSp>
        <p:nvCxnSpPr>
          <p:cNvPr id="145" name="Connector 144"/>
          <p:cNvCxnSpPr/>
          <p:nvPr/>
        </p:nvCxnSpPr>
        <p:spPr>
          <a:xfrm>
            <a:off x="7671816" y="3063239"/>
            <a:ext cx="0" cy="365760"/>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1472184" y="3428999"/>
            <a:ext cx="6199632" cy="0"/>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472184" y="3428999"/>
            <a:ext cx="0" cy="365760"/>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sp>
        <p:nvSpPr>
          <p:cNvPr id="148" name="Rounded Rectangle 147"/>
          <p:cNvSpPr/>
          <p:nvPr/>
        </p:nvSpPr>
        <p:spPr>
          <a:xfrm>
            <a:off x="502920" y="3794760"/>
            <a:ext cx="1938528" cy="960120"/>
          </a:xfrm>
          <a:prstGeom prst="roundRect">
            <a:avLst/>
          </a:prstGeom>
          <a:solidFill>
            <a:srgbClr val="FFFFFF"/>
          </a:solidFill>
          <a:ln w="22225">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950" b="1">
                <a:solidFill>
                  <a:srgbClr val="000000"/>
                </a:solidFill>
                <a:latin typeface="Times New Roman"/>
              </a:rPr>
              <a:t>5 Validate</a:t>
            </a:r>
          </a:p>
          <a:p>
            <a:pPr algn="ctr"/>
            <a:r>
              <a:rPr sz="850" b="0">
                <a:solidFill>
                  <a:srgbClr val="000000"/>
                </a:solidFill>
                <a:latin typeface="Times New Roman"/>
              </a:rPr>
              <a:t>hours, closures, day end,</a:t>
            </a:r>
          </a:p>
          <a:p>
            <a:pPr algn="ctr"/>
            <a:r>
              <a:rPr sz="850" b="0">
                <a:solidFill>
                  <a:srgbClr val="000000"/>
                </a:solidFill>
                <a:latin typeface="Times New Roman"/>
              </a:rPr>
              <a:t>meal gap, travel, budget</a:t>
            </a:r>
          </a:p>
        </p:txBody>
      </p:sp>
      <p:cxnSp>
        <p:nvCxnSpPr>
          <p:cNvPr id="149" name="Connector 148"/>
          <p:cNvCxnSpPr/>
          <p:nvPr/>
        </p:nvCxnSpPr>
        <p:spPr>
          <a:xfrm>
            <a:off x="2441448" y="4274820"/>
            <a:ext cx="128016" cy="0"/>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sp>
        <p:nvSpPr>
          <p:cNvPr id="150" name="Rounded Rectangle 149"/>
          <p:cNvSpPr/>
          <p:nvPr/>
        </p:nvSpPr>
        <p:spPr>
          <a:xfrm>
            <a:off x="2569464" y="3794760"/>
            <a:ext cx="1938528" cy="960120"/>
          </a:xfrm>
          <a:prstGeom prst="roundRect">
            <a:avLst/>
          </a:prstGeom>
          <a:solidFill>
            <a:srgbClr val="FFFFFF"/>
          </a:solidFill>
          <a:ln w="22225">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950" b="1">
                <a:solidFill>
                  <a:srgbClr val="000000"/>
                </a:solidFill>
                <a:latin typeface="Times New Roman"/>
              </a:rPr>
              <a:t>6 Repair</a:t>
            </a:r>
          </a:p>
          <a:p>
            <a:pPr algn="ctr"/>
            <a:r>
              <a:rPr sz="850" b="0">
                <a:solidFill>
                  <a:srgbClr val="000000"/>
                </a:solidFill>
                <a:latin typeface="Times New Roman"/>
              </a:rPr>
              <a:t>drops one flexible stop,</a:t>
            </a:r>
          </a:p>
          <a:p>
            <a:pPr algn="ctr"/>
            <a:r>
              <a:rPr sz="850" b="0">
                <a:solidFill>
                  <a:srgbClr val="000000"/>
                </a:solidFill>
                <a:latin typeface="Times New Roman"/>
              </a:rPr>
              <a:t>rebuilds that day only</a:t>
            </a:r>
          </a:p>
        </p:txBody>
      </p:sp>
      <p:cxnSp>
        <p:nvCxnSpPr>
          <p:cNvPr id="151" name="Connector 150"/>
          <p:cNvCxnSpPr/>
          <p:nvPr/>
        </p:nvCxnSpPr>
        <p:spPr>
          <a:xfrm>
            <a:off x="4507992" y="4274820"/>
            <a:ext cx="128016" cy="0"/>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sp>
        <p:nvSpPr>
          <p:cNvPr id="152" name="Rounded Rectangle 151"/>
          <p:cNvSpPr/>
          <p:nvPr/>
        </p:nvSpPr>
        <p:spPr>
          <a:xfrm>
            <a:off x="4636008" y="3794760"/>
            <a:ext cx="1938528" cy="960120"/>
          </a:xfrm>
          <a:prstGeom prst="roundRect">
            <a:avLst/>
          </a:prstGeom>
          <a:solidFill>
            <a:srgbClr val="FFFFFF"/>
          </a:solidFill>
          <a:ln w="22225">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950" b="1">
                <a:solidFill>
                  <a:srgbClr val="000000"/>
                </a:solidFill>
                <a:latin typeface="Times New Roman"/>
              </a:rPr>
              <a:t>7 Reasons</a:t>
            </a:r>
          </a:p>
          <a:p>
            <a:pPr algn="ctr"/>
            <a:r>
              <a:rPr sz="850" b="0">
                <a:solidFill>
                  <a:srgbClr val="000000"/>
                </a:solidFill>
                <a:latin typeface="Times New Roman"/>
              </a:rPr>
              <a:t>one plain sentence per</a:t>
            </a:r>
          </a:p>
          <a:p>
            <a:pPr algn="ctr"/>
            <a:r>
              <a:rPr sz="850" b="0">
                <a:solidFill>
                  <a:srgbClr val="000000"/>
                </a:solidFill>
                <a:latin typeface="Times New Roman"/>
              </a:rPr>
              <a:t>stop, from templates</a:t>
            </a:r>
          </a:p>
        </p:txBody>
      </p:sp>
      <p:cxnSp>
        <p:nvCxnSpPr>
          <p:cNvPr id="153" name="Connector 152"/>
          <p:cNvCxnSpPr/>
          <p:nvPr/>
        </p:nvCxnSpPr>
        <p:spPr>
          <a:xfrm>
            <a:off x="6574536" y="4274820"/>
            <a:ext cx="128016" cy="0"/>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sp>
        <p:nvSpPr>
          <p:cNvPr id="154" name="Rounded Rectangle 153"/>
          <p:cNvSpPr/>
          <p:nvPr/>
        </p:nvSpPr>
        <p:spPr>
          <a:xfrm>
            <a:off x="6702552" y="3794760"/>
            <a:ext cx="1938528" cy="960120"/>
          </a:xfrm>
          <a:prstGeom prst="roundRect">
            <a:avLst/>
          </a:prstGeom>
          <a:solidFill>
            <a:srgbClr val="FFFFFF"/>
          </a:solidFill>
          <a:ln w="22225">
            <a:solidFill>
              <a:srgbClr val="DC5924"/>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950" b="1">
                <a:solidFill>
                  <a:srgbClr val="000000"/>
                </a:solidFill>
                <a:latin typeface="Times New Roman"/>
              </a:rPr>
              <a:t>8 Narrate</a:t>
            </a:r>
          </a:p>
          <a:p>
            <a:pPr algn="ctr"/>
            <a:r>
              <a:rPr sz="850" b="0">
                <a:solidFill>
                  <a:srgbClr val="000000"/>
                </a:solidFill>
                <a:latin typeface="Times New Roman"/>
              </a:rPr>
              <a:t>Katha and chat replies,</a:t>
            </a:r>
          </a:p>
          <a:p>
            <a:pPr algn="ctr"/>
            <a:r>
              <a:rPr sz="850" b="0">
                <a:solidFill>
                  <a:srgbClr val="000000"/>
                </a:solidFill>
                <a:latin typeface="Times New Roman"/>
              </a:rPr>
              <a:t>fact-checked after</a:t>
            </a:r>
          </a:p>
        </p:txBody>
      </p:sp>
      <p:sp>
        <p:nvSpPr>
          <p:cNvPr id="155" name="Rounded Rectangle 154"/>
          <p:cNvSpPr/>
          <p:nvPr/>
        </p:nvSpPr>
        <p:spPr>
          <a:xfrm>
            <a:off x="502920" y="4956048"/>
            <a:ext cx="201168" cy="146304"/>
          </a:xfrm>
          <a:prstGeom prst="roundRect">
            <a:avLst/>
          </a:prstGeom>
          <a:solidFill>
            <a:srgbClr val="526D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50" b="0">
                <a:solidFill>
                  <a:srgbClr val="000000"/>
                </a:solidFill>
                <a:latin typeface="Times New Roman"/>
              </a:rPr>
              <a:t/>
            </a:r>
          </a:p>
        </p:txBody>
      </p:sp>
      <p:sp>
        <p:nvSpPr>
          <p:cNvPr id="156" name="TextBox 155"/>
          <p:cNvSpPr txBox="1"/>
          <p:nvPr/>
        </p:nvSpPr>
        <p:spPr>
          <a:xfrm>
            <a:off x="777240" y="4928616"/>
            <a:ext cx="3200400" cy="228600"/>
          </a:xfrm>
          <a:prstGeom prst="rect">
            <a:avLst/>
          </a:prstGeom>
          <a:noFill/>
        </p:spPr>
        <p:txBody>
          <a:bodyPr wrap="square" lIns="0" rIns="0" tIns="0" bIns="0">
            <a:spAutoFit/>
          </a:bodyPr>
          <a:lstStyle/>
          <a:p>
            <a:pPr algn="l"/>
            <a:r>
              <a:rPr sz="1000" b="0" i="0">
                <a:solidFill>
                  <a:srgbClr val="000000"/>
                </a:solidFill>
                <a:latin typeface="Times New Roman"/>
              </a:rPr>
              <a:t>Our code — deterministic, seeded</a:t>
            </a:r>
          </a:p>
        </p:txBody>
      </p:sp>
      <p:sp>
        <p:nvSpPr>
          <p:cNvPr id="157" name="Rounded Rectangle 156"/>
          <p:cNvSpPr/>
          <p:nvPr/>
        </p:nvSpPr>
        <p:spPr>
          <a:xfrm>
            <a:off x="3977639" y="4956048"/>
            <a:ext cx="201168" cy="146304"/>
          </a:xfrm>
          <a:prstGeom prst="roundRect">
            <a:avLst/>
          </a:prstGeom>
          <a:solidFill>
            <a:srgbClr val="DC59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50" b="0">
                <a:solidFill>
                  <a:srgbClr val="000000"/>
                </a:solidFill>
                <a:latin typeface="Times New Roman"/>
              </a:rPr>
              <a:t/>
            </a:r>
          </a:p>
        </p:txBody>
      </p:sp>
      <p:sp>
        <p:nvSpPr>
          <p:cNvPr id="158" name="TextBox 157"/>
          <p:cNvSpPr txBox="1"/>
          <p:nvPr/>
        </p:nvSpPr>
        <p:spPr>
          <a:xfrm>
            <a:off x="4251960" y="4928616"/>
            <a:ext cx="3840480" cy="228600"/>
          </a:xfrm>
          <a:prstGeom prst="rect">
            <a:avLst/>
          </a:prstGeom>
          <a:noFill/>
        </p:spPr>
        <p:txBody>
          <a:bodyPr wrap="square" lIns="0" rIns="0" tIns="0" bIns="0">
            <a:spAutoFit/>
          </a:bodyPr>
          <a:lstStyle/>
          <a:p>
            <a:pPr algn="l"/>
            <a:r>
              <a:rPr sz="1000" b="0" i="0">
                <a:solidFill>
                  <a:srgbClr val="000000"/>
                </a:solidFill>
                <a:latin typeface="Times New Roman"/>
              </a:rPr>
              <a:t>Large language model — language only</a:t>
            </a:r>
          </a:p>
        </p:txBody>
      </p:sp>
      <p:sp>
        <p:nvSpPr>
          <p:cNvPr id="159" name="TextBox 158"/>
          <p:cNvSpPr txBox="1"/>
          <p:nvPr/>
        </p:nvSpPr>
        <p:spPr>
          <a:xfrm>
            <a:off x="502920" y="5285232"/>
            <a:ext cx="8138160" cy="822960"/>
          </a:xfrm>
          <a:prstGeom prst="rect">
            <a:avLst/>
          </a:prstGeom>
          <a:noFill/>
        </p:spPr>
        <p:txBody>
          <a:bodyPr wrap="square" lIns="0" rIns="0" tIns="0" bIns="0">
            <a:spAutoFit/>
          </a:bodyPr>
          <a:lstStyle/>
          <a:p>
            <a:pPr algn="l"/>
            <a:r>
              <a:rPr sz="1100" b="0" i="1">
                <a:solidFill>
                  <a:srgbClr val="333333"/>
                </a:solidFill>
                <a:latin typeface="Times New Roman"/>
              </a:rPr>
              <a:t>The model is also used to parse a chat edit into a strict JSON instruction (stage 1 on a later turn). It never chooses a stop, a time or an order; a message it cannot parse becomes one clarifying question, not a guess.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a64a40ef39_2_30"/>
          <p:cNvSpPr txBox="1">
            <a:spLocks noGrp="1"/>
          </p:cNvSpPr>
          <p:nvPr>
            <p:ph type="title"/>
          </p:nvPr>
        </p:nvSpPr>
        <p:spPr>
          <a:xfrm>
            <a:off x="457200" y="155448"/>
            <a:ext cx="8467344" cy="658368"/>
          </a:xfrm>
          <a:prstGeom prst="rect">
            <a:avLst/>
          </a:prstGeom>
        </p:spPr>
        <p:txBody>
          <a:bodyPr spcFirstLastPara="1" wrap="square" lIns="91425" tIns="45700" rIns="91425" bIns="45700" anchor="b" anchorCtr="0">
            <a:normAutofit/>
          </a:bodyPr>
          <a:lstStyle/>
          <a:p>
            <a:pPr marL="0" lvl="0" indent="0" algn="l" rtl="0">
              <a:lnSpc>
                <a:spcPct val="120000"/>
              </a:lnSpc>
              <a:spcBef>
                <a:spcPts val="1118"/>
              </a:spcBef>
              <a:spcAft>
                <a:spcPts val="0"/>
              </a:spcAft>
              <a:buNone/>
            </a:pPr>
            <a:r>
              <a:rPr lang="en-IN" sz="2400" b="1" dirty="0">
                <a:solidFill>
                  <a:schemeClr val="bg2"/>
                </a:solidFill>
                <a:latin typeface="Times New Roman" panose="02020603050405020304" pitchFamily="18" charset="0"/>
                <a:ea typeface="Bookman Old Style"/>
                <a:cs typeface="Times New Roman" panose="02020603050405020304" pitchFamily="18" charset="0"/>
                <a:sym typeface="Bookman Old Style"/>
              </a:rPr>
              <a:t>DEMONSTRATION OF PROJECT EXECUTION</a:t>
            </a:r>
            <a:endParaRPr lang="en-IN" dirty="0">
              <a:solidFill>
                <a:schemeClr val="bg2"/>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55FDBD6-0110-1520-ABF8-F9C077D79D8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8</a:t>
            </a:fld>
            <a:endParaRPr lang="en-IN"/>
          </a:p>
        </p:txBody>
      </p:sp>
      <p:sp>
        <p:nvSpPr>
          <p:cNvPr id="5" name="Footer Placeholder 4">
            <a:extLst>
              <a:ext uri="{FF2B5EF4-FFF2-40B4-BE49-F238E27FC236}">
                <a16:creationId xmlns:a16="http://schemas.microsoft.com/office/drawing/2014/main" id="{6E93C23F-4D2B-57A9-1A85-3DA16F71FCF3}"/>
              </a:ext>
            </a:extLst>
          </p:cNvPr>
          <p:cNvSpPr>
            <a:spLocks noGrp="1"/>
          </p:cNvSpPr>
          <p:nvPr>
            <p:ph type="ftr" idx="11"/>
          </p:nvPr>
        </p:nvSpPr>
        <p:spPr>
          <a:xfrm>
            <a:off x="457200" y="6492875"/>
            <a:ext cx="8119872" cy="283845"/>
          </a:xfrm>
        </p:spPr>
        <p:txBody>
          <a:bodyPr/>
          <a:lstStyle/>
          <a:p>
            <a:r>
              <a:rPr lang="en-US" dirty="0"/>
              <a:t>Dept. of ISE,BMSIT&amp;M                       7th Semester, MAJOR PROJECT PHASE-2 (BCS705) REVIEW ‘1                             AY : 2026-27 </a:t>
            </a:r>
            <a:endParaRPr lang="en-IN" dirty="0"/>
          </a:p>
        </p:txBody>
      </p:sp>
      <p:pic>
        <p:nvPicPr>
          <p:cNvPr id="158" name="Picture 157" descr="01-landing.png"/>
          <p:cNvPicPr>
            <a:picLocks noChangeAspect="1"/>
          </p:cNvPicPr>
          <p:nvPr/>
        </p:nvPicPr>
        <p:blipFill>
          <a:blip r:embed="rId3"/>
          <a:stretch>
            <a:fillRect/>
          </a:stretch>
        </p:blipFill>
        <p:spPr>
          <a:xfrm>
            <a:off x="502920" y="1005840"/>
            <a:ext cx="3611880" cy="2257425"/>
          </a:xfrm>
          <a:prstGeom prst="rect">
            <a:avLst/>
          </a:prstGeom>
          <a:ln w="9525">
            <a:solidFill>
              <a:srgbClr val="7A7A7A"/>
            </a:solidFill>
          </a:ln>
        </p:spPr>
      </p:pic>
      <p:sp>
        <p:nvSpPr>
          <p:cNvPr id="159" name="TextBox 158"/>
          <p:cNvSpPr txBox="1"/>
          <p:nvPr/>
        </p:nvSpPr>
        <p:spPr>
          <a:xfrm>
            <a:off x="502920" y="3299841"/>
            <a:ext cx="3611880" cy="347472"/>
          </a:xfrm>
          <a:prstGeom prst="rect">
            <a:avLst/>
          </a:prstGeom>
          <a:noFill/>
        </p:spPr>
        <p:txBody>
          <a:bodyPr wrap="square" lIns="0" rIns="0" tIns="0" bIns="0">
            <a:spAutoFit/>
          </a:bodyPr>
          <a:lstStyle/>
          <a:p>
            <a:pPr algn="l"/>
            <a:r>
              <a:rPr sz="950" b="0" i="0">
                <a:solidFill>
                  <a:srgbClr val="333333"/>
                </a:solidFill>
                <a:latin typeface="Times New Roman"/>
              </a:rPr>
              <a:t>Landing page. The Day 2 map is drawn from the live plan in the database — no mock data on any page.</a:t>
            </a:r>
          </a:p>
        </p:txBody>
      </p:sp>
      <p:pic>
        <p:nvPicPr>
          <p:cNvPr id="160" name="Picture 159" descr="04-form-step1.png"/>
          <p:cNvPicPr>
            <a:picLocks noChangeAspect="1"/>
          </p:cNvPicPr>
          <p:nvPr/>
        </p:nvPicPr>
        <p:blipFill>
          <a:blip r:embed="rId4"/>
          <a:stretch>
            <a:fillRect/>
          </a:stretch>
        </p:blipFill>
        <p:spPr>
          <a:xfrm>
            <a:off x="4572000" y="1005840"/>
            <a:ext cx="3611880" cy="2257425"/>
          </a:xfrm>
          <a:prstGeom prst="rect">
            <a:avLst/>
          </a:prstGeom>
          <a:ln w="9525">
            <a:solidFill>
              <a:srgbClr val="7A7A7A"/>
            </a:solidFill>
          </a:ln>
        </p:spPr>
      </p:pic>
      <p:sp>
        <p:nvSpPr>
          <p:cNvPr id="161" name="TextBox 160"/>
          <p:cNvSpPr txBox="1"/>
          <p:nvPr/>
        </p:nvSpPr>
        <p:spPr>
          <a:xfrm>
            <a:off x="4572000" y="3299841"/>
            <a:ext cx="3611880" cy="347472"/>
          </a:xfrm>
          <a:prstGeom prst="rect">
            <a:avLst/>
          </a:prstGeom>
          <a:noFill/>
        </p:spPr>
        <p:txBody>
          <a:bodyPr wrap="square" lIns="0" rIns="0" tIns="0" bIns="0">
            <a:spAutoFit/>
          </a:bodyPr>
          <a:lstStyle/>
          <a:p>
            <a:pPr algn="l"/>
            <a:r>
              <a:rPr sz="950" b="0" i="0">
                <a:solidFill>
                  <a:srgbClr val="333333"/>
                </a:solidFill>
                <a:latin typeface="Times New Roman"/>
              </a:rPr>
              <a:t>Structured intake, step 1 of 3: origin, destinations, dates, departure window and local transport.</a:t>
            </a:r>
          </a:p>
        </p:txBody>
      </p:sp>
      <p:pic>
        <p:nvPicPr>
          <p:cNvPr id="162" name="Picture 161" descr="07-building.png"/>
          <p:cNvPicPr>
            <a:picLocks noChangeAspect="1"/>
          </p:cNvPicPr>
          <p:nvPr/>
        </p:nvPicPr>
        <p:blipFill>
          <a:blip r:embed="rId5"/>
          <a:stretch>
            <a:fillRect/>
          </a:stretch>
        </p:blipFill>
        <p:spPr>
          <a:xfrm>
            <a:off x="502920" y="3675887"/>
            <a:ext cx="3611880" cy="2257425"/>
          </a:xfrm>
          <a:prstGeom prst="rect">
            <a:avLst/>
          </a:prstGeom>
          <a:ln w="9525">
            <a:solidFill>
              <a:srgbClr val="7A7A7A"/>
            </a:solidFill>
          </a:ln>
        </p:spPr>
      </p:pic>
      <p:sp>
        <p:nvSpPr>
          <p:cNvPr id="163" name="TextBox 162"/>
          <p:cNvSpPr txBox="1"/>
          <p:nvPr/>
        </p:nvSpPr>
        <p:spPr>
          <a:xfrm>
            <a:off x="502920" y="5969889"/>
            <a:ext cx="3611880" cy="347472"/>
          </a:xfrm>
          <a:prstGeom prst="rect">
            <a:avLst/>
          </a:prstGeom>
          <a:noFill/>
        </p:spPr>
        <p:txBody>
          <a:bodyPr wrap="square" lIns="0" rIns="0" tIns="0" bIns="0">
            <a:spAutoFit/>
          </a:bodyPr>
          <a:lstStyle/>
          <a:p>
            <a:pPr algn="l"/>
            <a:r>
              <a:rPr sz="950" b="0" i="0">
                <a:solidFill>
                  <a:srgbClr val="333333"/>
                </a:solidFill>
                <a:latin typeface="Times New Roman"/>
              </a:rPr>
              <a:t>Build trace, every figure read back from PlanMetrics: 27 candidates of 112, 3 clusters, 34.98 km listed to 30.9 km routed, 37/37 checks, 3 repairs.</a:t>
            </a:r>
          </a:p>
        </p:txBody>
      </p:sp>
      <p:pic>
        <p:nvPicPr>
          <p:cNvPr id="164" name="Picture 163" descr="08-chooser.png"/>
          <p:cNvPicPr>
            <a:picLocks noChangeAspect="1"/>
          </p:cNvPicPr>
          <p:nvPr/>
        </p:nvPicPr>
        <p:blipFill>
          <a:blip r:embed="rId6"/>
          <a:stretch>
            <a:fillRect/>
          </a:stretch>
        </p:blipFill>
        <p:spPr>
          <a:xfrm>
            <a:off x="4572000" y="3675887"/>
            <a:ext cx="3611880" cy="2257425"/>
          </a:xfrm>
          <a:prstGeom prst="rect">
            <a:avLst/>
          </a:prstGeom>
          <a:ln w="9525">
            <a:solidFill>
              <a:srgbClr val="7A7A7A"/>
            </a:solidFill>
          </a:ln>
        </p:spPr>
      </p:pic>
      <p:sp>
        <p:nvSpPr>
          <p:cNvPr id="165" name="TextBox 164"/>
          <p:cNvSpPr txBox="1"/>
          <p:nvPr/>
        </p:nvSpPr>
        <p:spPr>
          <a:xfrm>
            <a:off x="4572000" y="5969889"/>
            <a:ext cx="3611880" cy="347472"/>
          </a:xfrm>
          <a:prstGeom prst="rect">
            <a:avLst/>
          </a:prstGeom>
          <a:noFill/>
        </p:spPr>
        <p:txBody>
          <a:bodyPr wrap="square" lIns="0" rIns="0" tIns="0" bIns="0">
            <a:spAutoFit/>
          </a:bodyPr>
          <a:lstStyle/>
          <a:p>
            <a:pPr algn="l"/>
            <a:r>
              <a:rPr sz="950" b="0" i="0">
                <a:solidFill>
                  <a:srgbClr val="333333"/>
                </a:solidFill>
                <a:latin typeface="Times New Roman"/>
              </a:rPr>
              <a:t>Three ranked plans from three scoring variants, each with its real entry-fee total and comfort verdict.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a64a40ef39_2_37"/>
          <p:cNvSpPr txBox="1">
            <a:spLocks noGrp="1"/>
          </p:cNvSpPr>
          <p:nvPr>
            <p:ph type="title"/>
          </p:nvPr>
        </p:nvSpPr>
        <p:spPr>
          <a:xfrm>
            <a:off x="457200" y="155448"/>
            <a:ext cx="8193024" cy="658368"/>
          </a:xfrm>
          <a:prstGeom prst="rect">
            <a:avLst/>
          </a:prstGeom>
        </p:spPr>
        <p:txBody>
          <a:bodyPr spcFirstLastPara="1" wrap="square" lIns="91425" tIns="45700" rIns="91425" bIns="45700" anchor="t" anchorCtr="0">
            <a:normAutofit/>
          </a:bodyPr>
          <a:lstStyle/>
          <a:p>
            <a:pPr algn="l"/>
            <a:r>
              <a:rPr lang="en-IN" sz="2800" b="1" i="0" dirty="0">
                <a:solidFill>
                  <a:schemeClr val="bg2"/>
                </a:solidFill>
                <a:effectLst/>
                <a:latin typeface="Times New Roman" panose="02020603050405020304" pitchFamily="18" charset="0"/>
                <a:cs typeface="Times New Roman" panose="02020603050405020304" pitchFamily="18" charset="0"/>
              </a:rPr>
              <a:t>Experimental Setup, Results &amp; Analysis</a:t>
            </a:r>
          </a:p>
        </p:txBody>
      </p:sp>
      <p:sp>
        <p:nvSpPr>
          <p:cNvPr id="165" name="Google Shape;165;g3a64a40ef39_2_37"/>
          <p:cNvSpPr txBox="1">
            <a:spLocks noGrp="1"/>
          </p:cNvSpPr>
          <p:nvPr>
            <p:ph type="body" idx="1"/>
          </p:nvPr>
        </p:nvSpPr>
        <p:spPr>
          <a:xfrm>
            <a:off x="457200" y="841248"/>
            <a:ext cx="8193024" cy="777240"/>
          </a:xfrm>
          <a:prstGeom prst="rect">
            <a:avLst/>
          </a:prstGeom>
        </p:spPr>
        <p:txBody>
          <a:bodyPr spcFirstLastPara="1" wrap="square" lIns="91425" tIns="45700" rIns="91425" bIns="45700" anchor="t" anchorCtr="0">
            <a:normAutofit/>
          </a:bodyPr>
          <a:lstStyle/>
          <a:p>
            <a:pPr algn="l">
              <a:spcAft>
                <a:spcPts val="200"/>
              </a:spcAft>
            </a:pPr>
            <a:r>
              <a:rPr lang="en-IN" sz="1250" b="0" i="0" dirty="0">
                <a:solidFill>
                  <a:srgbClr val="000000"/>
                </a:solidFill>
                <a:effectLst/>
                <a:latin typeface="Times New Roman" panose="02020603050405020304" pitchFamily="18" charset="0"/>
                <a:cs typeface="Times New Roman" panose="02020603050405020304" pitchFamily="18" charset="0"/>
              </a:rPr>
              <a:t>Setup: Python 3.12 and FastAPI against Supabase PostgreSQL 17 with pgvector and pg_trgm; embeddings computed locally with multilingual-e5-small; speech from Sarvam bulbul:v3. Planner and retrieval are measured by their own harnesses, offline where they can be, so the numbers are reproducible.</a:t>
            </a:r>
            <a:endParaRPr lang="en-IN" sz="2400" b="0" i="0" dirty="0">
              <a:solidFill>
                <a:srgbClr val="000000"/>
              </a:solidFill>
              <a:effectLst/>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4487834-DEF6-FACB-92D2-96A8CFCC7AE5}"/>
              </a:ext>
            </a:extLst>
          </p:cNvPr>
          <p:cNvSpPr>
            <a:spLocks noGrp="1"/>
          </p:cNvSpPr>
          <p:nvPr>
            <p:ph type="ftr" idx="11"/>
          </p:nvPr>
        </p:nvSpPr>
        <p:spPr>
          <a:xfrm>
            <a:off x="457200" y="6492875"/>
            <a:ext cx="8037576" cy="283845"/>
          </a:xfrm>
        </p:spPr>
        <p:txBody>
          <a:bodyPr/>
          <a:lstStyle/>
          <a:p>
            <a:r>
              <a:rPr lang="en-US" dirty="0"/>
              <a:t>Dept. of ISE,BMSIT&amp;M                       7th Semester, MAJOR PROJECT PHASE-2 (BCS705) REVIEW ‘1                             AY : 2026-27 </a:t>
            </a:r>
            <a:endParaRPr lang="en-IN" dirty="0"/>
          </a:p>
        </p:txBody>
      </p:sp>
      <p:sp>
        <p:nvSpPr>
          <p:cNvPr id="6" name="Slide Number Placeholder 5">
            <a:extLst>
              <a:ext uri="{FF2B5EF4-FFF2-40B4-BE49-F238E27FC236}">
                <a16:creationId xmlns:a16="http://schemas.microsoft.com/office/drawing/2014/main" id="{09715EE9-9EC8-D6D1-7398-7FB1E6CB3F5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9</a:t>
            </a:fld>
            <a:endParaRPr lang="en-IN"/>
          </a:p>
        </p:txBody>
      </p:sp>
      <p:sp>
        <p:nvSpPr>
          <p:cNvPr id="166" name="TextBox 165"/>
          <p:cNvSpPr txBox="1"/>
          <p:nvPr/>
        </p:nvSpPr>
        <p:spPr>
          <a:xfrm>
            <a:off x="502920" y="1664208"/>
            <a:ext cx="3840480" cy="228600"/>
          </a:xfrm>
          <a:prstGeom prst="rect">
            <a:avLst/>
          </a:prstGeom>
          <a:noFill/>
        </p:spPr>
        <p:txBody>
          <a:bodyPr wrap="square" lIns="0" rIns="0" tIns="0" bIns="0">
            <a:spAutoFit/>
          </a:bodyPr>
          <a:lstStyle/>
          <a:p>
            <a:pPr algn="l"/>
            <a:r>
              <a:rPr sz="1150" b="1" i="0">
                <a:solidFill>
                  <a:srgbClr val="000000"/>
                </a:solidFill>
                <a:latin typeface="Times New Roman"/>
              </a:rPr>
              <a:t>Data the system was built on</a:t>
            </a:r>
          </a:p>
        </p:txBody>
      </p:sp>
      <p:graphicFrame>
        <p:nvGraphicFramePr>
          <p:cNvPr id="167" name="Table 166"/>
          <p:cNvGraphicFramePr>
            <a:graphicFrameLocks noGrp="1"/>
          </p:cNvGraphicFramePr>
          <p:nvPr/>
        </p:nvGraphicFramePr>
        <p:xfrm>
          <a:off x="502920" y="1920240"/>
          <a:ext cx="3794760" cy="1426464"/>
        </p:xfrm>
        <a:graphic>
          <a:graphicData uri="http://schemas.openxmlformats.org/drawingml/2006/table">
            <a:tbl>
              <a:tblPr firstRow="1" bandRow="1">
                <a:tableStyleId>{5C22544A-7EE6-4342-B048-85BDC9FD1C3A}</a:tableStyleId>
              </a:tblPr>
              <a:tblGrid>
                <a:gridCol w="2788920"/>
                <a:gridCol w="1005840"/>
              </a:tblGrid>
              <a:tr h="237744">
                <a:tc>
                  <a:txBody>
                    <a:bodyPr/>
                    <a:lstStyle/>
                    <a:p>
                      <a:pPr algn="l"/>
                      <a:r>
                        <a:rPr sz="1000" b="1">
                          <a:latin typeface="Times New Roman"/>
                        </a:rPr>
                        <a:t>Dataset</a:t>
                      </a:r>
                    </a:p>
                  </a:txBody>
                  <a:tcPr marL="54000" marR="36000" marT="9000" marB="9000" anchor="ctr"/>
                </a:tc>
                <a:tc>
                  <a:txBody>
                    <a:bodyPr/>
                    <a:lstStyle/>
                    <a:p>
                      <a:pPr algn="ctr"/>
                      <a:r>
                        <a:rPr sz="1000" b="1">
                          <a:latin typeface="Times New Roman"/>
                        </a:rPr>
                        <a:t>Count</a:t>
                      </a:r>
                    </a:p>
                  </a:txBody>
                  <a:tcPr marL="54000" marR="36000" marT="9000" marB="9000" anchor="ctr"/>
                </a:tc>
              </a:tr>
              <a:tr h="237744">
                <a:tc>
                  <a:txBody>
                    <a:bodyPr/>
                    <a:lstStyle/>
                    <a:p>
                      <a:pPr algn="l"/>
                      <a:r>
                        <a:rPr sz="1000" b="0">
                          <a:latin typeface="Times New Roman"/>
                        </a:rPr>
                        <a:t>Points of interest</a:t>
                      </a:r>
                    </a:p>
                  </a:txBody>
                  <a:tcPr marL="54000" marR="36000" marT="9000" marB="9000" anchor="ctr"/>
                </a:tc>
                <a:tc>
                  <a:txBody>
                    <a:bodyPr/>
                    <a:lstStyle/>
                    <a:p>
                      <a:pPr algn="ctr"/>
                      <a:r>
                        <a:rPr sz="1000" b="0">
                          <a:latin typeface="Times New Roman"/>
                        </a:rPr>
                        <a:t>112</a:t>
                      </a:r>
                    </a:p>
                  </a:txBody>
                  <a:tcPr marL="54000" marR="36000" marT="9000" marB="9000" anchor="ctr"/>
                </a:tc>
              </a:tr>
              <a:tr h="237744">
                <a:tc>
                  <a:txBody>
                    <a:bodyPr/>
                    <a:lstStyle/>
                    <a:p>
                      <a:pPr algn="l"/>
                      <a:r>
                        <a:rPr sz="1000" b="0">
                          <a:latin typeface="Times New Roman"/>
                        </a:rPr>
                        <a:t>Verified against live sources</a:t>
                      </a:r>
                    </a:p>
                  </a:txBody>
                  <a:tcPr marL="54000" marR="36000" marT="9000" marB="9000" anchor="ctr"/>
                </a:tc>
                <a:tc>
                  <a:txBody>
                    <a:bodyPr/>
                    <a:lstStyle/>
                    <a:p>
                      <a:pPr algn="ctr"/>
                      <a:r>
                        <a:rPr sz="1000" b="0">
                          <a:latin typeface="Times New Roman"/>
                        </a:rPr>
                        <a:t>20</a:t>
                      </a:r>
                    </a:p>
                  </a:txBody>
                  <a:tcPr marL="54000" marR="36000" marT="9000" marB="9000" anchor="ctr"/>
                </a:tc>
              </a:tr>
              <a:tr h="237744">
                <a:tc>
                  <a:txBody>
                    <a:bodyPr/>
                    <a:lstStyle/>
                    <a:p>
                      <a:pPr algn="l"/>
                      <a:r>
                        <a:rPr sz="1000" b="0">
                          <a:latin typeface="Times New Roman"/>
                        </a:rPr>
                        <a:t>Of those 20, corrected by verification</a:t>
                      </a:r>
                    </a:p>
                  </a:txBody>
                  <a:tcPr marL="54000" marR="36000" marT="9000" marB="9000" anchor="ctr"/>
                </a:tc>
                <a:tc>
                  <a:txBody>
                    <a:bodyPr/>
                    <a:lstStyle/>
                    <a:p>
                      <a:pPr algn="ctr"/>
                      <a:r>
                        <a:rPr sz="1000" b="0">
                          <a:latin typeface="Times New Roman"/>
                        </a:rPr>
                        <a:t>16</a:t>
                      </a:r>
                    </a:p>
                  </a:txBody>
                  <a:tcPr marL="54000" marR="36000" marT="9000" marB="9000" anchor="ctr"/>
                </a:tc>
              </a:tr>
              <a:tr h="237744">
                <a:tc>
                  <a:txBody>
                    <a:bodyPr/>
                    <a:lstStyle/>
                    <a:p>
                      <a:pPr algn="l"/>
                      <a:r>
                        <a:rPr sz="1000" b="0">
                          <a:latin typeface="Times New Roman"/>
                        </a:rPr>
                        <a:t>Live corpus paragraphs</a:t>
                      </a:r>
                    </a:p>
                  </a:txBody>
                  <a:tcPr marL="54000" marR="36000" marT="9000" marB="9000" anchor="ctr"/>
                </a:tc>
                <a:tc>
                  <a:txBody>
                    <a:bodyPr/>
                    <a:lstStyle/>
                    <a:p>
                      <a:pPr algn="ctr"/>
                      <a:r>
                        <a:rPr sz="1000" b="0">
                          <a:latin typeface="Times New Roman"/>
                        </a:rPr>
                        <a:t>257</a:t>
                      </a:r>
                    </a:p>
                  </a:txBody>
                  <a:tcPr marL="54000" marR="36000" marT="9000" marB="9000" anchor="ctr"/>
                </a:tc>
              </a:tr>
              <a:tr h="237744">
                <a:tc>
                  <a:txBody>
                    <a:bodyPr/>
                    <a:lstStyle/>
                    <a:p>
                      <a:pPr algn="l"/>
                      <a:r>
                        <a:rPr sz="1000" b="0">
                          <a:latin typeface="Times New Roman"/>
                        </a:rPr>
                        <a:t>Paragraphs marked legend</a:t>
                      </a:r>
                    </a:p>
                  </a:txBody>
                  <a:tcPr marL="54000" marR="36000" marT="9000" marB="9000" anchor="ctr"/>
                </a:tc>
                <a:tc>
                  <a:txBody>
                    <a:bodyPr/>
                    <a:lstStyle/>
                    <a:p>
                      <a:pPr algn="ctr"/>
                      <a:r>
                        <a:rPr sz="1000" b="0">
                          <a:latin typeface="Times New Roman"/>
                        </a:rPr>
                        <a:t>24</a:t>
                      </a:r>
                    </a:p>
                  </a:txBody>
                  <a:tcPr marL="54000" marR="36000" marT="9000" marB="9000" anchor="ctr"/>
                </a:tc>
              </a:tr>
            </a:tbl>
          </a:graphicData>
        </a:graphic>
      </p:graphicFrame>
      <p:sp>
        <p:nvSpPr>
          <p:cNvPr id="168" name="TextBox 167"/>
          <p:cNvSpPr txBox="1"/>
          <p:nvPr/>
        </p:nvSpPr>
        <p:spPr>
          <a:xfrm>
            <a:off x="502920" y="3584448"/>
            <a:ext cx="3794760" cy="685800"/>
          </a:xfrm>
          <a:prstGeom prst="rect">
            <a:avLst/>
          </a:prstGeom>
          <a:noFill/>
        </p:spPr>
        <p:txBody>
          <a:bodyPr wrap="square" lIns="0" rIns="0" tIns="0" bIns="0">
            <a:spAutoFit/>
          </a:bodyPr>
          <a:lstStyle/>
          <a:p>
            <a:pPr algn="l"/>
            <a:r>
              <a:rPr sz="1000" b="0" i="1">
                <a:solidFill>
                  <a:srgbClr val="333333"/>
                </a:solidFill>
                <a:latin typeface="Times New Roman"/>
              </a:rPr>
              <a:t>Sixteen of the twenty verified entries were wrong before we checked them. That ratio is the argument for verifying rather than trusting.</a:t>
            </a:r>
          </a:p>
        </p:txBody>
      </p:sp>
      <p:sp>
        <p:nvSpPr>
          <p:cNvPr id="169" name="TextBox 168"/>
          <p:cNvSpPr txBox="1"/>
          <p:nvPr/>
        </p:nvSpPr>
        <p:spPr>
          <a:xfrm>
            <a:off x="502920" y="4315968"/>
            <a:ext cx="3794760" cy="228600"/>
          </a:xfrm>
          <a:prstGeom prst="rect">
            <a:avLst/>
          </a:prstGeom>
          <a:noFill/>
        </p:spPr>
        <p:txBody>
          <a:bodyPr wrap="square" lIns="0" rIns="0" tIns="0" bIns="0">
            <a:spAutoFit/>
          </a:bodyPr>
          <a:lstStyle/>
          <a:p>
            <a:pPr algn="l"/>
            <a:r>
              <a:rPr sz="1150" b="1" i="0">
                <a:solidFill>
                  <a:srgbClr val="000000"/>
                </a:solidFill>
                <a:latin typeface="Times New Roman"/>
              </a:rPr>
              <a:t>Module-wise status</a:t>
            </a:r>
          </a:p>
        </p:txBody>
      </p:sp>
      <p:graphicFrame>
        <p:nvGraphicFramePr>
          <p:cNvPr id="170" name="Table 169"/>
          <p:cNvGraphicFramePr>
            <a:graphicFrameLocks noGrp="1"/>
          </p:cNvGraphicFramePr>
          <p:nvPr/>
        </p:nvGraphicFramePr>
        <p:xfrm>
          <a:off x="502920" y="4572000"/>
          <a:ext cx="3794760" cy="1426464"/>
        </p:xfrm>
        <a:graphic>
          <a:graphicData uri="http://schemas.openxmlformats.org/drawingml/2006/table">
            <a:tbl>
              <a:tblPr firstRow="1" bandRow="1">
                <a:tableStyleId>{5C22544A-7EE6-4342-B048-85BDC9FD1C3A}</a:tableStyleId>
              </a:tblPr>
              <a:tblGrid>
                <a:gridCol w="2880360"/>
                <a:gridCol w="914400"/>
              </a:tblGrid>
              <a:tr h="237744">
                <a:tc>
                  <a:txBody>
                    <a:bodyPr/>
                    <a:lstStyle/>
                    <a:p>
                      <a:pPr algn="l"/>
                      <a:r>
                        <a:rPr sz="950" b="1">
                          <a:latin typeface="Times New Roman"/>
                        </a:rPr>
                        <a:t>Module</a:t>
                      </a:r>
                    </a:p>
                  </a:txBody>
                  <a:tcPr marL="54000" marR="36000" marT="9000" marB="9000" anchor="ctr"/>
                </a:tc>
                <a:tc>
                  <a:txBody>
                    <a:bodyPr/>
                    <a:lstStyle/>
                    <a:p>
                      <a:pPr algn="ctr"/>
                      <a:r>
                        <a:rPr sz="950" b="1">
                          <a:latin typeface="Times New Roman"/>
                        </a:rPr>
                        <a:t>State</a:t>
                      </a:r>
                    </a:p>
                  </a:txBody>
                  <a:tcPr marL="54000" marR="36000" marT="9000" marB="9000" anchor="ctr"/>
                </a:tc>
              </a:tr>
              <a:tr h="237744">
                <a:tc>
                  <a:txBody>
                    <a:bodyPr/>
                    <a:lstStyle/>
                    <a:p>
                      <a:pPr algn="l"/>
                      <a:r>
                        <a:rPr sz="950" b="0">
                          <a:latin typeface="Times New Roman"/>
                        </a:rPr>
                        <a:t>Planner (cluster, route, validate, repair)</a:t>
                      </a:r>
                    </a:p>
                  </a:txBody>
                  <a:tcPr marL="54000" marR="36000" marT="9000" marB="9000" anchor="ctr"/>
                </a:tc>
                <a:tc>
                  <a:txBody>
                    <a:bodyPr/>
                    <a:lstStyle/>
                    <a:p>
                      <a:pPr algn="ctr"/>
                      <a:r>
                        <a:rPr sz="950" b="0">
                          <a:latin typeface="Times New Roman"/>
                        </a:rPr>
                        <a:t>Working</a:t>
                      </a:r>
                    </a:p>
                  </a:txBody>
                  <a:tcPr marL="54000" marR="36000" marT="9000" marB="9000" anchor="ctr"/>
                </a:tc>
              </a:tr>
              <a:tr h="237744">
                <a:tc>
                  <a:txBody>
                    <a:bodyPr/>
                    <a:lstStyle/>
                    <a:p>
                      <a:pPr algn="l"/>
                      <a:r>
                        <a:rPr sz="950" b="0">
                          <a:latin typeface="Times New Roman"/>
                        </a:rPr>
                        <a:t>Retrieval and Katha builder</a:t>
                      </a:r>
                    </a:p>
                  </a:txBody>
                  <a:tcPr marL="54000" marR="36000" marT="9000" marB="9000" anchor="ctr"/>
                </a:tc>
                <a:tc>
                  <a:txBody>
                    <a:bodyPr/>
                    <a:lstStyle/>
                    <a:p>
                      <a:pPr algn="ctr"/>
                      <a:r>
                        <a:rPr sz="950" b="0">
                          <a:latin typeface="Times New Roman"/>
                        </a:rPr>
                        <a:t>Working</a:t>
                      </a:r>
                    </a:p>
                  </a:txBody>
                  <a:tcPr marL="54000" marR="36000" marT="9000" marB="9000" anchor="ctr"/>
                </a:tc>
              </a:tr>
              <a:tr h="237744">
                <a:tc>
                  <a:txBody>
                    <a:bodyPr/>
                    <a:lstStyle/>
                    <a:p>
                      <a:pPr algn="l"/>
                      <a:r>
                        <a:rPr sz="950" b="0">
                          <a:latin typeface="Times New Roman"/>
                        </a:rPr>
                        <a:t>Narration with post-check</a:t>
                      </a:r>
                    </a:p>
                  </a:txBody>
                  <a:tcPr marL="54000" marR="36000" marT="9000" marB="9000" anchor="ctr"/>
                </a:tc>
                <a:tc>
                  <a:txBody>
                    <a:bodyPr/>
                    <a:lstStyle/>
                    <a:p>
                      <a:pPr algn="ctr"/>
                      <a:r>
                        <a:rPr sz="950" b="0">
                          <a:latin typeface="Times New Roman"/>
                        </a:rPr>
                        <a:t>Working</a:t>
                      </a:r>
                    </a:p>
                  </a:txBody>
                  <a:tcPr marL="54000" marR="36000" marT="9000" marB="9000" anchor="ctr"/>
                </a:tc>
              </a:tr>
              <a:tr h="237744">
                <a:tc>
                  <a:txBody>
                    <a:bodyPr/>
                    <a:lstStyle/>
                    <a:p>
                      <a:pPr algn="l"/>
                      <a:r>
                        <a:rPr sz="950" b="0">
                          <a:latin typeface="Times New Roman"/>
                        </a:rPr>
                        <a:t>Speech (Sarvam, cached)</a:t>
                      </a:r>
                    </a:p>
                  </a:txBody>
                  <a:tcPr marL="54000" marR="36000" marT="9000" marB="9000" anchor="ctr"/>
                </a:tc>
                <a:tc>
                  <a:txBody>
                    <a:bodyPr/>
                    <a:lstStyle/>
                    <a:p>
                      <a:pPr algn="ctr"/>
                      <a:r>
                        <a:rPr sz="950" b="0">
                          <a:latin typeface="Times New Roman"/>
                        </a:rPr>
                        <a:t>Working</a:t>
                      </a:r>
                    </a:p>
                  </a:txBody>
                  <a:tcPr marL="54000" marR="36000" marT="9000" marB="9000" anchor="ctr"/>
                </a:tc>
              </a:tr>
              <a:tr h="237744">
                <a:tc>
                  <a:txBody>
                    <a:bodyPr/>
                    <a:lstStyle/>
                    <a:p>
                      <a:pPr algn="l"/>
                      <a:r>
                        <a:rPr sz="950" b="0">
                          <a:latin typeface="Times New Roman"/>
                        </a:rPr>
                        <a:t>Web application and chat</a:t>
                      </a:r>
                    </a:p>
                  </a:txBody>
                  <a:tcPr marL="54000" marR="36000" marT="9000" marB="9000" anchor="ctr"/>
                </a:tc>
                <a:tc>
                  <a:txBody>
                    <a:bodyPr/>
                    <a:lstStyle/>
                    <a:p>
                      <a:pPr algn="ctr"/>
                      <a:r>
                        <a:rPr sz="950" b="0">
                          <a:latin typeface="Times New Roman"/>
                        </a:rPr>
                        <a:t>Working</a:t>
                      </a:r>
                    </a:p>
                  </a:txBody>
                  <a:tcPr marL="54000" marR="36000" marT="9000" marB="9000" anchor="ctr"/>
                </a:tc>
              </a:tr>
            </a:tbl>
          </a:graphicData>
        </a:graphic>
      </p:graphicFrame>
      <p:sp>
        <p:nvSpPr>
          <p:cNvPr id="171" name="TextBox 170"/>
          <p:cNvSpPr txBox="1"/>
          <p:nvPr/>
        </p:nvSpPr>
        <p:spPr>
          <a:xfrm>
            <a:off x="4663440" y="1664208"/>
            <a:ext cx="3977639" cy="228600"/>
          </a:xfrm>
          <a:prstGeom prst="rect">
            <a:avLst/>
          </a:prstGeom>
          <a:noFill/>
        </p:spPr>
        <p:txBody>
          <a:bodyPr wrap="square" lIns="0" rIns="0" tIns="0" bIns="0">
            <a:spAutoFit/>
          </a:bodyPr>
          <a:lstStyle/>
          <a:p>
            <a:pPr algn="l"/>
            <a:r>
              <a:rPr sz="1150" b="1" i="0">
                <a:solidFill>
                  <a:srgbClr val="000000"/>
                </a:solidFill>
                <a:latin typeface="Times New Roman"/>
              </a:rPr>
              <a:t>Planner, on the seeded demonstration trip</a:t>
            </a:r>
          </a:p>
        </p:txBody>
      </p:sp>
      <p:sp>
        <p:nvSpPr>
          <p:cNvPr id="172" name="Rectangle 171"/>
          <p:cNvSpPr/>
          <p:nvPr/>
        </p:nvSpPr>
        <p:spPr>
          <a:xfrm>
            <a:off x="5897880" y="2139696"/>
            <a:ext cx="2331720" cy="256032"/>
          </a:xfrm>
          <a:prstGeom prst="rect">
            <a:avLst/>
          </a:prstGeom>
          <a:solidFill>
            <a:srgbClr val="D1282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000" rIns="36000"/>
          <a:lstStyle/>
          <a:p>
            <a:pPr algn="r"/>
            <a:r>
              <a:rPr sz="900" b="1">
                <a:solidFill>
                  <a:srgbClr val="FFFFFF"/>
                </a:solidFill>
                <a:latin typeface="Times New Roman"/>
              </a:rPr>
              <a:t/>
            </a:r>
          </a:p>
        </p:txBody>
      </p:sp>
      <p:sp>
        <p:nvSpPr>
          <p:cNvPr id="173" name="TextBox 172"/>
          <p:cNvSpPr txBox="1"/>
          <p:nvPr/>
        </p:nvSpPr>
        <p:spPr>
          <a:xfrm>
            <a:off x="4663440" y="2167127"/>
            <a:ext cx="1188720" cy="228600"/>
          </a:xfrm>
          <a:prstGeom prst="rect">
            <a:avLst/>
          </a:prstGeom>
          <a:noFill/>
        </p:spPr>
        <p:txBody>
          <a:bodyPr wrap="square" lIns="0" rIns="0" tIns="0" bIns="0">
            <a:spAutoFit/>
          </a:bodyPr>
          <a:lstStyle/>
          <a:p>
            <a:pPr algn="r"/>
            <a:r>
              <a:rPr sz="950" b="0" i="0">
                <a:solidFill>
                  <a:srgbClr val="000000"/>
                </a:solidFill>
                <a:latin typeface="Times New Roman"/>
              </a:rPr>
              <a:t>Whole trip, as listed</a:t>
            </a:r>
          </a:p>
        </p:txBody>
      </p:sp>
      <p:sp>
        <p:nvSpPr>
          <p:cNvPr id="174" name="TextBox 173"/>
          <p:cNvSpPr txBox="1"/>
          <p:nvPr/>
        </p:nvSpPr>
        <p:spPr>
          <a:xfrm>
            <a:off x="8275320" y="2157984"/>
            <a:ext cx="960120" cy="228600"/>
          </a:xfrm>
          <a:prstGeom prst="rect">
            <a:avLst/>
          </a:prstGeom>
          <a:noFill/>
        </p:spPr>
        <p:txBody>
          <a:bodyPr wrap="square" lIns="0" rIns="0" tIns="0" bIns="0">
            <a:spAutoFit/>
          </a:bodyPr>
          <a:lstStyle/>
          <a:p>
            <a:pPr algn="l"/>
            <a:r>
              <a:rPr sz="950" b="1" i="0">
                <a:solidFill>
                  <a:srgbClr val="000000"/>
                </a:solidFill>
                <a:latin typeface="Times New Roman"/>
              </a:rPr>
              <a:t>34.98 km</a:t>
            </a:r>
          </a:p>
        </p:txBody>
      </p:sp>
      <p:sp>
        <p:nvSpPr>
          <p:cNvPr id="175" name="Rectangle 174"/>
          <p:cNvSpPr/>
          <p:nvPr/>
        </p:nvSpPr>
        <p:spPr>
          <a:xfrm>
            <a:off x="5897880" y="2468880"/>
            <a:ext cx="2059752" cy="256032"/>
          </a:xfrm>
          <a:prstGeom prst="rect">
            <a:avLst/>
          </a:prstGeom>
          <a:solidFill>
            <a:srgbClr val="526DB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000" rIns="36000"/>
          <a:lstStyle/>
          <a:p>
            <a:pPr algn="r"/>
            <a:r>
              <a:rPr sz="900" b="1">
                <a:solidFill>
                  <a:srgbClr val="FFFFFF"/>
                </a:solidFill>
                <a:latin typeface="Times New Roman"/>
              </a:rPr>
              <a:t/>
            </a:r>
          </a:p>
        </p:txBody>
      </p:sp>
      <p:sp>
        <p:nvSpPr>
          <p:cNvPr id="176" name="TextBox 175"/>
          <p:cNvSpPr txBox="1"/>
          <p:nvPr/>
        </p:nvSpPr>
        <p:spPr>
          <a:xfrm>
            <a:off x="4663440" y="2496312"/>
            <a:ext cx="1188720" cy="228600"/>
          </a:xfrm>
          <a:prstGeom prst="rect">
            <a:avLst/>
          </a:prstGeom>
          <a:noFill/>
        </p:spPr>
        <p:txBody>
          <a:bodyPr wrap="square" lIns="0" rIns="0" tIns="0" bIns="0">
            <a:spAutoFit/>
          </a:bodyPr>
          <a:lstStyle/>
          <a:p>
            <a:pPr algn="r"/>
            <a:r>
              <a:rPr sz="950" b="0" i="0">
                <a:solidFill>
                  <a:srgbClr val="000000"/>
                </a:solidFill>
                <a:latin typeface="Times New Roman"/>
              </a:rPr>
              <a:t>Whole trip, as routed</a:t>
            </a:r>
          </a:p>
        </p:txBody>
      </p:sp>
      <p:sp>
        <p:nvSpPr>
          <p:cNvPr id="177" name="TextBox 176"/>
          <p:cNvSpPr txBox="1"/>
          <p:nvPr/>
        </p:nvSpPr>
        <p:spPr>
          <a:xfrm>
            <a:off x="8003352" y="2487168"/>
            <a:ext cx="960120" cy="228600"/>
          </a:xfrm>
          <a:prstGeom prst="rect">
            <a:avLst/>
          </a:prstGeom>
          <a:noFill/>
        </p:spPr>
        <p:txBody>
          <a:bodyPr wrap="square" lIns="0" rIns="0" tIns="0" bIns="0">
            <a:spAutoFit/>
          </a:bodyPr>
          <a:lstStyle/>
          <a:p>
            <a:pPr algn="l"/>
            <a:r>
              <a:rPr sz="950" b="1" i="0">
                <a:solidFill>
                  <a:srgbClr val="000000"/>
                </a:solidFill>
                <a:latin typeface="Times New Roman"/>
              </a:rPr>
              <a:t>30.9 km</a:t>
            </a:r>
          </a:p>
        </p:txBody>
      </p:sp>
      <p:sp>
        <p:nvSpPr>
          <p:cNvPr id="178" name="Rectangle 177"/>
          <p:cNvSpPr/>
          <p:nvPr/>
        </p:nvSpPr>
        <p:spPr>
          <a:xfrm>
            <a:off x="5897880" y="2889504"/>
            <a:ext cx="701915" cy="256032"/>
          </a:xfrm>
          <a:prstGeom prst="rect">
            <a:avLst/>
          </a:prstGeom>
          <a:solidFill>
            <a:srgbClr val="D1282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000" rIns="36000"/>
          <a:lstStyle/>
          <a:p>
            <a:pPr algn="r"/>
            <a:r>
              <a:rPr sz="900" b="1">
                <a:solidFill>
                  <a:srgbClr val="FFFFFF"/>
                </a:solidFill>
                <a:latin typeface="Times New Roman"/>
              </a:rPr>
              <a:t/>
            </a:r>
          </a:p>
        </p:txBody>
      </p:sp>
      <p:sp>
        <p:nvSpPr>
          <p:cNvPr id="179" name="TextBox 178"/>
          <p:cNvSpPr txBox="1"/>
          <p:nvPr/>
        </p:nvSpPr>
        <p:spPr>
          <a:xfrm>
            <a:off x="4663440" y="2916936"/>
            <a:ext cx="1188720" cy="228600"/>
          </a:xfrm>
          <a:prstGeom prst="rect">
            <a:avLst/>
          </a:prstGeom>
          <a:noFill/>
        </p:spPr>
        <p:txBody>
          <a:bodyPr wrap="square" lIns="0" rIns="0" tIns="0" bIns="0">
            <a:spAutoFit/>
          </a:bodyPr>
          <a:lstStyle/>
          <a:p>
            <a:pPr algn="r"/>
            <a:r>
              <a:rPr sz="950" b="0" i="0">
                <a:solidFill>
                  <a:srgbClr val="000000"/>
                </a:solidFill>
                <a:latin typeface="Times New Roman"/>
              </a:rPr>
              <a:t>Day 2, as listed</a:t>
            </a:r>
          </a:p>
        </p:txBody>
      </p:sp>
      <p:sp>
        <p:nvSpPr>
          <p:cNvPr id="180" name="TextBox 179"/>
          <p:cNvSpPr txBox="1"/>
          <p:nvPr/>
        </p:nvSpPr>
        <p:spPr>
          <a:xfrm>
            <a:off x="6645515" y="2907792"/>
            <a:ext cx="960120" cy="228600"/>
          </a:xfrm>
          <a:prstGeom prst="rect">
            <a:avLst/>
          </a:prstGeom>
          <a:noFill/>
        </p:spPr>
        <p:txBody>
          <a:bodyPr wrap="square" lIns="0" rIns="0" tIns="0" bIns="0">
            <a:spAutoFit/>
          </a:bodyPr>
          <a:lstStyle/>
          <a:p>
            <a:pPr algn="l"/>
            <a:r>
              <a:rPr sz="950" b="1" i="0">
                <a:solidFill>
                  <a:srgbClr val="000000"/>
                </a:solidFill>
                <a:latin typeface="Times New Roman"/>
              </a:rPr>
              <a:t>10.53 km</a:t>
            </a:r>
          </a:p>
        </p:txBody>
      </p:sp>
      <p:sp>
        <p:nvSpPr>
          <p:cNvPr id="181" name="Rectangle 180"/>
          <p:cNvSpPr/>
          <p:nvPr/>
        </p:nvSpPr>
        <p:spPr>
          <a:xfrm>
            <a:off x="5897880" y="3218688"/>
            <a:ext cx="429948" cy="256032"/>
          </a:xfrm>
          <a:prstGeom prst="rect">
            <a:avLst/>
          </a:prstGeom>
          <a:solidFill>
            <a:srgbClr val="526DB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000" rIns="36000"/>
          <a:lstStyle/>
          <a:p>
            <a:pPr algn="r"/>
            <a:r>
              <a:rPr sz="900" b="1">
                <a:solidFill>
                  <a:srgbClr val="FFFFFF"/>
                </a:solidFill>
                <a:latin typeface="Times New Roman"/>
              </a:rPr>
              <a:t/>
            </a:r>
          </a:p>
        </p:txBody>
      </p:sp>
      <p:sp>
        <p:nvSpPr>
          <p:cNvPr id="182" name="TextBox 181"/>
          <p:cNvSpPr txBox="1"/>
          <p:nvPr/>
        </p:nvSpPr>
        <p:spPr>
          <a:xfrm>
            <a:off x="4663440" y="3246120"/>
            <a:ext cx="1188720" cy="228600"/>
          </a:xfrm>
          <a:prstGeom prst="rect">
            <a:avLst/>
          </a:prstGeom>
          <a:noFill/>
        </p:spPr>
        <p:txBody>
          <a:bodyPr wrap="square" lIns="0" rIns="0" tIns="0" bIns="0">
            <a:spAutoFit/>
          </a:bodyPr>
          <a:lstStyle/>
          <a:p>
            <a:pPr algn="r"/>
            <a:r>
              <a:rPr sz="950" b="0" i="0">
                <a:solidFill>
                  <a:srgbClr val="000000"/>
                </a:solidFill>
                <a:latin typeface="Times New Roman"/>
              </a:rPr>
              <a:t>Day 2, as routed</a:t>
            </a:r>
          </a:p>
        </p:txBody>
      </p:sp>
      <p:sp>
        <p:nvSpPr>
          <p:cNvPr id="183" name="TextBox 182"/>
          <p:cNvSpPr txBox="1"/>
          <p:nvPr/>
        </p:nvSpPr>
        <p:spPr>
          <a:xfrm>
            <a:off x="6373548" y="3236976"/>
            <a:ext cx="960120" cy="228600"/>
          </a:xfrm>
          <a:prstGeom prst="rect">
            <a:avLst/>
          </a:prstGeom>
          <a:noFill/>
        </p:spPr>
        <p:txBody>
          <a:bodyPr wrap="square" lIns="0" rIns="0" tIns="0" bIns="0">
            <a:spAutoFit/>
          </a:bodyPr>
          <a:lstStyle/>
          <a:p>
            <a:pPr algn="l"/>
            <a:r>
              <a:rPr sz="950" b="1" i="0">
                <a:solidFill>
                  <a:srgbClr val="000000"/>
                </a:solidFill>
                <a:latin typeface="Times New Roman"/>
              </a:rPr>
              <a:t>6.45 km</a:t>
            </a:r>
          </a:p>
        </p:txBody>
      </p:sp>
      <p:sp>
        <p:nvSpPr>
          <p:cNvPr id="184" name="TextBox 183"/>
          <p:cNvSpPr txBox="1"/>
          <p:nvPr/>
        </p:nvSpPr>
        <p:spPr>
          <a:xfrm>
            <a:off x="4663440" y="3529584"/>
            <a:ext cx="3977639" cy="201168"/>
          </a:xfrm>
          <a:prstGeom prst="rect">
            <a:avLst/>
          </a:prstGeom>
          <a:noFill/>
        </p:spPr>
        <p:txBody>
          <a:bodyPr wrap="square" lIns="0" rIns="0" tIns="0" bIns="0">
            <a:spAutoFit/>
          </a:bodyPr>
          <a:lstStyle/>
          <a:p>
            <a:pPr algn="l"/>
            <a:r>
              <a:rPr sz="850" b="0" i="1">
                <a:solidFill>
                  <a:srgbClr val="7A7A7A"/>
                </a:solidFill>
                <a:latin typeface="Times New Roman"/>
              </a:rPr>
              <a:t>Same scale for all four bars.</a:t>
            </a:r>
          </a:p>
        </p:txBody>
      </p:sp>
      <p:graphicFrame>
        <p:nvGraphicFramePr>
          <p:cNvPr id="185" name="Table 184"/>
          <p:cNvGraphicFramePr>
            <a:graphicFrameLocks noGrp="1"/>
          </p:cNvGraphicFramePr>
          <p:nvPr/>
        </p:nvGraphicFramePr>
        <p:xfrm>
          <a:off x="4663440" y="3822191"/>
          <a:ext cx="3977640" cy="1188720"/>
        </p:xfrm>
        <a:graphic>
          <a:graphicData uri="http://schemas.openxmlformats.org/drawingml/2006/table">
            <a:tbl>
              <a:tblPr firstRow="1" bandRow="1">
                <a:tableStyleId>{5C22544A-7EE6-4342-B048-85BDC9FD1C3A}</a:tableStyleId>
              </a:tblPr>
              <a:tblGrid>
                <a:gridCol w="2880360"/>
                <a:gridCol w="1097280"/>
              </a:tblGrid>
              <a:tr h="237744">
                <a:tc>
                  <a:txBody>
                    <a:bodyPr/>
                    <a:lstStyle/>
                    <a:p>
                      <a:pPr algn="l"/>
                      <a:r>
                        <a:rPr sz="1000" b="1">
                          <a:latin typeface="Times New Roman"/>
                        </a:rPr>
                        <a:t>Planner measure</a:t>
                      </a:r>
                    </a:p>
                  </a:txBody>
                  <a:tcPr marL="54000" marR="36000" marT="9000" marB="9000" anchor="ctr"/>
                </a:tc>
                <a:tc>
                  <a:txBody>
                    <a:bodyPr/>
                    <a:lstStyle/>
                    <a:p>
                      <a:pPr algn="ctr"/>
                      <a:r>
                        <a:rPr sz="1000" b="1">
                          <a:latin typeface="Times New Roman"/>
                        </a:rPr>
                        <a:t>Result</a:t>
                      </a:r>
                    </a:p>
                  </a:txBody>
                  <a:tcPr marL="54000" marR="36000" marT="9000" marB="9000" anchor="ctr"/>
                </a:tc>
              </a:tr>
              <a:tr h="237744">
                <a:tc>
                  <a:txBody>
                    <a:bodyPr/>
                    <a:lstStyle/>
                    <a:p>
                      <a:pPr algn="l"/>
                      <a:r>
                        <a:rPr sz="1000" b="0">
                          <a:latin typeface="Times New Roman"/>
                        </a:rPr>
                        <a:t>Constraint checks passed</a:t>
                      </a:r>
                    </a:p>
                  </a:txBody>
                  <a:tcPr marL="54000" marR="36000" marT="9000" marB="9000" anchor="ctr"/>
                </a:tc>
                <a:tc>
                  <a:txBody>
                    <a:bodyPr/>
                    <a:lstStyle/>
                    <a:p>
                      <a:pPr algn="ctr"/>
                      <a:r>
                        <a:rPr sz="1000" b="0">
                          <a:latin typeface="Times New Roman"/>
                        </a:rPr>
                        <a:t>37 / 37</a:t>
                      </a:r>
                    </a:p>
                  </a:txBody>
                  <a:tcPr marL="54000" marR="36000" marT="9000" marB="9000" anchor="ctr"/>
                </a:tc>
              </a:tr>
              <a:tr h="237744">
                <a:tc>
                  <a:txBody>
                    <a:bodyPr/>
                    <a:lstStyle/>
                    <a:p>
                      <a:pPr algn="l"/>
                      <a:r>
                        <a:rPr sz="1000" b="0">
                          <a:latin typeface="Times New Roman"/>
                        </a:rPr>
                        <a:t>Repairs applied</a:t>
                      </a:r>
                    </a:p>
                  </a:txBody>
                  <a:tcPr marL="54000" marR="36000" marT="9000" marB="9000" anchor="ctr"/>
                </a:tc>
                <a:tc>
                  <a:txBody>
                    <a:bodyPr/>
                    <a:lstStyle/>
                    <a:p>
                      <a:pPr algn="ctr"/>
                      <a:r>
                        <a:rPr sz="1000" b="0">
                          <a:latin typeface="Times New Roman"/>
                        </a:rPr>
                        <a:t>3</a:t>
                      </a:r>
                    </a:p>
                  </a:txBody>
                  <a:tcPr marL="54000" marR="36000" marT="9000" marB="9000" anchor="ctr"/>
                </a:tc>
              </a:tr>
              <a:tr h="237744">
                <a:tc>
                  <a:txBody>
                    <a:bodyPr/>
                    <a:lstStyle/>
                    <a:p>
                      <a:pPr algn="l"/>
                      <a:r>
                        <a:rPr sz="1000" b="0">
                          <a:latin typeface="Times New Roman"/>
                        </a:rPr>
                        <a:t>Candidates considered</a:t>
                      </a:r>
                    </a:p>
                  </a:txBody>
                  <a:tcPr marL="54000" marR="36000" marT="9000" marB="9000" anchor="ctr"/>
                </a:tc>
                <a:tc>
                  <a:txBody>
                    <a:bodyPr/>
                    <a:lstStyle/>
                    <a:p>
                      <a:pPr algn="ctr"/>
                      <a:r>
                        <a:rPr sz="1000" b="0">
                          <a:latin typeface="Times New Roman"/>
                        </a:rPr>
                        <a:t>27 of 112</a:t>
                      </a:r>
                    </a:p>
                  </a:txBody>
                  <a:tcPr marL="54000" marR="36000" marT="9000" marB="9000" anchor="ctr"/>
                </a:tc>
              </a:tr>
              <a:tr h="237744">
                <a:tc>
                  <a:txBody>
                    <a:bodyPr/>
                    <a:lstStyle/>
                    <a:p>
                      <a:pPr algn="l"/>
                      <a:r>
                        <a:rPr sz="1000" b="0">
                          <a:latin typeface="Times New Roman"/>
                        </a:rPr>
                        <a:t>Build time</a:t>
                      </a:r>
                    </a:p>
                  </a:txBody>
                  <a:tcPr marL="54000" marR="36000" marT="9000" marB="9000" anchor="ctr"/>
                </a:tc>
                <a:tc>
                  <a:txBody>
                    <a:bodyPr/>
                    <a:lstStyle/>
                    <a:p>
                      <a:pPr algn="ctr"/>
                      <a:r>
                        <a:rPr sz="1000" b="0">
                          <a:latin typeface="Times New Roman"/>
                        </a:rPr>
                        <a:t>3 ms</a:t>
                      </a:r>
                    </a:p>
                  </a:txBody>
                  <a:tcPr marL="54000" marR="36000" marT="9000" marB="9000" anchor="ctr"/>
                </a:tc>
              </a:tr>
            </a:tbl>
          </a:graphicData>
        </a:graphic>
      </p:graphicFrame>
      <p:sp>
        <p:nvSpPr>
          <p:cNvPr id="186" name="TextBox 185"/>
          <p:cNvSpPr txBox="1"/>
          <p:nvPr/>
        </p:nvSpPr>
        <p:spPr>
          <a:xfrm>
            <a:off x="4663440" y="5193792"/>
            <a:ext cx="3977639" cy="777240"/>
          </a:xfrm>
          <a:prstGeom prst="rect">
            <a:avLst/>
          </a:prstGeom>
          <a:noFill/>
        </p:spPr>
        <p:txBody>
          <a:bodyPr wrap="square" lIns="0" rIns="0" tIns="0" bIns="0">
            <a:spAutoFit/>
          </a:bodyPr>
          <a:lstStyle/>
          <a:p>
            <a:pPr algn="l"/>
            <a:r>
              <a:rPr sz="1000" b="0" i="1">
                <a:solidFill>
                  <a:srgbClr val="333333"/>
                </a:solidFill>
                <a:latin typeface="Times New Roman"/>
              </a:rPr>
              <a:t>“As listed” is the same stops visited in candidate order — what an itinerary that never routes produces. It is the honest baseline, because nearest-neighbour was already optimal here.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57593-4059-4EFD-2BB0-FF813EA89E79}"/>
              </a:ext>
            </a:extLst>
          </p:cNvPr>
          <p:cNvSpPr>
            <a:spLocks noGrp="1"/>
          </p:cNvSpPr>
          <p:nvPr>
            <p:ph type="title"/>
          </p:nvPr>
        </p:nvSpPr>
        <p:spPr>
          <a:xfrm>
            <a:off x="457200" y="155448"/>
            <a:ext cx="8193024" cy="658368"/>
          </a:xfrm>
        </p:spPr>
        <p:txBody>
          <a:bodyPr anchor="t">
            <a:normAutofit/>
          </a:bodyPr>
          <a:lstStyle/>
          <a:p>
            <a:r>
              <a:rPr lang="en-IN" b="1" i="0" dirty="0" sz="2800">
                <a:solidFill>
                  <a:schemeClr val="bg2"/>
                </a:solidFill>
                <a:effectLst/>
                <a:latin typeface="Times New Roman" panose="02020603050405020304" pitchFamily="18" charset="0"/>
                <a:cs typeface="Times New Roman" panose="02020603050405020304" pitchFamily="18" charset="0"/>
              </a:rPr>
              <a:t>PROJECT STATUS, CONCLUSION</a:t>
            </a:r>
            <a:br>
              <a:rPr lang="en-IN" b="1" i="0" dirty="0">
                <a:solidFill>
                  <a:srgbClr val="000000"/>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E20F00D8-5DAB-3041-83E8-E5C536AA4A0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10</a:t>
            </a:fld>
            <a:endParaRPr lang="en-IN"/>
          </a:p>
        </p:txBody>
      </p:sp>
      <p:sp>
        <p:nvSpPr>
          <p:cNvPr id="7" name="Footer Placeholder 6">
            <a:extLst>
              <a:ext uri="{FF2B5EF4-FFF2-40B4-BE49-F238E27FC236}">
                <a16:creationId xmlns:a16="http://schemas.microsoft.com/office/drawing/2014/main" id="{1AF726E8-5086-0729-9262-62B17A327BBE}"/>
              </a:ext>
            </a:extLst>
          </p:cNvPr>
          <p:cNvSpPr>
            <a:spLocks noGrp="1"/>
          </p:cNvSpPr>
          <p:nvPr>
            <p:ph type="ftr" idx="11"/>
          </p:nvPr>
        </p:nvSpPr>
        <p:spPr>
          <a:xfrm>
            <a:off x="457200" y="6492875"/>
            <a:ext cx="8028432" cy="283845"/>
          </a:xfrm>
        </p:spPr>
        <p:txBody>
          <a:bodyPr/>
          <a:lstStyle/>
          <a:p>
            <a:r>
              <a:rPr lang="en-US" dirty="0"/>
              <a:t>Dept. of ISE,BMSIT&amp;M                       7th Semester, MAJOR PROJECT PHASE-2 (BCS705) REVIEW ‘1                             AY : 2026-27 </a:t>
            </a:r>
            <a:endParaRPr lang="en-IN" dirty="0"/>
          </a:p>
        </p:txBody>
      </p:sp>
      <p:sp>
        <p:nvSpPr>
          <p:cNvPr id="8" name="Rectangle 7"/>
          <p:cNvSpPr/>
          <p:nvPr/>
        </p:nvSpPr>
        <p:spPr>
          <a:xfrm>
            <a:off x="502920" y="914400"/>
            <a:ext cx="2606040" cy="365760"/>
          </a:xfrm>
          <a:prstGeom prst="rect">
            <a:avLst/>
          </a:prstGeom>
          <a:solidFill>
            <a:srgbClr val="526D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150" b="1">
                <a:solidFill>
                  <a:srgbClr val="FFFFFF"/>
                </a:solidFill>
                <a:latin typeface="Times New Roman"/>
              </a:rPr>
              <a:t>Completed</a:t>
            </a:r>
          </a:p>
        </p:txBody>
      </p:sp>
      <p:sp>
        <p:nvSpPr>
          <p:cNvPr id="9" name="Rectangle 8"/>
          <p:cNvSpPr/>
          <p:nvPr/>
        </p:nvSpPr>
        <p:spPr>
          <a:xfrm>
            <a:off x="502920" y="1280160"/>
            <a:ext cx="2606040" cy="2103120"/>
          </a:xfrm>
          <a:prstGeom prst="rect">
            <a:avLst/>
          </a:prstGeom>
          <a:solidFill>
            <a:srgbClr val="FFFFFF"/>
          </a:solidFill>
          <a:ln w="12700">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t" wrap="square" lIns="36000" rIns="36000" tIns="54000" bIns="54000"/>
          <a:lstStyle/>
          <a:p>
            <a:pPr algn="l"/>
            <a:r>
              <a:rPr sz="1050" b="0">
                <a:solidFill>
                  <a:srgbClr val="000000"/>
                </a:solidFill>
                <a:latin typeface="Times New Roman"/>
              </a:rPr>
              <a:t>Database and schema</a:t>
            </a:r>
          </a:p>
          <a:p>
            <a:pPr algn="l"/>
            <a:r>
              <a:rPr sz="950" b="0">
                <a:solidFill>
                  <a:srgbClr val="000000"/>
                </a:solidFill>
                <a:latin typeface="Times New Roman"/>
              </a:rPr>
              <a:t>Deterministic planner</a:t>
            </a:r>
          </a:p>
          <a:p>
            <a:pPr algn="l"/>
            <a:r>
              <a:rPr sz="950" b="0">
                <a:solidFill>
                  <a:srgbClr val="000000"/>
                </a:solidFill>
                <a:latin typeface="Times New Roman"/>
              </a:rPr>
              <a:t>Hybrid retrieval</a:t>
            </a:r>
          </a:p>
          <a:p>
            <a:pPr algn="l"/>
            <a:r>
              <a:rPr sz="950" b="0">
                <a:solidFill>
                  <a:srgbClr val="000000"/>
                </a:solidFill>
                <a:latin typeface="Times New Roman"/>
              </a:rPr>
              <a:t>Katha builder</a:t>
            </a:r>
          </a:p>
          <a:p>
            <a:pPr algn="l"/>
            <a:r>
              <a:rPr sz="950" b="0">
                <a:solidFill>
                  <a:srgbClr val="000000"/>
                </a:solidFill>
                <a:latin typeface="Times New Roman"/>
              </a:rPr>
              <a:t>Narration with fact-check</a:t>
            </a:r>
          </a:p>
          <a:p>
            <a:pPr algn="l"/>
            <a:r>
              <a:rPr sz="950" b="0">
                <a:solidFill>
                  <a:srgbClr val="000000"/>
                </a:solidFill>
                <a:latin typeface="Times New Roman"/>
              </a:rPr>
              <a:t>Sarvam speech, cached</a:t>
            </a:r>
          </a:p>
          <a:p>
            <a:pPr algn="l"/>
            <a:r>
              <a:rPr sz="950" b="0">
                <a:solidFill>
                  <a:srgbClr val="000000"/>
                </a:solidFill>
                <a:latin typeface="Times New Roman"/>
              </a:rPr>
              <a:t>Chat repair, one day</a:t>
            </a:r>
          </a:p>
          <a:p>
            <a:pPr algn="l"/>
            <a:r>
              <a:rPr sz="950" b="0">
                <a:solidFill>
                  <a:srgbClr val="000000"/>
                </a:solidFill>
                <a:latin typeface="Times New Roman"/>
              </a:rPr>
              <a:t>Web application</a:t>
            </a:r>
          </a:p>
          <a:p>
            <a:pPr algn="l"/>
            <a:r>
              <a:rPr sz="950" b="0">
                <a:solidFill>
                  <a:srgbClr val="000000"/>
                </a:solidFill>
                <a:latin typeface="Times New Roman"/>
              </a:rPr>
              <a:t>Evaluation harness</a:t>
            </a:r>
          </a:p>
        </p:txBody>
      </p:sp>
      <p:sp>
        <p:nvSpPr>
          <p:cNvPr id="10" name="Rectangle 9"/>
          <p:cNvSpPr/>
          <p:nvPr/>
        </p:nvSpPr>
        <p:spPr>
          <a:xfrm>
            <a:off x="3273552" y="914400"/>
            <a:ext cx="2606040" cy="365760"/>
          </a:xfrm>
          <a:prstGeom prst="rect">
            <a:avLst/>
          </a:prstGeom>
          <a:solidFill>
            <a:srgbClr val="F5C2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150" b="1">
                <a:solidFill>
                  <a:srgbClr val="000000"/>
                </a:solidFill>
                <a:latin typeface="Times New Roman"/>
              </a:rPr>
              <a:t>In progress</a:t>
            </a:r>
          </a:p>
        </p:txBody>
      </p:sp>
      <p:sp>
        <p:nvSpPr>
          <p:cNvPr id="11" name="Rectangle 10"/>
          <p:cNvSpPr/>
          <p:nvPr/>
        </p:nvSpPr>
        <p:spPr>
          <a:xfrm>
            <a:off x="3273552" y="1280160"/>
            <a:ext cx="2606040" cy="2103120"/>
          </a:xfrm>
          <a:prstGeom prst="rect">
            <a:avLst/>
          </a:prstGeom>
          <a:solidFill>
            <a:srgbClr val="FFFFFF"/>
          </a:solidFill>
          <a:ln w="12700">
            <a:solidFill>
              <a:srgbClr val="F5C201"/>
            </a:solidFill>
          </a:ln>
          <a:effectLst/>
        </p:spPr>
        <p:style>
          <a:lnRef idx="1">
            <a:schemeClr val="accent1"/>
          </a:lnRef>
          <a:fillRef idx="3">
            <a:schemeClr val="accent1"/>
          </a:fillRef>
          <a:effectRef idx="2">
            <a:schemeClr val="accent1"/>
          </a:effectRef>
          <a:fontRef idx="minor">
            <a:schemeClr val="lt1"/>
          </a:fontRef>
        </p:style>
        <p:txBody>
          <a:bodyPr rtlCol="0" anchor="t" wrap="square" lIns="36000" rIns="36000" tIns="54000" bIns="54000"/>
          <a:lstStyle/>
          <a:p>
            <a:pPr algn="l"/>
            <a:r>
              <a:rPr sz="1050" b="0">
                <a:solidFill>
                  <a:srgbClr val="000000"/>
                </a:solidFill>
                <a:latin typeface="Times New Roman"/>
              </a:rPr>
              <a:t>Corpus breadth beyond</a:t>
            </a:r>
          </a:p>
          <a:p>
            <a:pPr algn="l"/>
            <a:r>
              <a:rPr sz="950" b="0">
                <a:solidFill>
                  <a:srgbClr val="000000"/>
                </a:solidFill>
                <a:latin typeface="Times New Roman"/>
              </a:rPr>
              <a:t>the five current regions</a:t>
            </a:r>
          </a:p>
          <a:p>
            <a:pPr algn="l"/>
            <a:r>
              <a:rPr sz="950" b="0">
                <a:solidFill>
                  <a:srgbClr val="000000"/>
                </a:solidFill>
                <a:latin typeface="Times New Roman"/>
              </a:rPr>
              <a:t/>
            </a:r>
          </a:p>
          <a:p>
            <a:pPr algn="l"/>
            <a:r>
              <a:rPr sz="950" b="0">
                <a:solidFill>
                  <a:srgbClr val="000000"/>
                </a:solidFill>
                <a:latin typeface="Times New Roman"/>
              </a:rPr>
              <a:t>Internal code review</a:t>
            </a:r>
          </a:p>
        </p:txBody>
      </p:sp>
      <p:sp>
        <p:nvSpPr>
          <p:cNvPr id="12" name="Rectangle 11"/>
          <p:cNvSpPr/>
          <p:nvPr/>
        </p:nvSpPr>
        <p:spPr>
          <a:xfrm>
            <a:off x="6044183" y="914400"/>
            <a:ext cx="2606040" cy="365760"/>
          </a:xfrm>
          <a:prstGeom prst="rect">
            <a:avLst/>
          </a:prstGeom>
          <a:solidFill>
            <a:srgbClr val="7A7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150" b="1">
                <a:solidFill>
                  <a:srgbClr val="FFFFFF"/>
                </a:solidFill>
                <a:latin typeface="Times New Roman"/>
              </a:rPr>
              <a:t>Not started — Review 2</a:t>
            </a:r>
          </a:p>
        </p:txBody>
      </p:sp>
      <p:sp>
        <p:nvSpPr>
          <p:cNvPr id="13" name="Rectangle 12"/>
          <p:cNvSpPr/>
          <p:nvPr/>
        </p:nvSpPr>
        <p:spPr>
          <a:xfrm>
            <a:off x="6044183" y="1280160"/>
            <a:ext cx="2606040" cy="2103120"/>
          </a:xfrm>
          <a:prstGeom prst="rect">
            <a:avLst/>
          </a:prstGeom>
          <a:solidFill>
            <a:srgbClr val="FFFFFF"/>
          </a:solidFill>
          <a:ln w="12700">
            <a:solidFill>
              <a:srgbClr val="7A7A7A"/>
            </a:solidFill>
          </a:ln>
          <a:effectLst/>
        </p:spPr>
        <p:style>
          <a:lnRef idx="1">
            <a:schemeClr val="accent1"/>
          </a:lnRef>
          <a:fillRef idx="3">
            <a:schemeClr val="accent1"/>
          </a:fillRef>
          <a:effectRef idx="2">
            <a:schemeClr val="accent1"/>
          </a:effectRef>
          <a:fontRef idx="minor">
            <a:schemeClr val="lt1"/>
          </a:fontRef>
        </p:style>
        <p:txBody>
          <a:bodyPr rtlCol="0" anchor="t" wrap="square" lIns="36000" rIns="36000" tIns="54000" bIns="54000"/>
          <a:lstStyle/>
          <a:p>
            <a:pPr algn="l"/>
            <a:r>
              <a:rPr sz="1050" b="0">
                <a:solidFill>
                  <a:srgbClr val="000000"/>
                </a:solidFill>
                <a:latin typeface="Times New Roman"/>
              </a:rPr>
              <a:t>Objective 2: full five-</a:t>
            </a:r>
          </a:p>
          <a:p>
            <a:pPr algn="l"/>
            <a:r>
              <a:rPr sz="950" b="0">
                <a:solidFill>
                  <a:srgbClr val="000000"/>
                </a:solidFill>
                <a:latin typeface="Times New Roman"/>
              </a:rPr>
              <a:t>language support</a:t>
            </a:r>
          </a:p>
          <a:p>
            <a:pPr algn="l"/>
            <a:r>
              <a:rPr sz="950" b="0">
                <a:solidFill>
                  <a:srgbClr val="000000"/>
                </a:solidFill>
                <a:latin typeface="Times New Roman"/>
              </a:rPr>
              <a:t/>
            </a:r>
          </a:p>
          <a:p>
            <a:pPr algn="l"/>
            <a:r>
              <a:rPr sz="950" b="0">
                <a:solidFill>
                  <a:srgbClr val="000000"/>
                </a:solidFill>
                <a:latin typeface="Times New Roman"/>
              </a:rPr>
              <a:t>Objective 3: WhatsApp and</a:t>
            </a:r>
          </a:p>
          <a:p>
            <a:pPr algn="l"/>
            <a:r>
              <a:rPr sz="950" b="0">
                <a:solidFill>
                  <a:srgbClr val="000000"/>
                </a:solidFill>
                <a:latin typeface="Times New Roman"/>
              </a:rPr>
              <a:t>voice channels</a:t>
            </a:r>
          </a:p>
          <a:p>
            <a:pPr algn="l"/>
            <a:r>
              <a:rPr sz="950" b="0">
                <a:solidFill>
                  <a:srgbClr val="000000"/>
                </a:solidFill>
                <a:latin typeface="Times New Roman"/>
              </a:rPr>
              <a:t/>
            </a:r>
          </a:p>
          <a:p>
            <a:pPr algn="l"/>
            <a:r>
              <a:rPr sz="950" b="0">
                <a:solidFill>
                  <a:srgbClr val="000000"/>
                </a:solidFill>
                <a:latin typeface="Times New Roman"/>
              </a:rPr>
              <a:t>Objective 4: live booking</a:t>
            </a:r>
          </a:p>
          <a:p>
            <a:pPr algn="l"/>
            <a:r>
              <a:rPr sz="950" b="0">
                <a:solidFill>
                  <a:srgbClr val="000000"/>
                </a:solidFill>
                <a:latin typeface="Times New Roman"/>
              </a:rPr>
              <a:t>and routing APIs</a:t>
            </a:r>
          </a:p>
        </p:txBody>
      </p:sp>
      <p:sp>
        <p:nvSpPr>
          <p:cNvPr id="14" name="TextBox 13"/>
          <p:cNvSpPr txBox="1"/>
          <p:nvPr/>
        </p:nvSpPr>
        <p:spPr>
          <a:xfrm>
            <a:off x="502920" y="3566160"/>
            <a:ext cx="8138160" cy="228600"/>
          </a:xfrm>
          <a:prstGeom prst="rect">
            <a:avLst/>
          </a:prstGeom>
          <a:noFill/>
        </p:spPr>
        <p:txBody>
          <a:bodyPr wrap="square" lIns="0" rIns="0" tIns="0" bIns="0">
            <a:spAutoFit/>
          </a:bodyPr>
          <a:lstStyle/>
          <a:p>
            <a:pPr algn="l"/>
            <a:r>
              <a:rPr sz="1150" b="1" i="0">
                <a:solidFill>
                  <a:srgbClr val="000000"/>
                </a:solidFill>
                <a:latin typeface="Times New Roman"/>
              </a:rPr>
              <a:t>Known limits, stated plainly</a:t>
            </a:r>
          </a:p>
        </p:txBody>
      </p:sp>
      <p:sp>
        <p:nvSpPr>
          <p:cNvPr id="15" name="Rectangle 14"/>
          <p:cNvSpPr/>
          <p:nvPr/>
        </p:nvSpPr>
        <p:spPr>
          <a:xfrm>
            <a:off x="502920" y="3840480"/>
            <a:ext cx="91440" cy="91440"/>
          </a:xfrm>
          <a:prstGeom prst="rect">
            <a:avLst/>
          </a:prstGeom>
          <a:solidFill>
            <a:srgbClr val="D128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50" b="0">
                <a:solidFill>
                  <a:srgbClr val="000000"/>
                </a:solidFill>
                <a:latin typeface="Times New Roman"/>
              </a:rPr>
              <a:t/>
            </a:r>
          </a:p>
        </p:txBody>
      </p:sp>
      <p:sp>
        <p:nvSpPr>
          <p:cNvPr id="16" name="TextBox 15"/>
          <p:cNvSpPr txBox="1"/>
          <p:nvPr/>
        </p:nvSpPr>
        <p:spPr>
          <a:xfrm>
            <a:off x="713232" y="3794760"/>
            <a:ext cx="7909560" cy="457200"/>
          </a:xfrm>
          <a:prstGeom prst="rect">
            <a:avLst/>
          </a:prstGeom>
          <a:noFill/>
        </p:spPr>
        <p:txBody>
          <a:bodyPr wrap="square" lIns="0" rIns="0" tIns="0" bIns="0">
            <a:spAutoFit/>
          </a:bodyPr>
          <a:lstStyle/>
          <a:p>
            <a:pPr algn="l"/>
            <a:r>
              <a:rPr sz="1050" b="0" i="0">
                <a:solidFill>
                  <a:srgbClr val="000000"/>
                </a:solidFill>
                <a:latin typeface="Times New Roman"/>
              </a:rPr>
              <a:t>92 of the 112 points of interest are still unverified draft data; the interface labels them as estimated rather than hiding it.</a:t>
            </a:r>
          </a:p>
        </p:txBody>
      </p:sp>
      <p:sp>
        <p:nvSpPr>
          <p:cNvPr id="17" name="Rectangle 16"/>
          <p:cNvSpPr/>
          <p:nvPr/>
        </p:nvSpPr>
        <p:spPr>
          <a:xfrm>
            <a:off x="502920" y="4297680"/>
            <a:ext cx="91440" cy="91440"/>
          </a:xfrm>
          <a:prstGeom prst="rect">
            <a:avLst/>
          </a:prstGeom>
          <a:solidFill>
            <a:srgbClr val="D128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50" b="0">
                <a:solidFill>
                  <a:srgbClr val="000000"/>
                </a:solidFill>
                <a:latin typeface="Times New Roman"/>
              </a:rPr>
              <a:t/>
            </a:r>
          </a:p>
        </p:txBody>
      </p:sp>
      <p:sp>
        <p:nvSpPr>
          <p:cNvPr id="18" name="TextBox 17"/>
          <p:cNvSpPr txBox="1"/>
          <p:nvPr/>
        </p:nvSpPr>
        <p:spPr>
          <a:xfrm>
            <a:off x="713232" y="4251960"/>
            <a:ext cx="7909560" cy="457200"/>
          </a:xfrm>
          <a:prstGeom prst="rect">
            <a:avLst/>
          </a:prstGeom>
          <a:noFill/>
        </p:spPr>
        <p:txBody>
          <a:bodyPr wrap="square" lIns="0" rIns="0" tIns="0" bIns="0">
            <a:spAutoFit/>
          </a:bodyPr>
          <a:lstStyle/>
          <a:p>
            <a:pPr algn="l"/>
            <a:r>
              <a:rPr sz="1050" b="0" i="0">
                <a:solidFill>
                  <a:srgbClr val="000000"/>
                </a:solidFill>
                <a:latin typeface="Times New Roman"/>
              </a:rPr>
              <a:t>Coorg has a single midday food stop in our data, so a long Coorg day trips the meal-gap rule. The rule is right; the data is thin.</a:t>
            </a:r>
          </a:p>
        </p:txBody>
      </p:sp>
      <p:sp>
        <p:nvSpPr>
          <p:cNvPr id="19" name="Rectangle 18"/>
          <p:cNvSpPr/>
          <p:nvPr/>
        </p:nvSpPr>
        <p:spPr>
          <a:xfrm>
            <a:off x="502920" y="4754880"/>
            <a:ext cx="91440" cy="91440"/>
          </a:xfrm>
          <a:prstGeom prst="rect">
            <a:avLst/>
          </a:prstGeom>
          <a:solidFill>
            <a:srgbClr val="D128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50" b="0">
                <a:solidFill>
                  <a:srgbClr val="000000"/>
                </a:solidFill>
                <a:latin typeface="Times New Roman"/>
              </a:rPr>
              <a:t/>
            </a:r>
          </a:p>
        </p:txBody>
      </p:sp>
      <p:sp>
        <p:nvSpPr>
          <p:cNvPr id="20" name="TextBox 19"/>
          <p:cNvSpPr txBox="1"/>
          <p:nvPr/>
        </p:nvSpPr>
        <p:spPr>
          <a:xfrm>
            <a:off x="713232" y="4709160"/>
            <a:ext cx="7909560" cy="457200"/>
          </a:xfrm>
          <a:prstGeom prst="rect">
            <a:avLst/>
          </a:prstGeom>
          <a:noFill/>
        </p:spPr>
        <p:txBody>
          <a:bodyPr wrap="square" lIns="0" rIns="0" tIns="0" bIns="0">
            <a:spAutoFit/>
          </a:bodyPr>
          <a:lstStyle/>
          <a:p>
            <a:pPr algn="l"/>
            <a:r>
              <a:rPr sz="1050" b="0" i="0">
                <a:solidFill>
                  <a:srgbClr val="000000"/>
                </a:solidFill>
                <a:latin typeface="Times New Roman"/>
              </a:rPr>
              <a:t>Map routes are drawn as straight segments between stops, not road-shaped geometry. Distances use a detour factor, so the kilometres are honest but the drawing is schematic.</a:t>
            </a:r>
          </a:p>
        </p:txBody>
      </p:sp>
      <p:sp>
        <p:nvSpPr>
          <p:cNvPr id="21" name="Rectangle 20"/>
          <p:cNvSpPr/>
          <p:nvPr/>
        </p:nvSpPr>
        <p:spPr>
          <a:xfrm>
            <a:off x="502920" y="5212080"/>
            <a:ext cx="91440" cy="91440"/>
          </a:xfrm>
          <a:prstGeom prst="rect">
            <a:avLst/>
          </a:prstGeom>
          <a:solidFill>
            <a:srgbClr val="D128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50" b="0">
                <a:solidFill>
                  <a:srgbClr val="000000"/>
                </a:solidFill>
                <a:latin typeface="Times New Roman"/>
              </a:rPr>
              <a:t/>
            </a:r>
          </a:p>
        </p:txBody>
      </p:sp>
      <p:sp>
        <p:nvSpPr>
          <p:cNvPr id="22" name="TextBox 21"/>
          <p:cNvSpPr txBox="1"/>
          <p:nvPr/>
        </p:nvSpPr>
        <p:spPr>
          <a:xfrm>
            <a:off x="713232" y="5166360"/>
            <a:ext cx="7909560" cy="457200"/>
          </a:xfrm>
          <a:prstGeom prst="rect">
            <a:avLst/>
          </a:prstGeom>
          <a:noFill/>
        </p:spPr>
        <p:txBody>
          <a:bodyPr wrap="square" lIns="0" rIns="0" tIns="0" bIns="0">
            <a:spAutoFit/>
          </a:bodyPr>
          <a:lstStyle/>
          <a:p>
            <a:pPr algn="l"/>
            <a:r>
              <a:rPr sz="1050" b="0" i="0">
                <a:solidFill>
                  <a:srgbClr val="000000"/>
                </a:solidFill>
                <a:latin typeface="Times New Roman"/>
              </a:rPr>
              <a:t>The system runs on localhost for this review; deployment is a post-review decision recorded in the project log.</a:t>
            </a:r>
          </a:p>
        </p:txBody>
      </p:sp>
      <p:sp>
        <p:nvSpPr>
          <p:cNvPr id="23" name="TextBox 22"/>
          <p:cNvSpPr txBox="1"/>
          <p:nvPr/>
        </p:nvSpPr>
        <p:spPr>
          <a:xfrm>
            <a:off x="502920" y="5715000"/>
            <a:ext cx="8138160" cy="548640"/>
          </a:xfrm>
          <a:prstGeom prst="rect">
            <a:avLst/>
          </a:prstGeom>
          <a:noFill/>
        </p:spPr>
        <p:txBody>
          <a:bodyPr wrap="square" lIns="0" rIns="0" tIns="0" bIns="0">
            <a:spAutoFit/>
          </a:bodyPr>
          <a:lstStyle/>
          <a:p>
            <a:pPr algn="l"/>
            <a:r>
              <a:rPr sz="1150" b="1" i="0">
                <a:solidFill>
                  <a:srgbClr val="000000"/>
                </a:solidFill>
                <a:latin typeface="Times New Roman"/>
              </a:rPr>
              <a:t>Conclusion: two of six objectives are demonstrated in working software, measured rather than asserted. The planner computes and proves its itineraries; the guide speaks only what a source supports, and refuses when it has nothing.</a:t>
            </a:r>
          </a:p>
        </p:txBody>
      </p:sp>
    </p:spTree>
    <p:extLst>
      <p:ext uri="{BB962C8B-B14F-4D97-AF65-F5344CB8AC3E}">
        <p14:creationId xmlns:p14="http://schemas.microsoft.com/office/powerpoint/2010/main" val="136098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a64a40ef39_0_0"/>
          <p:cNvSpPr txBox="1">
            <a:spLocks noGrp="1"/>
          </p:cNvSpPr>
          <p:nvPr>
            <p:ph type="title"/>
          </p:nvPr>
        </p:nvSpPr>
        <p:spPr>
          <a:xfrm>
            <a:off x="457200" y="155448"/>
            <a:ext cx="8193024" cy="749808"/>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IN" dirty="0" sz="3000">
                <a:latin typeface="Times New Roman" panose="02020603050405020304" pitchFamily="18" charset="0"/>
                <a:cs typeface="Times New Roman" panose="02020603050405020304" pitchFamily="18" charset="0"/>
              </a:rPr>
              <a:t>PUBLICATION</a:t>
            </a:r>
            <a:endParaRPr dirty="0">
              <a:latin typeface="Times New Roman" panose="02020603050405020304" pitchFamily="18" charset="0"/>
              <a:cs typeface="Times New Roman" panose="02020603050405020304" pitchFamily="18" charset="0"/>
            </a:endParaRPr>
          </a:p>
        </p:txBody>
      </p:sp>
      <p:sp>
        <p:nvSpPr>
          <p:cNvPr id="193" name="Google Shape;193;g3a64a40ef39_0_0"/>
          <p:cNvSpPr txBox="1">
            <a:spLocks noGrp="1"/>
          </p:cNvSpPr>
          <p:nvPr>
            <p:ph type="body" idx="1"/>
          </p:nvPr>
        </p:nvSpPr>
        <p:spPr>
          <a:xfrm>
            <a:off x="457200" y="960120"/>
            <a:ext cx="8193024" cy="5303520"/>
          </a:xfrm>
          <a:prstGeom prst="rect">
            <a:avLst/>
          </a:prstGeom>
        </p:spPr>
        <p:txBody>
          <a:bodyPr spcFirstLastPara="1" wrap="square" lIns="91425" tIns="45700" rIns="91425" bIns="45700" anchor="t" anchorCtr="0">
            <a:normAutofit/>
          </a:bodyPr>
          <a:lstStyle/>
          <a:p>
            <a:pPr marL="228600" indent="0" algn="l" rtl="0">
              <a:lnSpc>
                <a:spcPct val="150000"/>
              </a:lnSpc>
              <a:spcBef>
                <a:spcPts val="360"/>
              </a:spcBef>
              <a:spcAft>
                <a:spcPts val="700"/>
              </a:spcAft>
              <a:buClr>
                <a:schemeClr val="dk1"/>
              </a:buClr>
              <a:buSzPct val="90000"/>
              <a:buFont typeface="Arial"/>
              <a:buNone/>
            </a:pPr>
            <a:r>
              <a:rPr lang="en-IN" sz="1300" b="1" dirty="0">
                <a:latin typeface="Times New Roman" panose="02020603050405020304" pitchFamily="18" charset="0"/>
                <a:ea typeface="Bookman Old Style"/>
                <a:cs typeface="Times New Roman" panose="02020603050405020304" pitchFamily="18" charset="0"/>
                <a:sym typeface="Bookman Old Style"/>
              </a:rPr>
              <a:t>Planned contribution: IndiaTravel — the first India-specific benchmark for travel-planning AI agents.</a:t>
            </a:r>
            <a:endParaRPr sz="1800" b="0" dirty="0">
              <a:latin typeface="Times New Roman" panose="02020603050405020304" pitchFamily="18" charset="0"/>
              <a:cs typeface="Times New Roman" panose="02020603050405020304" pitchFamily="18" charset="0"/>
            </a:endParaRPr>
          </a:p>
          <a:p>
            <a:pPr marL="228600" lvl="1" indent="0" algn="l" rtl="0">
              <a:lnSpc>
                <a:spcPct val="150000"/>
              </a:lnSpc>
              <a:spcBef>
                <a:spcPts val="360"/>
              </a:spcBef>
              <a:spcAft>
                <a:spcPts val="700"/>
              </a:spcAft>
              <a:buClr>
                <a:schemeClr val="dk1"/>
              </a:buClr>
              <a:buSzPct val="90000"/>
              <a:buFont typeface="Arial"/>
              <a:buNone/>
            </a:pPr>
            <a:r>
              <a:rPr lang="en-IN" sz="1300" b="0" dirty="0">
                <a:latin typeface="Times New Roman" panose="02020603050405020304" pitchFamily="18" charset="0"/>
                <a:ea typeface="Bookman Old Style"/>
                <a:cs typeface="Times New Roman" panose="02020603050405020304" pitchFamily="18" charset="0"/>
                <a:sym typeface="Bookman Old Style"/>
              </a:rPr>
              <a:t>Modelled on ChinaTravel (Shao et al., ICLR 2026), the equivalent open-ended benchmark for Chinese travel, on which neuro-symbolic agents reach 37.0 percent constraint satisfaction against 2.6 percent for purely neural ones — roughly a tenfold gap.</a:t>
            </a:r>
            <a:endParaRPr sz="1800" b="0" dirty="0">
              <a:latin typeface="Times New Roman" panose="02020603050405020304" pitchFamily="18" charset="0"/>
              <a:cs typeface="Times New Roman" panose="02020603050405020304" pitchFamily="18" charset="0"/>
            </a:endParaRPr>
          </a:p>
          <a:p>
            <a:pPr marL="228600" lvl="1" indent="0" algn="l" rtl="0">
              <a:lnSpc>
                <a:spcPct val="150000"/>
              </a:lnSpc>
              <a:spcBef>
                <a:spcPts val="360"/>
              </a:spcBef>
              <a:spcAft>
                <a:spcPts val="700"/>
              </a:spcAft>
              <a:buClr>
                <a:schemeClr val="dk1"/>
              </a:buClr>
              <a:buSzPct val="90000"/>
              <a:buFont typeface="Arial"/>
              <a:buNone/>
            </a:pPr>
            <a:r>
              <a:rPr lang="en-IN" sz="1300" b="0" dirty="0">
                <a:latin typeface="Times New Roman" panose="02020603050405020304" pitchFamily="18" charset="0"/>
                <a:ea typeface="Bookman Old Style"/>
                <a:cs typeface="Times New Roman" panose="02020603050405020304" pitchFamily="18" charset="0"/>
                <a:sym typeface="Bookman Old Style"/>
              </a:rPr>
              <a:t>The novelty is the constraint set. India-specific constraints have no counterpart in the existing benchmarks: temple darshan windows and midday closures, weekly closing days, festival and Dasara crowding, monsoon access to hill roads, vegetarian and Jain food requirements, multi-generational parties with an elder's walking limit, and state-boundary transport changes.</a:t>
            </a:r>
            <a:endParaRPr sz="1800" b="0" dirty="0">
              <a:latin typeface="Times New Roman" panose="02020603050405020304" pitchFamily="18" charset="0"/>
              <a:cs typeface="Times New Roman" panose="02020603050405020304" pitchFamily="18" charset="0"/>
            </a:endParaRPr>
          </a:p>
          <a:p>
            <a:pPr marL="228600" lvl="1" indent="0" algn="l" rtl="0">
              <a:lnSpc>
                <a:spcPct val="150000"/>
              </a:lnSpc>
              <a:spcBef>
                <a:spcPts val="360"/>
              </a:spcBef>
              <a:spcAft>
                <a:spcPts val="700"/>
              </a:spcAft>
              <a:buClr>
                <a:schemeClr val="dk1"/>
              </a:buClr>
              <a:buSzPct val="90000"/>
              <a:buFont typeface="Arial"/>
              <a:buNone/>
            </a:pPr>
            <a:r>
              <a:rPr lang="en-IN" sz="1300" b="0" dirty="0">
                <a:latin typeface="Times New Roman" panose="02020603050405020304" pitchFamily="18" charset="0"/>
                <a:ea typeface="Bookman Old Style"/>
                <a:cs typeface="Times New Roman" panose="02020603050405020304" pitchFamily="18" charset="0"/>
                <a:sym typeface="Bookman Old Style"/>
              </a:rPr>
              <a:t>Our planner, its validator and the 112-place verified dataset are the working reference implementation the benchmark would be released alongside.</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700"/>
              </a:spcAft>
              <a:buClr>
                <a:schemeClr val="dk1"/>
              </a:buClr>
              <a:buSzPct val="90000"/>
              <a:buFont typeface="Arial"/>
              <a:buNone/>
            </a:pPr>
            <a:r>
              <a:rPr lang="en-IN" sz="1300" b="1" dirty="0">
                <a:latin typeface="Times New Roman" panose="02020603050405020304" pitchFamily="18" charset="0"/>
                <a:ea typeface="Bookman Old Style"/>
                <a:cs typeface="Times New Roman" panose="02020603050405020304" pitchFamily="18" charset="0"/>
                <a:sym typeface="Bookman Old Style"/>
              </a:rPr>
              <a:t>Target: a Scopus-indexed conference or journal. Drafting begins after Review 2, once the multilingual and multi-channel objectives provide the second half of the evaluation.</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700"/>
              </a:spcAft>
              <a:buClr>
                <a:schemeClr val="dk1"/>
              </a:buClr>
              <a:buSzPct val="90000"/>
              <a:buFont typeface="Arial"/>
              <a:buNone/>
            </a:pPr>
            <a:r>
              <a:rPr lang="en-IN" sz="1300" b="0" dirty="0">
                <a:latin typeface="Times New Roman" panose="02020603050405020304" pitchFamily="18" charset="0"/>
                <a:ea typeface="Bookman Old Style"/>
                <a:cs typeface="Times New Roman" panose="02020603050405020304" pitchFamily="18" charset="0"/>
                <a:sym typeface="Bookman Old Style"/>
              </a:rPr>
              <a:t>The report will be prepared in LaTeX and checked through Turnitin, to remain under the fifteen percent similarity requirement.</a:t>
            </a:r>
            <a:endParaRPr sz="1800" b="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F7E51F1-3898-D2F1-E130-E335DF49869E}"/>
              </a:ext>
            </a:extLst>
          </p:cNvPr>
          <p:cNvSpPr>
            <a:spLocks noGrp="1"/>
          </p:cNvSpPr>
          <p:nvPr>
            <p:ph type="ftr" idx="11"/>
          </p:nvPr>
        </p:nvSpPr>
        <p:spPr>
          <a:xfrm>
            <a:off x="457200" y="6492875"/>
            <a:ext cx="7790688" cy="283845"/>
          </a:xfrm>
        </p:spPr>
        <p:txBody>
          <a:bodyPr/>
          <a:lstStyle/>
          <a:p>
            <a:r>
              <a:rPr lang="en-US" dirty="0"/>
              <a:t>Dept. of ISE,BMSIT&amp;M                       7th Semester, MAJOR PROJECT PHASE-2 (BCS705) REVIEW ‘1                             AY : 2026-27 </a:t>
            </a:r>
            <a:endParaRPr lang="en-IN" dirty="0"/>
          </a:p>
        </p:txBody>
      </p:sp>
      <p:sp>
        <p:nvSpPr>
          <p:cNvPr id="6" name="Slide Number Placeholder 5">
            <a:extLst>
              <a:ext uri="{FF2B5EF4-FFF2-40B4-BE49-F238E27FC236}">
                <a16:creationId xmlns:a16="http://schemas.microsoft.com/office/drawing/2014/main" id="{D4FBF170-66C7-99AD-5F18-88CCB6F91C6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11</a:t>
            </a:fld>
            <a:endParaRPr lang="en-IN"/>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6" name="Google Shape;136;g3a64a40ef39_2_8"/>
          <p:cNvSpPr txBox="1">
            <a:spLocks noGrp="1"/>
          </p:cNvSpPr>
          <p:nvPr>
            <p:ph type="title"/>
          </p:nvPr>
        </p:nvSpPr>
        <p:spPr>
          <a:xfrm>
            <a:off x="457200" y="155448"/>
            <a:ext cx="8193024" cy="749808"/>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IN" dirty="0" sz="3000">
                <a:latin typeface="Times New Roman" panose="02020603050405020304" pitchFamily="18" charset="0"/>
                <a:cs typeface="Times New Roman" panose="02020603050405020304" pitchFamily="18" charset="0"/>
              </a:rPr>
              <a:t>METHODOLOGY (contd.)</a:t>
            </a:r>
            <a:endParaRPr dirty="0">
              <a:latin typeface="Times New Roman" panose="02020603050405020304" pitchFamily="18" charset="0"/>
              <a:cs typeface="Times New Roman" panose="02020603050405020304" pitchFamily="18" charset="0"/>
            </a:endParaRPr>
          </a:p>
        </p:txBody>
      </p:sp>
      <p:sp>
        <p:nvSpPr>
          <p:cNvPr id="137" name="Google Shape;137;g3a64a40ef39_2_8"/>
          <p:cNvSpPr txBox="1">
            <a:spLocks noGrp="1"/>
          </p:cNvSpPr>
          <p:nvPr>
            <p:ph type="body" idx="1"/>
          </p:nvPr>
        </p:nvSpPr>
        <p:spPr>
          <a:xfrm>
            <a:off x="457200" y="914400"/>
            <a:ext cx="8193024" cy="457200"/>
          </a:xfrm>
          <a:prstGeom prst="rect">
            <a:avLst/>
          </a:prstGeom>
        </p:spPr>
        <p:txBody>
          <a:bodyPr spcFirstLastPara="1" wrap="square" lIns="91425" tIns="45700" rIns="91425" bIns="45700" anchor="t" anchorCtr="0">
            <a:normAutofit/>
          </a:bodyPr>
          <a:lstStyle/>
          <a:p>
            <a:pPr marL="457200" indent="-368300" algn="l" rtl="0">
              <a:lnSpc>
                <a:spcPct val="115000"/>
              </a:lnSpc>
              <a:spcBef>
                <a:spcPts val="0"/>
              </a:spcBef>
              <a:spcAft>
                <a:spcPts val="200"/>
              </a:spcAft>
              <a:buSzPts val="2200"/>
              <a:buFont typeface="Roboto"/>
              <a:buChar char="●"/>
            </a:pPr>
            <a:r>
              <a:rPr lang="en-IN" sz="1400" b="1" dirty="0">
                <a:latin typeface="Times New Roman" panose="02020603050405020304" pitchFamily="18" charset="0"/>
                <a:ea typeface="Roboto"/>
                <a:cs typeface="Times New Roman" panose="02020603050405020304" pitchFamily="18" charset="0"/>
                <a:sym typeface="Roboto"/>
              </a:rPr>
              <a:t>The validator is the contract. A plan is only returned once every check passes, or the request is refused with the arithmetic shown.</a:t>
            </a:r>
            <a:endParaRPr sz="2200" b="0" dirty="0">
              <a:latin typeface="Times New Roman" panose="02020603050405020304" pitchFamily="18" charset="0"/>
              <a:ea typeface="Roboto"/>
              <a:cs typeface="Times New Roman" panose="02020603050405020304" pitchFamily="18" charset="0"/>
              <a:sym typeface="Roboto"/>
            </a:endParaRPr>
          </a:p>
        </p:txBody>
      </p:sp>
      <p:sp>
        <p:nvSpPr>
          <p:cNvPr id="4" name="Slide Number Placeholder 3">
            <a:extLst>
              <a:ext uri="{FF2B5EF4-FFF2-40B4-BE49-F238E27FC236}">
                <a16:creationId xmlns:a16="http://schemas.microsoft.com/office/drawing/2014/main" id="{535B6E70-8782-7CF1-A492-D7C8D753238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7</a:t>
            </a:fld>
            <a:endParaRPr lang="en-IN"/>
          </a:p>
        </p:txBody>
      </p:sp>
      <p:sp>
        <p:nvSpPr>
          <p:cNvPr id="5" name="Footer Placeholder 4">
            <a:extLst>
              <a:ext uri="{FF2B5EF4-FFF2-40B4-BE49-F238E27FC236}">
                <a16:creationId xmlns:a16="http://schemas.microsoft.com/office/drawing/2014/main" id="{FBF5039F-2A94-A08F-F818-4DDB82E2B044}"/>
              </a:ext>
            </a:extLst>
          </p:cNvPr>
          <p:cNvSpPr>
            <a:spLocks noGrp="1"/>
          </p:cNvSpPr>
          <p:nvPr>
            <p:ph type="ftr" idx="11"/>
          </p:nvPr>
        </p:nvSpPr>
        <p:spPr>
          <a:xfrm>
            <a:off x="457200" y="6492875"/>
            <a:ext cx="8065008" cy="283845"/>
          </a:xfrm>
        </p:spPr>
        <p:txBody>
          <a:bodyPr/>
          <a:lstStyle/>
          <a:p>
            <a:r>
              <a:rPr lang="en-US" dirty="0"/>
              <a:t>Dept. of ISE,BMSIT&amp;M                       7th Semester, MAJOR PROJECT PHASE-2 (BCS705) REVIEW ‘1                             AY : 2026-27 </a:t>
            </a:r>
            <a:endParaRPr lang="en-IN" dirty="0"/>
          </a:p>
        </p:txBody>
      </p:sp>
      <p:sp>
        <p:nvSpPr>
          <p:cNvPr id="138" name="TextBox 137"/>
          <p:cNvSpPr txBox="1"/>
          <p:nvPr/>
        </p:nvSpPr>
        <p:spPr>
          <a:xfrm>
            <a:off x="502920" y="1463040"/>
            <a:ext cx="4206240" cy="228600"/>
          </a:xfrm>
          <a:prstGeom prst="rect">
            <a:avLst/>
          </a:prstGeom>
          <a:noFill/>
        </p:spPr>
        <p:txBody>
          <a:bodyPr wrap="square" lIns="0" rIns="0" tIns="0" bIns="0">
            <a:spAutoFit/>
          </a:bodyPr>
          <a:lstStyle/>
          <a:p>
            <a:pPr algn="l"/>
            <a:r>
              <a:rPr sz="1100" b="1" i="0">
                <a:solidFill>
                  <a:srgbClr val="000000"/>
                </a:solidFill>
                <a:latin typeface="Times New Roman"/>
              </a:rPr>
              <a:t>Repair loop (maximum eight iterations)</a:t>
            </a:r>
          </a:p>
        </p:txBody>
      </p:sp>
      <p:sp>
        <p:nvSpPr>
          <p:cNvPr id="139" name="Rounded Rectangle 138"/>
          <p:cNvSpPr/>
          <p:nvPr/>
        </p:nvSpPr>
        <p:spPr>
          <a:xfrm>
            <a:off x="502920" y="1783080"/>
            <a:ext cx="2377440" cy="457200"/>
          </a:xfrm>
          <a:prstGeom prst="roundRect">
            <a:avLst/>
          </a:prstGeom>
          <a:solidFill>
            <a:srgbClr val="FFFFFF"/>
          </a:solidFill>
          <a:ln w="19050">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00" b="1">
                <a:solidFill>
                  <a:srgbClr val="000000"/>
                </a:solidFill>
                <a:latin typeface="Times New Roman"/>
              </a:rPr>
              <a:t>Build the day</a:t>
            </a:r>
          </a:p>
        </p:txBody>
      </p:sp>
      <p:sp>
        <p:nvSpPr>
          <p:cNvPr id="140" name="Rounded Rectangle 139"/>
          <p:cNvSpPr/>
          <p:nvPr/>
        </p:nvSpPr>
        <p:spPr>
          <a:xfrm>
            <a:off x="502920" y="2569464"/>
            <a:ext cx="2377440" cy="457200"/>
          </a:xfrm>
          <a:prstGeom prst="roundRect">
            <a:avLst/>
          </a:prstGeom>
          <a:solidFill>
            <a:srgbClr val="FFFFFF"/>
          </a:solidFill>
          <a:ln w="19050">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00" b="1">
                <a:solidFill>
                  <a:srgbClr val="000000"/>
                </a:solidFill>
                <a:latin typeface="Times New Roman"/>
              </a:rPr>
              <a:t>Validate: 6 checks per day</a:t>
            </a:r>
          </a:p>
        </p:txBody>
      </p:sp>
      <p:sp>
        <p:nvSpPr>
          <p:cNvPr id="141" name="Diamond 140"/>
          <p:cNvSpPr/>
          <p:nvPr/>
        </p:nvSpPr>
        <p:spPr>
          <a:xfrm>
            <a:off x="502920" y="3355848"/>
            <a:ext cx="2377440" cy="566928"/>
          </a:xfrm>
          <a:prstGeom prst="diamond">
            <a:avLst/>
          </a:prstGeom>
          <a:solidFill>
            <a:srgbClr val="FFFFFF"/>
          </a:solidFill>
          <a:ln w="19050">
            <a:solidFill>
              <a:srgbClr val="7A7A7A"/>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00" b="1">
                <a:solidFill>
                  <a:srgbClr val="000000"/>
                </a:solidFill>
                <a:latin typeface="Times New Roman"/>
              </a:rPr>
              <a:t>Any violation?</a:t>
            </a:r>
          </a:p>
        </p:txBody>
      </p:sp>
      <p:sp>
        <p:nvSpPr>
          <p:cNvPr id="142" name="Rounded Rectangle 141"/>
          <p:cNvSpPr/>
          <p:nvPr/>
        </p:nvSpPr>
        <p:spPr>
          <a:xfrm>
            <a:off x="502920" y="4197096"/>
            <a:ext cx="2377440" cy="566928"/>
          </a:xfrm>
          <a:prstGeom prst="roundRect">
            <a:avLst/>
          </a:prstGeom>
          <a:solidFill>
            <a:srgbClr val="FFFFFF"/>
          </a:solidFill>
          <a:ln w="19050">
            <a:solidFill>
              <a:srgbClr val="D1282E"/>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950" b="1">
                <a:solidFill>
                  <a:srgbClr val="000000"/>
                </a:solidFill>
                <a:latin typeface="Times New Roman"/>
              </a:rPr>
              <a:t>Drop the lowest-scoring flexible</a:t>
            </a:r>
          </a:p>
          <a:p>
            <a:pPr algn="ctr"/>
            <a:r>
              <a:rPr sz="850" b="0">
                <a:solidFill>
                  <a:srgbClr val="000000"/>
                </a:solidFill>
                <a:latin typeface="Times New Roman"/>
              </a:rPr>
              <a:t>stop of the least-repaired day</a:t>
            </a:r>
          </a:p>
        </p:txBody>
      </p:sp>
      <p:sp>
        <p:nvSpPr>
          <p:cNvPr id="143" name="Rounded Rectangle 142"/>
          <p:cNvSpPr/>
          <p:nvPr/>
        </p:nvSpPr>
        <p:spPr>
          <a:xfrm>
            <a:off x="3200400" y="3355848"/>
            <a:ext cx="1325880" cy="457200"/>
          </a:xfrm>
          <a:prstGeom prst="roundRect">
            <a:avLst/>
          </a:prstGeom>
          <a:solidFill>
            <a:srgbClr val="C8C8B1"/>
          </a:solidFill>
          <a:ln w="19050">
            <a:solidFill>
              <a:srgbClr val="526DB0"/>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54000" bIns="54000"/>
          <a:lstStyle/>
          <a:p>
            <a:pPr algn="ctr"/>
            <a:r>
              <a:rPr sz="1000" b="1">
                <a:solidFill>
                  <a:srgbClr val="000000"/>
                </a:solidFill>
                <a:latin typeface="Times New Roman"/>
              </a:rPr>
              <a:t>Plan returned</a:t>
            </a:r>
          </a:p>
        </p:txBody>
      </p:sp>
      <p:cxnSp>
        <p:nvCxnSpPr>
          <p:cNvPr id="144" name="Connector 143"/>
          <p:cNvCxnSpPr/>
          <p:nvPr/>
        </p:nvCxnSpPr>
        <p:spPr>
          <a:xfrm>
            <a:off x="1691640" y="2240280"/>
            <a:ext cx="0" cy="329184"/>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1691640" y="3026664"/>
            <a:ext cx="0" cy="329184"/>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2880360" y="3584448"/>
            <a:ext cx="320040" cy="54864"/>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2898648" y="3346704"/>
            <a:ext cx="320040" cy="182880"/>
          </a:xfrm>
          <a:prstGeom prst="rect">
            <a:avLst/>
          </a:prstGeom>
          <a:noFill/>
        </p:spPr>
        <p:txBody>
          <a:bodyPr wrap="square" lIns="0" rIns="0" tIns="0" bIns="0">
            <a:spAutoFit/>
          </a:bodyPr>
          <a:lstStyle/>
          <a:p>
            <a:pPr algn="l"/>
            <a:r>
              <a:rPr sz="900" b="0" i="0">
                <a:solidFill>
                  <a:srgbClr val="000000"/>
                </a:solidFill>
                <a:latin typeface="Times New Roman"/>
              </a:rPr>
              <a:t>no</a:t>
            </a:r>
          </a:p>
        </p:txBody>
      </p:sp>
      <p:cxnSp>
        <p:nvCxnSpPr>
          <p:cNvPr id="148" name="Connector 147"/>
          <p:cNvCxnSpPr/>
          <p:nvPr/>
        </p:nvCxnSpPr>
        <p:spPr>
          <a:xfrm>
            <a:off x="1691640" y="3922776"/>
            <a:ext cx="0" cy="292608"/>
          </a:xfrm>
          <a:prstGeom prst="line">
            <a:avLst/>
          </a:prstGeom>
          <a:ln w="15875">
            <a:solidFill>
              <a:srgbClr val="7A7A7A"/>
            </a:solidFill>
            <a:tailEnd type="triangle" w="sm" len="sm"/>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1746504" y="3959352"/>
            <a:ext cx="365760" cy="182880"/>
          </a:xfrm>
          <a:prstGeom prst="rect">
            <a:avLst/>
          </a:prstGeom>
          <a:noFill/>
        </p:spPr>
        <p:txBody>
          <a:bodyPr wrap="square" lIns="0" rIns="0" tIns="0" bIns="0">
            <a:spAutoFit/>
          </a:bodyPr>
          <a:lstStyle/>
          <a:p>
            <a:pPr algn="l"/>
            <a:r>
              <a:rPr sz="900" b="0" i="0">
                <a:solidFill>
                  <a:srgbClr val="000000"/>
                </a:solidFill>
                <a:latin typeface="Times New Roman"/>
              </a:rPr>
              <a:t>yes</a:t>
            </a:r>
          </a:p>
        </p:txBody>
      </p:sp>
      <p:cxnSp>
        <p:nvCxnSpPr>
          <p:cNvPr id="150" name="Connector 149"/>
          <p:cNvCxnSpPr/>
          <p:nvPr/>
        </p:nvCxnSpPr>
        <p:spPr>
          <a:xfrm flipH="1">
            <a:off x="228600" y="4480560"/>
            <a:ext cx="274320" cy="0"/>
          </a:xfrm>
          <a:prstGeom prst="line">
            <a:avLst/>
          </a:prstGeom>
          <a:ln w="15875">
            <a:solidFill>
              <a:srgbClr val="D1282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228600" y="2011680"/>
            <a:ext cx="0" cy="2468880"/>
          </a:xfrm>
          <a:prstGeom prst="line">
            <a:avLst/>
          </a:prstGeom>
          <a:ln w="15875">
            <a:solidFill>
              <a:srgbClr val="D1282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228600" y="2011680"/>
            <a:ext cx="274320" cy="0"/>
          </a:xfrm>
          <a:prstGeom prst="line">
            <a:avLst/>
          </a:prstGeom>
          <a:ln w="15875">
            <a:solidFill>
              <a:srgbClr val="D1282E"/>
            </a:solidFill>
            <a:tailEnd type="triangle" w="sm" len="sm"/>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502920" y="4846320"/>
            <a:ext cx="4114800" cy="685800"/>
          </a:xfrm>
          <a:prstGeom prst="rect">
            <a:avLst/>
          </a:prstGeom>
          <a:noFill/>
        </p:spPr>
        <p:txBody>
          <a:bodyPr wrap="square" lIns="0" rIns="0" tIns="0" bIns="0">
            <a:spAutoFit/>
          </a:bodyPr>
          <a:lstStyle/>
          <a:p>
            <a:pPr algn="l"/>
            <a:r>
              <a:rPr sz="1000" b="0" i="1">
                <a:solidFill>
                  <a:srgbClr val="333333"/>
                </a:solidFill>
                <a:latin typeface="Times New Roman"/>
              </a:rPr>
              <a:t>The fixed-time anchor of a day is never dropped. Only the day named by the violation is rebuilt; every other day is left byte-for-byte identical.</a:t>
            </a:r>
          </a:p>
        </p:txBody>
      </p:sp>
      <p:sp>
        <p:nvSpPr>
          <p:cNvPr id="154" name="TextBox 153"/>
          <p:cNvSpPr txBox="1"/>
          <p:nvPr/>
        </p:nvSpPr>
        <p:spPr>
          <a:xfrm>
            <a:off x="4892040" y="1444752"/>
            <a:ext cx="3749039" cy="228600"/>
          </a:xfrm>
          <a:prstGeom prst="rect">
            <a:avLst/>
          </a:prstGeom>
          <a:noFill/>
        </p:spPr>
        <p:txBody>
          <a:bodyPr wrap="square" lIns="0" rIns="0" tIns="0" bIns="0">
            <a:spAutoFit/>
          </a:bodyPr>
          <a:lstStyle/>
          <a:p>
            <a:pPr algn="l"/>
            <a:r>
              <a:rPr sz="1100" b="1" i="0">
                <a:solidFill>
                  <a:srgbClr val="000000"/>
                </a:solidFill>
                <a:latin typeface="Times New Roman"/>
              </a:rPr>
              <a:t>Why a solver and not the model alone</a:t>
            </a:r>
          </a:p>
        </p:txBody>
      </p:sp>
      <p:sp>
        <p:nvSpPr>
          <p:cNvPr id="155" name="TextBox 154"/>
          <p:cNvSpPr txBox="1"/>
          <p:nvPr/>
        </p:nvSpPr>
        <p:spPr>
          <a:xfrm>
            <a:off x="4892040" y="1755648"/>
            <a:ext cx="3749039" cy="219456"/>
          </a:xfrm>
          <a:prstGeom prst="rect">
            <a:avLst/>
          </a:prstGeom>
          <a:noFill/>
        </p:spPr>
        <p:txBody>
          <a:bodyPr wrap="square" lIns="0" rIns="0" tIns="0" bIns="0">
            <a:spAutoFit/>
          </a:bodyPr>
          <a:lstStyle/>
          <a:p>
            <a:pPr algn="l"/>
            <a:r>
              <a:rPr sz="850" b="0" i="1">
                <a:solidFill>
                  <a:srgbClr val="7A7A7A"/>
                </a:solidFill>
                <a:latin typeface="Times New Roman"/>
              </a:rPr>
              <a:t>TravelPlanner (Xie et al., ICML 2024) — final pass rate [1]</a:t>
            </a:r>
          </a:p>
        </p:txBody>
      </p:sp>
      <p:sp>
        <p:nvSpPr>
          <p:cNvPr id="156" name="Rectangle 155"/>
          <p:cNvSpPr/>
          <p:nvPr/>
        </p:nvSpPr>
        <p:spPr>
          <a:xfrm>
            <a:off x="6144768" y="1993391"/>
            <a:ext cx="45720" cy="237744"/>
          </a:xfrm>
          <a:prstGeom prst="rect">
            <a:avLst/>
          </a:prstGeom>
          <a:solidFill>
            <a:srgbClr val="D1282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000" rIns="36000"/>
          <a:lstStyle/>
          <a:p>
            <a:pPr algn="r"/>
            <a:r>
              <a:rPr sz="900" b="1">
                <a:solidFill>
                  <a:srgbClr val="FFFFFF"/>
                </a:solidFill>
                <a:latin typeface="Times New Roman"/>
              </a:rPr>
              <a:t/>
            </a:r>
          </a:p>
        </p:txBody>
      </p:sp>
      <p:sp>
        <p:nvSpPr>
          <p:cNvPr id="157" name="TextBox 156"/>
          <p:cNvSpPr txBox="1"/>
          <p:nvPr/>
        </p:nvSpPr>
        <p:spPr>
          <a:xfrm>
            <a:off x="4892040" y="2011679"/>
            <a:ext cx="1188720" cy="219456"/>
          </a:xfrm>
          <a:prstGeom prst="rect">
            <a:avLst/>
          </a:prstGeom>
          <a:noFill/>
        </p:spPr>
        <p:txBody>
          <a:bodyPr wrap="square" lIns="0" rIns="0" tIns="0" bIns="0">
            <a:spAutoFit/>
          </a:bodyPr>
          <a:lstStyle/>
          <a:p>
            <a:pPr algn="r"/>
            <a:r>
              <a:rPr sz="900" b="0" i="0">
                <a:solidFill>
                  <a:srgbClr val="000000"/>
                </a:solidFill>
                <a:latin typeface="Times New Roman"/>
              </a:rPr>
              <a:t>GPT-4-Turbo</a:t>
            </a:r>
          </a:p>
        </p:txBody>
      </p:sp>
      <p:sp>
        <p:nvSpPr>
          <p:cNvPr id="158" name="TextBox 157"/>
          <p:cNvSpPr txBox="1"/>
          <p:nvPr/>
        </p:nvSpPr>
        <p:spPr>
          <a:xfrm>
            <a:off x="6254496" y="2002535"/>
            <a:ext cx="914400" cy="219456"/>
          </a:xfrm>
          <a:prstGeom prst="rect">
            <a:avLst/>
          </a:prstGeom>
          <a:noFill/>
        </p:spPr>
        <p:txBody>
          <a:bodyPr wrap="square" lIns="0" rIns="0" tIns="0" bIns="0">
            <a:spAutoFit/>
          </a:bodyPr>
          <a:lstStyle/>
          <a:p>
            <a:pPr algn="l"/>
            <a:r>
              <a:rPr sz="950" b="1" i="0">
                <a:solidFill>
                  <a:srgbClr val="000000"/>
                </a:solidFill>
                <a:latin typeface="Times New Roman"/>
              </a:rPr>
              <a:t>0.6%</a:t>
            </a:r>
          </a:p>
        </p:txBody>
      </p:sp>
      <p:sp>
        <p:nvSpPr>
          <p:cNvPr id="159" name="Rectangle 158"/>
          <p:cNvSpPr/>
          <p:nvPr/>
        </p:nvSpPr>
        <p:spPr>
          <a:xfrm>
            <a:off x="6144768" y="2313432"/>
            <a:ext cx="2173071" cy="237744"/>
          </a:xfrm>
          <a:prstGeom prst="rect">
            <a:avLst/>
          </a:prstGeom>
          <a:solidFill>
            <a:srgbClr val="526DB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000" rIns="36000"/>
          <a:lstStyle/>
          <a:p>
            <a:pPr algn="r"/>
            <a:r>
              <a:rPr sz="900" b="1">
                <a:solidFill>
                  <a:srgbClr val="FFFFFF"/>
                </a:solidFill>
                <a:latin typeface="Times New Roman"/>
              </a:rPr>
              <a:t/>
            </a:r>
          </a:p>
        </p:txBody>
      </p:sp>
      <p:sp>
        <p:nvSpPr>
          <p:cNvPr id="160" name="TextBox 159"/>
          <p:cNvSpPr txBox="1"/>
          <p:nvPr/>
        </p:nvSpPr>
        <p:spPr>
          <a:xfrm>
            <a:off x="4892040" y="2331720"/>
            <a:ext cx="1188720" cy="219456"/>
          </a:xfrm>
          <a:prstGeom prst="rect">
            <a:avLst/>
          </a:prstGeom>
          <a:noFill/>
        </p:spPr>
        <p:txBody>
          <a:bodyPr wrap="square" lIns="0" rIns="0" tIns="0" bIns="0">
            <a:spAutoFit/>
          </a:bodyPr>
          <a:lstStyle/>
          <a:p>
            <a:pPr algn="r"/>
            <a:r>
              <a:rPr sz="900" b="0" i="0">
                <a:solidFill>
                  <a:srgbClr val="000000"/>
                </a:solidFill>
                <a:latin typeface="Times New Roman"/>
              </a:rPr>
              <a:t>LLM + SMT solver [2]</a:t>
            </a:r>
          </a:p>
        </p:txBody>
      </p:sp>
      <p:sp>
        <p:nvSpPr>
          <p:cNvPr id="161" name="TextBox 160"/>
          <p:cNvSpPr txBox="1"/>
          <p:nvPr/>
        </p:nvSpPr>
        <p:spPr>
          <a:xfrm>
            <a:off x="8381847" y="2322575"/>
            <a:ext cx="914400" cy="219456"/>
          </a:xfrm>
          <a:prstGeom prst="rect">
            <a:avLst/>
          </a:prstGeom>
          <a:noFill/>
        </p:spPr>
        <p:txBody>
          <a:bodyPr wrap="square" lIns="0" rIns="0" tIns="0" bIns="0">
            <a:spAutoFit/>
          </a:bodyPr>
          <a:lstStyle/>
          <a:p>
            <a:pPr algn="l"/>
            <a:r>
              <a:rPr sz="950" b="1" i="0">
                <a:solidFill>
                  <a:srgbClr val="000000"/>
                </a:solidFill>
                <a:latin typeface="Times New Roman"/>
              </a:rPr>
              <a:t>97%</a:t>
            </a:r>
          </a:p>
        </p:txBody>
      </p:sp>
      <p:sp>
        <p:nvSpPr>
          <p:cNvPr id="162" name="TextBox 161"/>
          <p:cNvSpPr txBox="1"/>
          <p:nvPr/>
        </p:nvSpPr>
        <p:spPr>
          <a:xfrm>
            <a:off x="4892040" y="2724912"/>
            <a:ext cx="3749039" cy="219456"/>
          </a:xfrm>
          <a:prstGeom prst="rect">
            <a:avLst/>
          </a:prstGeom>
          <a:noFill/>
        </p:spPr>
        <p:txBody>
          <a:bodyPr wrap="square" lIns="0" rIns="0" tIns="0" bIns="0">
            <a:spAutoFit/>
          </a:bodyPr>
          <a:lstStyle/>
          <a:p>
            <a:pPr algn="l"/>
            <a:r>
              <a:rPr sz="850" b="0" i="1">
                <a:solidFill>
                  <a:srgbClr val="7A7A7A"/>
                </a:solidFill>
                <a:latin typeface="Times New Roman"/>
              </a:rPr>
              <a:t>ChinaTravel (Shao et al., ICLR 2026) — constraint satisfaction [3]</a:t>
            </a:r>
          </a:p>
        </p:txBody>
      </p:sp>
      <p:sp>
        <p:nvSpPr>
          <p:cNvPr id="163" name="Rectangle 162"/>
          <p:cNvSpPr/>
          <p:nvPr/>
        </p:nvSpPr>
        <p:spPr>
          <a:xfrm>
            <a:off x="6144768" y="2962656"/>
            <a:ext cx="58247" cy="237744"/>
          </a:xfrm>
          <a:prstGeom prst="rect">
            <a:avLst/>
          </a:prstGeom>
          <a:solidFill>
            <a:srgbClr val="D1282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000" rIns="36000"/>
          <a:lstStyle/>
          <a:p>
            <a:pPr algn="r"/>
            <a:r>
              <a:rPr sz="900" b="1">
                <a:solidFill>
                  <a:srgbClr val="FFFFFF"/>
                </a:solidFill>
                <a:latin typeface="Times New Roman"/>
              </a:rPr>
              <a:t/>
            </a:r>
          </a:p>
        </p:txBody>
      </p:sp>
      <p:sp>
        <p:nvSpPr>
          <p:cNvPr id="164" name="TextBox 163"/>
          <p:cNvSpPr txBox="1"/>
          <p:nvPr/>
        </p:nvSpPr>
        <p:spPr>
          <a:xfrm>
            <a:off x="4892040" y="2980944"/>
            <a:ext cx="1188720" cy="219456"/>
          </a:xfrm>
          <a:prstGeom prst="rect">
            <a:avLst/>
          </a:prstGeom>
          <a:noFill/>
        </p:spPr>
        <p:txBody>
          <a:bodyPr wrap="square" lIns="0" rIns="0" tIns="0" bIns="0">
            <a:spAutoFit/>
          </a:bodyPr>
          <a:lstStyle/>
          <a:p>
            <a:pPr algn="r"/>
            <a:r>
              <a:rPr sz="900" b="0" i="0">
                <a:solidFill>
                  <a:srgbClr val="000000"/>
                </a:solidFill>
                <a:latin typeface="Times New Roman"/>
              </a:rPr>
              <a:t>Purely neural</a:t>
            </a:r>
          </a:p>
        </p:txBody>
      </p:sp>
      <p:sp>
        <p:nvSpPr>
          <p:cNvPr id="165" name="TextBox 164"/>
          <p:cNvSpPr txBox="1"/>
          <p:nvPr/>
        </p:nvSpPr>
        <p:spPr>
          <a:xfrm>
            <a:off x="6267023" y="2971800"/>
            <a:ext cx="914400" cy="219456"/>
          </a:xfrm>
          <a:prstGeom prst="rect">
            <a:avLst/>
          </a:prstGeom>
          <a:noFill/>
        </p:spPr>
        <p:txBody>
          <a:bodyPr wrap="square" lIns="0" rIns="0" tIns="0" bIns="0">
            <a:spAutoFit/>
          </a:bodyPr>
          <a:lstStyle/>
          <a:p>
            <a:pPr algn="l"/>
            <a:r>
              <a:rPr sz="950" b="1" i="0">
                <a:solidFill>
                  <a:srgbClr val="000000"/>
                </a:solidFill>
                <a:latin typeface="Times New Roman"/>
              </a:rPr>
              <a:t>2.6%</a:t>
            </a:r>
          </a:p>
        </p:txBody>
      </p:sp>
      <p:sp>
        <p:nvSpPr>
          <p:cNvPr id="166" name="Rectangle 165"/>
          <p:cNvSpPr/>
          <p:nvPr/>
        </p:nvSpPr>
        <p:spPr>
          <a:xfrm>
            <a:off x="6144768" y="3282696"/>
            <a:ext cx="828903" cy="237744"/>
          </a:xfrm>
          <a:prstGeom prst="rect">
            <a:avLst/>
          </a:prstGeom>
          <a:solidFill>
            <a:srgbClr val="526DB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000" rIns="36000"/>
          <a:lstStyle/>
          <a:p>
            <a:pPr algn="r"/>
            <a:r>
              <a:rPr sz="900" b="1">
                <a:solidFill>
                  <a:srgbClr val="FFFFFF"/>
                </a:solidFill>
                <a:latin typeface="Times New Roman"/>
              </a:rPr>
              <a:t/>
            </a:r>
          </a:p>
        </p:txBody>
      </p:sp>
      <p:sp>
        <p:nvSpPr>
          <p:cNvPr id="167" name="TextBox 166"/>
          <p:cNvSpPr txBox="1"/>
          <p:nvPr/>
        </p:nvSpPr>
        <p:spPr>
          <a:xfrm>
            <a:off x="4892040" y="3300984"/>
            <a:ext cx="1188720" cy="219456"/>
          </a:xfrm>
          <a:prstGeom prst="rect">
            <a:avLst/>
          </a:prstGeom>
          <a:noFill/>
        </p:spPr>
        <p:txBody>
          <a:bodyPr wrap="square" lIns="0" rIns="0" tIns="0" bIns="0">
            <a:spAutoFit/>
          </a:bodyPr>
          <a:lstStyle/>
          <a:p>
            <a:pPr algn="r"/>
            <a:r>
              <a:rPr sz="900" b="0" i="0">
                <a:solidFill>
                  <a:srgbClr val="000000"/>
                </a:solidFill>
                <a:latin typeface="Times New Roman"/>
              </a:rPr>
              <a:t>Neuro-symbolic</a:t>
            </a:r>
          </a:p>
        </p:txBody>
      </p:sp>
      <p:sp>
        <p:nvSpPr>
          <p:cNvPr id="168" name="TextBox 167"/>
          <p:cNvSpPr txBox="1"/>
          <p:nvPr/>
        </p:nvSpPr>
        <p:spPr>
          <a:xfrm>
            <a:off x="7037679" y="3291840"/>
            <a:ext cx="914400" cy="219456"/>
          </a:xfrm>
          <a:prstGeom prst="rect">
            <a:avLst/>
          </a:prstGeom>
          <a:noFill/>
        </p:spPr>
        <p:txBody>
          <a:bodyPr wrap="square" lIns="0" rIns="0" tIns="0" bIns="0">
            <a:spAutoFit/>
          </a:bodyPr>
          <a:lstStyle/>
          <a:p>
            <a:pPr algn="l"/>
            <a:r>
              <a:rPr sz="950" b="1" i="0">
                <a:solidFill>
                  <a:srgbClr val="000000"/>
                </a:solidFill>
                <a:latin typeface="Times New Roman"/>
              </a:rPr>
              <a:t>37%</a:t>
            </a:r>
          </a:p>
        </p:txBody>
      </p:sp>
      <p:sp>
        <p:nvSpPr>
          <p:cNvPr id="169" name="TextBox 168"/>
          <p:cNvSpPr txBox="1"/>
          <p:nvPr/>
        </p:nvSpPr>
        <p:spPr>
          <a:xfrm>
            <a:off x="4892040" y="3675887"/>
            <a:ext cx="3749039" cy="1371600"/>
          </a:xfrm>
          <a:prstGeom prst="rect">
            <a:avLst/>
          </a:prstGeom>
          <a:noFill/>
        </p:spPr>
        <p:txBody>
          <a:bodyPr wrap="square" lIns="0" rIns="0" tIns="0" bIns="0">
            <a:spAutoFit/>
          </a:bodyPr>
          <a:lstStyle/>
          <a:p>
            <a:pPr algn="l"/>
            <a:r>
              <a:rPr sz="1000" b="0" i="0">
                <a:solidFill>
                  <a:srgbClr val="000000"/>
                </a:solidFill>
                <a:latin typeface="Times New Roman"/>
              </a:rPr>
              <a:t>Pure language-model agents score in the low single digits on both benchmarks. Pairing the model with a solver raises that by more than an order of magnitude on both. These are the published figures, not ours, and they are why the planner here is a solver and the model is kept out of the decision.</a:t>
            </a:r>
          </a:p>
        </p:txBody>
      </p:sp>
      <p:sp>
        <p:nvSpPr>
          <p:cNvPr id="170" name="TextBox 169"/>
          <p:cNvSpPr txBox="1"/>
          <p:nvPr/>
        </p:nvSpPr>
        <p:spPr>
          <a:xfrm>
            <a:off x="4892040" y="5029200"/>
            <a:ext cx="3749039" cy="548640"/>
          </a:xfrm>
          <a:prstGeom prst="rect">
            <a:avLst/>
          </a:prstGeom>
          <a:noFill/>
        </p:spPr>
        <p:txBody>
          <a:bodyPr wrap="square" lIns="0" rIns="0" tIns="0" bIns="0">
            <a:spAutoFit/>
          </a:bodyPr>
          <a:lstStyle/>
          <a:p>
            <a:pPr algn="l"/>
            <a:r>
              <a:rPr sz="1000" b="1" i="0">
                <a:solidFill>
                  <a:srgbClr val="000000"/>
                </a:solidFill>
                <a:latin typeface="Times New Roman"/>
              </a:rPr>
              <a:t>Our own constraint result on the demonstration trip — 37 of 37 checks passed — is on the results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7" name="Google Shape;157;g3a64a40ef39_2_30"/>
          <p:cNvSpPr txBox="1">
            <a:spLocks noGrp="1"/>
          </p:cNvSpPr>
          <p:nvPr>
            <p:ph type="title"/>
          </p:nvPr>
        </p:nvSpPr>
        <p:spPr>
          <a:xfrm>
            <a:off x="457200" y="155448"/>
            <a:ext cx="8467344" cy="658368"/>
          </a:xfrm>
          <a:prstGeom prst="rect">
            <a:avLst/>
          </a:prstGeom>
        </p:spPr>
        <p:txBody>
          <a:bodyPr spcFirstLastPara="1" wrap="square" lIns="91425" tIns="45700" rIns="91425" bIns="45700" anchor="b" anchorCtr="0">
            <a:normAutofit/>
          </a:bodyPr>
          <a:lstStyle/>
          <a:p>
            <a:pPr marL="0" lvl="0" indent="0" algn="l" rtl="0">
              <a:lnSpc>
                <a:spcPct val="120000"/>
              </a:lnSpc>
              <a:spcBef>
                <a:spcPts val="1118"/>
              </a:spcBef>
              <a:spcAft>
                <a:spcPts val="0"/>
              </a:spcAft>
              <a:buNone/>
            </a:pPr>
            <a:r>
              <a:rPr lang="en-IN" sz="2400" b="1" dirty="0">
                <a:solidFill>
                  <a:schemeClr val="bg2"/>
                </a:solidFill>
                <a:latin typeface="Times New Roman" panose="02020603050405020304" pitchFamily="18" charset="0"/>
                <a:ea typeface="Bookman Old Style"/>
                <a:cs typeface="Times New Roman" panose="02020603050405020304" pitchFamily="18" charset="0"/>
                <a:sym typeface="Bookman Old Style"/>
              </a:rPr>
              <a:t>DEMONSTRATION OF PROJECT EXECUTION (contd. 2/3)</a:t>
            </a:r>
            <a:endParaRPr lang="en-IN" dirty="0">
              <a:solidFill>
                <a:schemeClr val="bg2"/>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55FDBD6-0110-1520-ABF8-F9C077D79D8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8</a:t>
            </a:fld>
            <a:endParaRPr lang="en-IN"/>
          </a:p>
        </p:txBody>
      </p:sp>
      <p:sp>
        <p:nvSpPr>
          <p:cNvPr id="5" name="Footer Placeholder 4">
            <a:extLst>
              <a:ext uri="{FF2B5EF4-FFF2-40B4-BE49-F238E27FC236}">
                <a16:creationId xmlns:a16="http://schemas.microsoft.com/office/drawing/2014/main" id="{6E93C23F-4D2B-57A9-1A85-3DA16F71FCF3}"/>
              </a:ext>
            </a:extLst>
          </p:cNvPr>
          <p:cNvSpPr>
            <a:spLocks noGrp="1"/>
          </p:cNvSpPr>
          <p:nvPr>
            <p:ph type="ftr" idx="11"/>
          </p:nvPr>
        </p:nvSpPr>
        <p:spPr>
          <a:xfrm>
            <a:off x="457200" y="6492875"/>
            <a:ext cx="8119872" cy="283845"/>
          </a:xfrm>
        </p:spPr>
        <p:txBody>
          <a:bodyPr/>
          <a:lstStyle/>
          <a:p>
            <a:r>
              <a:rPr lang="en-US" dirty="0"/>
              <a:t>Dept. of ISE,BMSIT&amp;M                       7th Semester, MAJOR PROJECT PHASE-2 (BCS705) REVIEW ‘1                             AY : 2026-27 </a:t>
            </a:r>
            <a:endParaRPr lang="en-IN" dirty="0"/>
          </a:p>
        </p:txBody>
      </p:sp>
      <p:pic>
        <p:nvPicPr>
          <p:cNvPr id="158" name="Picture 157" descr="09-plan-routed.png"/>
          <p:cNvPicPr>
            <a:picLocks noChangeAspect="1"/>
          </p:cNvPicPr>
          <p:nvPr/>
        </p:nvPicPr>
        <p:blipFill>
          <a:blip r:embed="rId2"/>
          <a:stretch>
            <a:fillRect/>
          </a:stretch>
        </p:blipFill>
        <p:spPr>
          <a:xfrm>
            <a:off x="502920" y="1005840"/>
            <a:ext cx="3611880" cy="2257425"/>
          </a:xfrm>
          <a:prstGeom prst="rect">
            <a:avLst/>
          </a:prstGeom>
          <a:ln w="9525">
            <a:solidFill>
              <a:srgbClr val="7A7A7A"/>
            </a:solidFill>
          </a:ln>
        </p:spPr>
      </p:pic>
      <p:sp>
        <p:nvSpPr>
          <p:cNvPr id="159" name="TextBox 158"/>
          <p:cNvSpPr txBox="1"/>
          <p:nvPr/>
        </p:nvSpPr>
        <p:spPr>
          <a:xfrm>
            <a:off x="502920" y="3299841"/>
            <a:ext cx="3611880" cy="347472"/>
          </a:xfrm>
          <a:prstGeom prst="rect">
            <a:avLst/>
          </a:prstGeom>
          <a:noFill/>
        </p:spPr>
        <p:txBody>
          <a:bodyPr wrap="square" lIns="0" rIns="0" tIns="0" bIns="0">
            <a:spAutoFit/>
          </a:bodyPr>
          <a:lstStyle/>
          <a:p>
            <a:pPr algn="l"/>
            <a:r>
              <a:rPr sz="950" b="0" i="0">
                <a:solidFill>
                  <a:srgbClr val="333333"/>
                </a:solidFill>
                <a:latin typeface="Times New Roman"/>
              </a:rPr>
              <a:t>Plan view: day tabs, the timed rail with travel legs, and the day map. The filled pin is the fixed-time stop.</a:t>
            </a:r>
          </a:p>
        </p:txBody>
      </p:sp>
      <p:pic>
        <p:nvPicPr>
          <p:cNvPr id="160" name="Picture 159" descr="10-plan-day2-listed.png"/>
          <p:cNvPicPr>
            <a:picLocks noChangeAspect="1"/>
          </p:cNvPicPr>
          <p:nvPr/>
        </p:nvPicPr>
        <p:blipFill>
          <a:blip r:embed="rId3"/>
          <a:stretch>
            <a:fillRect/>
          </a:stretch>
        </p:blipFill>
        <p:spPr>
          <a:xfrm>
            <a:off x="4572000" y="1005840"/>
            <a:ext cx="3611880" cy="2257425"/>
          </a:xfrm>
          <a:prstGeom prst="rect">
            <a:avLst/>
          </a:prstGeom>
          <a:ln w="9525">
            <a:solidFill>
              <a:srgbClr val="7A7A7A"/>
            </a:solidFill>
          </a:ln>
        </p:spPr>
      </p:pic>
      <p:sp>
        <p:nvSpPr>
          <p:cNvPr id="161" name="TextBox 160"/>
          <p:cNvSpPr txBox="1"/>
          <p:nvPr/>
        </p:nvSpPr>
        <p:spPr>
          <a:xfrm>
            <a:off x="4572000" y="3299841"/>
            <a:ext cx="3611880" cy="347472"/>
          </a:xfrm>
          <a:prstGeom prst="rect">
            <a:avLst/>
          </a:prstGeom>
          <a:noFill/>
        </p:spPr>
        <p:txBody>
          <a:bodyPr wrap="square" lIns="0" rIns="0" tIns="0" bIns="0">
            <a:spAutoFit/>
          </a:bodyPr>
          <a:lstStyle/>
          <a:p>
            <a:pPr algn="l"/>
            <a:r>
              <a:rPr sz="950" b="0" i="0">
                <a:solidFill>
                  <a:srgbClr val="333333"/>
                </a:solidFill>
                <a:latin typeface="Times New Roman"/>
              </a:rPr>
              <a:t>The same Day 2 drawn as listed — visiting the stops in candidate order costs 10.53 km.</a:t>
            </a:r>
          </a:p>
        </p:txBody>
      </p:sp>
      <p:pic>
        <p:nvPicPr>
          <p:cNvPr id="162" name="Picture 161" descr="11-plan-day2-trace.png"/>
          <p:cNvPicPr>
            <a:picLocks noChangeAspect="1"/>
          </p:cNvPicPr>
          <p:nvPr/>
        </p:nvPicPr>
        <p:blipFill>
          <a:blip r:embed="rId4"/>
          <a:stretch>
            <a:fillRect/>
          </a:stretch>
        </p:blipFill>
        <p:spPr>
          <a:xfrm>
            <a:off x="502920" y="3675887"/>
            <a:ext cx="3611880" cy="2257425"/>
          </a:xfrm>
          <a:prstGeom prst="rect">
            <a:avLst/>
          </a:prstGeom>
          <a:ln w="9525">
            <a:solidFill>
              <a:srgbClr val="7A7A7A"/>
            </a:solidFill>
          </a:ln>
        </p:spPr>
      </p:pic>
      <p:sp>
        <p:nvSpPr>
          <p:cNvPr id="163" name="TextBox 162"/>
          <p:cNvSpPr txBox="1"/>
          <p:nvPr/>
        </p:nvSpPr>
        <p:spPr>
          <a:xfrm>
            <a:off x="502920" y="5969889"/>
            <a:ext cx="3611880" cy="347472"/>
          </a:xfrm>
          <a:prstGeom prst="rect">
            <a:avLst/>
          </a:prstGeom>
          <a:noFill/>
        </p:spPr>
        <p:txBody>
          <a:bodyPr wrap="square" lIns="0" rIns="0" tIns="0" bIns="0">
            <a:spAutoFit/>
          </a:bodyPr>
          <a:lstStyle/>
          <a:p>
            <a:pPr algn="l"/>
            <a:r>
              <a:rPr sz="950" b="0" i="0">
                <a:solidFill>
                  <a:srgbClr val="333333"/>
                </a:solidFill>
                <a:latin typeface="Times New Roman"/>
              </a:rPr>
              <a:t>The trace drawer: every stage of the computation for the day on screen, including the fixes made.</a:t>
            </a:r>
          </a:p>
        </p:txBody>
      </p:sp>
      <p:pic>
        <p:nvPicPr>
          <p:cNvPr id="164" name="Picture 163" descr="12-plan-chat-edit.png"/>
          <p:cNvPicPr>
            <a:picLocks noChangeAspect="1"/>
          </p:cNvPicPr>
          <p:nvPr/>
        </p:nvPicPr>
        <p:blipFill>
          <a:blip r:embed="rId5"/>
          <a:stretch>
            <a:fillRect/>
          </a:stretch>
        </p:blipFill>
        <p:spPr>
          <a:xfrm>
            <a:off x="4572000" y="3675887"/>
            <a:ext cx="3611880" cy="2257425"/>
          </a:xfrm>
          <a:prstGeom prst="rect">
            <a:avLst/>
          </a:prstGeom>
          <a:ln w="9525">
            <a:solidFill>
              <a:srgbClr val="7A7A7A"/>
            </a:solidFill>
          </a:ln>
        </p:spPr>
      </p:pic>
      <p:sp>
        <p:nvSpPr>
          <p:cNvPr id="165" name="TextBox 164"/>
          <p:cNvSpPr txBox="1"/>
          <p:nvPr/>
        </p:nvSpPr>
        <p:spPr>
          <a:xfrm>
            <a:off x="4572000" y="5969889"/>
            <a:ext cx="3611880" cy="347472"/>
          </a:xfrm>
          <a:prstGeom prst="rect">
            <a:avLst/>
          </a:prstGeom>
          <a:noFill/>
        </p:spPr>
        <p:txBody>
          <a:bodyPr wrap="square" lIns="0" rIns="0" tIns="0" bIns="0">
            <a:spAutoFit/>
          </a:bodyPr>
          <a:lstStyle/>
          <a:p>
            <a:pPr algn="l"/>
            <a:r>
              <a:rPr sz="950" b="0" i="0">
                <a:solidFill>
                  <a:srgbClr val="333333"/>
                </a:solidFill>
                <a:latin typeface="Times New Roman"/>
              </a:rPr>
              <a:t>A chat edit rebuilds Day 2 only. Days 1 and 3 are byte-for-byte identical, and the reply says so.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57" name="Google Shape;157;g3a64a40ef39_2_30"/>
          <p:cNvSpPr txBox="1">
            <a:spLocks noGrp="1"/>
          </p:cNvSpPr>
          <p:nvPr>
            <p:ph type="title"/>
          </p:nvPr>
        </p:nvSpPr>
        <p:spPr>
          <a:xfrm>
            <a:off x="457200" y="155448"/>
            <a:ext cx="8467344" cy="658368"/>
          </a:xfrm>
          <a:prstGeom prst="rect">
            <a:avLst/>
          </a:prstGeom>
        </p:spPr>
        <p:txBody>
          <a:bodyPr spcFirstLastPara="1" wrap="square" lIns="91425" tIns="45700" rIns="91425" bIns="45700" anchor="b" anchorCtr="0">
            <a:normAutofit/>
          </a:bodyPr>
          <a:lstStyle/>
          <a:p>
            <a:pPr marL="0" lvl="0" indent="0" algn="l" rtl="0">
              <a:lnSpc>
                <a:spcPct val="120000"/>
              </a:lnSpc>
              <a:spcBef>
                <a:spcPts val="1118"/>
              </a:spcBef>
              <a:spcAft>
                <a:spcPts val="0"/>
              </a:spcAft>
              <a:buNone/>
            </a:pPr>
            <a:r>
              <a:rPr lang="en-IN" sz="2400" b="1" dirty="0">
                <a:solidFill>
                  <a:schemeClr val="bg2"/>
                </a:solidFill>
                <a:latin typeface="Times New Roman" panose="02020603050405020304" pitchFamily="18" charset="0"/>
                <a:ea typeface="Bookman Old Style"/>
                <a:cs typeface="Times New Roman" panose="02020603050405020304" pitchFamily="18" charset="0"/>
                <a:sym typeface="Bookman Old Style"/>
              </a:rPr>
              <a:t>DEMONSTRATION OF PROJECT EXECUTION (contd. 3/3)</a:t>
            </a:r>
            <a:endParaRPr lang="en-IN" dirty="0">
              <a:solidFill>
                <a:schemeClr val="bg2"/>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55FDBD6-0110-1520-ABF8-F9C077D79D8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8</a:t>
            </a:fld>
            <a:endParaRPr lang="en-IN"/>
          </a:p>
        </p:txBody>
      </p:sp>
      <p:sp>
        <p:nvSpPr>
          <p:cNvPr id="5" name="Footer Placeholder 4">
            <a:extLst>
              <a:ext uri="{FF2B5EF4-FFF2-40B4-BE49-F238E27FC236}">
                <a16:creationId xmlns:a16="http://schemas.microsoft.com/office/drawing/2014/main" id="{6E93C23F-4D2B-57A9-1A85-3DA16F71FCF3}"/>
              </a:ext>
            </a:extLst>
          </p:cNvPr>
          <p:cNvSpPr>
            <a:spLocks noGrp="1"/>
          </p:cNvSpPr>
          <p:nvPr>
            <p:ph type="ftr" idx="11"/>
          </p:nvPr>
        </p:nvSpPr>
        <p:spPr>
          <a:xfrm>
            <a:off x="457200" y="6492875"/>
            <a:ext cx="8119872" cy="283845"/>
          </a:xfrm>
        </p:spPr>
        <p:txBody>
          <a:bodyPr/>
          <a:lstStyle/>
          <a:p>
            <a:r>
              <a:rPr lang="en-US" dirty="0"/>
              <a:t>Dept. of ISE,BMSIT&amp;M                       7th Semester, MAJOR PROJECT PHASE-2 (BCS705) REVIEW ‘1                             AY : 2026-27 </a:t>
            </a:r>
            <a:endParaRPr lang="en-IN" dirty="0"/>
          </a:p>
        </p:txBody>
      </p:sp>
      <p:pic>
        <p:nvPicPr>
          <p:cNvPr id="158" name="Picture 157" descr="17-katha-city.png"/>
          <p:cNvPicPr>
            <a:picLocks noChangeAspect="1"/>
          </p:cNvPicPr>
          <p:nvPr/>
        </p:nvPicPr>
        <p:blipFill>
          <a:blip r:embed="rId2"/>
          <a:stretch>
            <a:fillRect/>
          </a:stretch>
        </p:blipFill>
        <p:spPr>
          <a:xfrm>
            <a:off x="502920" y="1005840"/>
            <a:ext cx="3611880" cy="2257425"/>
          </a:xfrm>
          <a:prstGeom prst="rect">
            <a:avLst/>
          </a:prstGeom>
          <a:ln w="9525">
            <a:solidFill>
              <a:srgbClr val="7A7A7A"/>
            </a:solidFill>
          </a:ln>
        </p:spPr>
      </p:pic>
      <p:sp>
        <p:nvSpPr>
          <p:cNvPr id="159" name="TextBox 158"/>
          <p:cNvSpPr txBox="1"/>
          <p:nvPr/>
        </p:nvSpPr>
        <p:spPr>
          <a:xfrm>
            <a:off x="502920" y="3299841"/>
            <a:ext cx="3611880" cy="347472"/>
          </a:xfrm>
          <a:prstGeom prst="rect">
            <a:avLst/>
          </a:prstGeom>
          <a:noFill/>
        </p:spPr>
        <p:txBody>
          <a:bodyPr wrap="square" lIns="0" rIns="0" tIns="0" bIns="0">
            <a:spAutoFit/>
          </a:bodyPr>
          <a:lstStyle/>
          <a:p>
            <a:pPr algn="l"/>
            <a:r>
              <a:rPr sz="950" b="0" i="0">
                <a:solidFill>
                  <a:srgbClr val="333333"/>
                </a:solidFill>
                <a:latin typeface="Times New Roman"/>
              </a:rPr>
              <a:t>Katha player: segments typed hook, story, fact or taste, each carrying the source it was built from.</a:t>
            </a:r>
          </a:p>
        </p:txBody>
      </p:sp>
      <p:pic>
        <p:nvPicPr>
          <p:cNvPr id="160" name="Picture 159" descr="18-katha-playing.png"/>
          <p:cNvPicPr>
            <a:picLocks noChangeAspect="1"/>
          </p:cNvPicPr>
          <p:nvPr/>
        </p:nvPicPr>
        <p:blipFill>
          <a:blip r:embed="rId3"/>
          <a:stretch>
            <a:fillRect/>
          </a:stretch>
        </p:blipFill>
        <p:spPr>
          <a:xfrm>
            <a:off x="4572000" y="1005840"/>
            <a:ext cx="3611880" cy="2257425"/>
          </a:xfrm>
          <a:prstGeom prst="rect">
            <a:avLst/>
          </a:prstGeom>
          <a:ln w="9525">
            <a:solidFill>
              <a:srgbClr val="7A7A7A"/>
            </a:solidFill>
          </a:ln>
        </p:spPr>
      </p:pic>
      <p:sp>
        <p:nvSpPr>
          <p:cNvPr id="161" name="TextBox 160"/>
          <p:cNvSpPr txBox="1"/>
          <p:nvPr/>
        </p:nvSpPr>
        <p:spPr>
          <a:xfrm>
            <a:off x="4572000" y="3299841"/>
            <a:ext cx="3611880" cy="347472"/>
          </a:xfrm>
          <a:prstGeom prst="rect">
            <a:avLst/>
          </a:prstGeom>
          <a:noFill/>
        </p:spPr>
        <p:txBody>
          <a:bodyPr wrap="square" lIns="0" rIns="0" tIns="0" bIns="0">
            <a:spAutoFit/>
          </a:bodyPr>
          <a:lstStyle/>
          <a:p>
            <a:pPr algn="l"/>
            <a:r>
              <a:rPr sz="950" b="0" i="0">
                <a:solidFill>
                  <a:srgbClr val="333333"/>
                </a:solidFill>
                <a:latin typeface="Times New Roman"/>
              </a:rPr>
              <a:t>Sarvam speech playing from the on-disk cache; the browser voice is the fallback when speech is unavailable.</a:t>
            </a:r>
          </a:p>
        </p:txBody>
      </p:sp>
      <p:pic>
        <p:nvPicPr>
          <p:cNvPr id="162" name="Picture 161" descr="19-doesnt-fit.png"/>
          <p:cNvPicPr>
            <a:picLocks noChangeAspect="1"/>
          </p:cNvPicPr>
          <p:nvPr/>
        </p:nvPicPr>
        <p:blipFill>
          <a:blip r:embed="rId4"/>
          <a:stretch>
            <a:fillRect/>
          </a:stretch>
        </p:blipFill>
        <p:spPr>
          <a:xfrm>
            <a:off x="502920" y="3675887"/>
            <a:ext cx="3611880" cy="2257425"/>
          </a:xfrm>
          <a:prstGeom prst="rect">
            <a:avLst/>
          </a:prstGeom>
          <a:ln w="9525">
            <a:solidFill>
              <a:srgbClr val="7A7A7A"/>
            </a:solidFill>
          </a:ln>
        </p:spPr>
      </p:pic>
      <p:sp>
        <p:nvSpPr>
          <p:cNvPr id="163" name="TextBox 162"/>
          <p:cNvSpPr txBox="1"/>
          <p:nvPr/>
        </p:nvSpPr>
        <p:spPr>
          <a:xfrm>
            <a:off x="502920" y="5969889"/>
            <a:ext cx="3611880" cy="347472"/>
          </a:xfrm>
          <a:prstGeom prst="rect">
            <a:avLst/>
          </a:prstGeom>
          <a:noFill/>
        </p:spPr>
        <p:txBody>
          <a:bodyPr wrap="square" lIns="0" rIns="0" tIns="0" bIns="0">
            <a:spAutoFit/>
          </a:bodyPr>
          <a:lstStyle/>
          <a:p>
            <a:pPr algn="l"/>
            <a:r>
              <a:rPr sz="950" b="0" i="0">
                <a:solidFill>
                  <a:srgbClr val="333333"/>
                </a:solidFill>
                <a:latin typeface="Times New Roman"/>
              </a:rPr>
              <a:t>Mysuru and Hampi in one day: refused, with the arithmetic shown and three buildable alternatives.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4" name="Google Shape;164;g3a64a40ef39_2_37"/>
          <p:cNvSpPr txBox="1">
            <a:spLocks noGrp="1"/>
          </p:cNvSpPr>
          <p:nvPr>
            <p:ph type="title"/>
          </p:nvPr>
        </p:nvSpPr>
        <p:spPr>
          <a:xfrm>
            <a:off x="457200" y="155448"/>
            <a:ext cx="8193024" cy="603504"/>
          </a:xfrm>
          <a:prstGeom prst="rect">
            <a:avLst/>
          </a:prstGeom>
        </p:spPr>
        <p:txBody>
          <a:bodyPr spcFirstLastPara="1" wrap="square" lIns="91425" tIns="45700" rIns="91425" bIns="45700" anchor="t" anchorCtr="0">
            <a:normAutofit/>
          </a:bodyPr>
          <a:lstStyle/>
          <a:p>
            <a:pPr algn="l"/>
            <a:r>
              <a:rPr lang="en-IN" sz="2400" b="1" i="0" dirty="0">
                <a:solidFill>
                  <a:schemeClr val="bg2"/>
                </a:solidFill>
                <a:effectLst/>
                <a:latin typeface="Times New Roman" panose="02020603050405020304" pitchFamily="18" charset="0"/>
                <a:cs typeface="Times New Roman" panose="02020603050405020304" pitchFamily="18" charset="0"/>
              </a:rPr>
              <a:t>Experimental Setup, Results &amp; Analysis (contd.)</a:t>
            </a:r>
          </a:p>
        </p:txBody>
      </p:sp>
      <p:sp>
        <p:nvSpPr>
          <p:cNvPr id="5" name="Footer Placeholder 4">
            <a:extLst>
              <a:ext uri="{FF2B5EF4-FFF2-40B4-BE49-F238E27FC236}">
                <a16:creationId xmlns:a16="http://schemas.microsoft.com/office/drawing/2014/main" id="{A4487834-DEF6-FACB-92D2-96A8CFCC7AE5}"/>
              </a:ext>
            </a:extLst>
          </p:cNvPr>
          <p:cNvSpPr>
            <a:spLocks noGrp="1"/>
          </p:cNvSpPr>
          <p:nvPr>
            <p:ph type="ftr" idx="11"/>
          </p:nvPr>
        </p:nvSpPr>
        <p:spPr>
          <a:xfrm>
            <a:off x="457200" y="6492875"/>
            <a:ext cx="8037576" cy="283845"/>
          </a:xfrm>
        </p:spPr>
        <p:txBody>
          <a:bodyPr/>
          <a:lstStyle/>
          <a:p>
            <a:r>
              <a:rPr lang="en-US" dirty="0"/>
              <a:t>Dept. of ISE,BMSIT&amp;M                       7th Semester, MAJOR PROJECT PHASE-2 (BCS705) REVIEW ‘1                             AY : 2026-27 </a:t>
            </a:r>
            <a:endParaRPr lang="en-IN" dirty="0"/>
          </a:p>
        </p:txBody>
      </p:sp>
      <p:sp>
        <p:nvSpPr>
          <p:cNvPr id="6" name="Slide Number Placeholder 5">
            <a:extLst>
              <a:ext uri="{FF2B5EF4-FFF2-40B4-BE49-F238E27FC236}">
                <a16:creationId xmlns:a16="http://schemas.microsoft.com/office/drawing/2014/main" id="{09715EE9-9EC8-D6D1-7398-7FB1E6CB3F5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9</a:t>
            </a:fld>
            <a:endParaRPr lang="en-IN"/>
          </a:p>
        </p:txBody>
      </p:sp>
      <p:sp>
        <p:nvSpPr>
          <p:cNvPr id="165" name="TextBox 164"/>
          <p:cNvSpPr txBox="1"/>
          <p:nvPr/>
        </p:nvSpPr>
        <p:spPr>
          <a:xfrm>
            <a:off x="502920" y="914400"/>
            <a:ext cx="5120640" cy="228600"/>
          </a:xfrm>
          <a:prstGeom prst="rect">
            <a:avLst/>
          </a:prstGeom>
          <a:noFill/>
        </p:spPr>
        <p:txBody>
          <a:bodyPr wrap="square" lIns="0" rIns="0" tIns="0" bIns="0">
            <a:spAutoFit/>
          </a:bodyPr>
          <a:lstStyle/>
          <a:p>
            <a:pPr algn="l"/>
            <a:r>
              <a:rPr sz="1150" b="1" i="0">
                <a:solidFill>
                  <a:srgbClr val="000000"/>
                </a:solidFill>
                <a:latin typeface="Times New Roman"/>
              </a:rPr>
              <a:t>Retrieval — Recall@5 over the evaluation set</a:t>
            </a:r>
          </a:p>
        </p:txBody>
      </p:sp>
      <p:graphicFrame>
        <p:nvGraphicFramePr>
          <p:cNvPr id="166" name="Table 165"/>
          <p:cNvGraphicFramePr>
            <a:graphicFrameLocks noGrp="1"/>
          </p:cNvGraphicFramePr>
          <p:nvPr/>
        </p:nvGraphicFramePr>
        <p:xfrm>
          <a:off x="502920" y="1188720"/>
          <a:ext cx="5074920" cy="950976"/>
        </p:xfrm>
        <a:graphic>
          <a:graphicData uri="http://schemas.openxmlformats.org/drawingml/2006/table">
            <a:tbl>
              <a:tblPr firstRow="1" bandRow="1">
                <a:tableStyleId>{5C22544A-7EE6-4342-B048-85BDC9FD1C3A}</a:tableStyleId>
              </a:tblPr>
              <a:tblGrid>
                <a:gridCol w="2057400"/>
                <a:gridCol w="960120"/>
                <a:gridCol w="1097280"/>
                <a:gridCol w="960120"/>
              </a:tblGrid>
              <a:tr h="237744">
                <a:tc>
                  <a:txBody>
                    <a:bodyPr/>
                    <a:lstStyle/>
                    <a:p>
                      <a:pPr algn="l"/>
                      <a:r>
                        <a:rPr sz="1000" b="1">
                          <a:latin typeface="Times New Roman"/>
                        </a:rPr>
                        <a:t>Method</a:t>
                      </a:r>
                    </a:p>
                  </a:txBody>
                  <a:tcPr marL="54000" marR="36000" marT="9000" marB="9000" anchor="ctr"/>
                </a:tc>
                <a:tc>
                  <a:txBody>
                    <a:bodyPr/>
                    <a:lstStyle/>
                    <a:p>
                      <a:pPr algn="ctr"/>
                      <a:r>
                        <a:rPr sz="1000" b="1">
                          <a:latin typeface="Times New Roman"/>
                        </a:rPr>
                        <a:t>Recall@5</a:t>
                      </a:r>
                    </a:p>
                  </a:txBody>
                  <a:tcPr marL="54000" marR="36000" marT="9000" marB="9000" anchor="ctr"/>
                </a:tc>
                <a:tc>
                  <a:txBody>
                    <a:bodyPr/>
                    <a:lstStyle/>
                    <a:p>
                      <a:pPr algn="ctr"/>
                      <a:r>
                        <a:rPr sz="1000" b="1">
                          <a:latin typeface="Times New Roman"/>
                        </a:rPr>
                        <a:t>Kannada-only</a:t>
                      </a:r>
                    </a:p>
                  </a:txBody>
                  <a:tcPr marL="54000" marR="36000" marT="9000" marB="9000" anchor="ctr"/>
                </a:tc>
                <a:tc>
                  <a:txBody>
                    <a:bodyPr/>
                    <a:lstStyle/>
                    <a:p>
                      <a:pPr algn="ctr"/>
                      <a:r>
                        <a:rPr sz="1000" b="1">
                          <a:latin typeface="Times New Roman"/>
                        </a:rPr>
                        <a:t>p50 latency</a:t>
                      </a:r>
                    </a:p>
                  </a:txBody>
                  <a:tcPr marL="54000" marR="36000" marT="9000" marB="9000" anchor="ctr"/>
                </a:tc>
              </a:tr>
              <a:tr h="237744">
                <a:tc>
                  <a:txBody>
                    <a:bodyPr/>
                    <a:lstStyle/>
                    <a:p>
                      <a:pPr algn="l"/>
                      <a:r>
                        <a:rPr sz="1000" b="0">
                          <a:latin typeface="Times New Roman"/>
                        </a:rPr>
                        <a:t>Dense (pgvector, e5)</a:t>
                      </a:r>
                    </a:p>
                  </a:txBody>
                  <a:tcPr marL="54000" marR="36000" marT="9000" marB="9000" anchor="ctr"/>
                </a:tc>
                <a:tc>
                  <a:txBody>
                    <a:bodyPr/>
                    <a:lstStyle/>
                    <a:p>
                      <a:pPr algn="ctr"/>
                      <a:r>
                        <a:rPr sz="1000" b="0">
                          <a:latin typeface="Times New Roman"/>
                        </a:rPr>
                        <a:t>0.933</a:t>
                      </a:r>
                    </a:p>
                  </a:txBody>
                  <a:tcPr marL="54000" marR="36000" marT="9000" marB="9000" anchor="ctr"/>
                </a:tc>
                <a:tc>
                  <a:txBody>
                    <a:bodyPr/>
                    <a:lstStyle/>
                    <a:p>
                      <a:pPr algn="ctr"/>
                      <a:r>
                        <a:rPr sz="1000" b="0">
                          <a:latin typeface="Times New Roman"/>
                        </a:rPr>
                        <a:t>0.833</a:t>
                      </a:r>
                    </a:p>
                  </a:txBody>
                  <a:tcPr marL="54000" marR="36000" marT="9000" marB="9000" anchor="ctr"/>
                </a:tc>
                <a:tc>
                  <a:txBody>
                    <a:bodyPr/>
                    <a:lstStyle/>
                    <a:p>
                      <a:pPr algn="ctr"/>
                      <a:r>
                        <a:rPr sz="1000" b="0">
                          <a:latin typeface="Times New Roman"/>
                        </a:rPr>
                        <a:t>58 ms</a:t>
                      </a:r>
                    </a:p>
                  </a:txBody>
                  <a:tcPr marL="54000" marR="36000" marT="9000" marB="9000" anchor="ctr"/>
                </a:tc>
              </a:tr>
              <a:tr h="237744">
                <a:tc>
                  <a:txBody>
                    <a:bodyPr/>
                    <a:lstStyle/>
                    <a:p>
                      <a:pPr algn="l"/>
                      <a:r>
                        <a:rPr sz="1000" b="0">
                          <a:latin typeface="Times New Roman"/>
                        </a:rPr>
                        <a:t>Lexical (tsvector)</a:t>
                      </a:r>
                    </a:p>
                  </a:txBody>
                  <a:tcPr marL="54000" marR="36000" marT="9000" marB="9000" anchor="ctr"/>
                </a:tc>
                <a:tc>
                  <a:txBody>
                    <a:bodyPr/>
                    <a:lstStyle/>
                    <a:p>
                      <a:pPr algn="ctr"/>
                      <a:r>
                        <a:rPr sz="1000" b="0">
                          <a:latin typeface="Times New Roman"/>
                        </a:rPr>
                        <a:t>0.733</a:t>
                      </a:r>
                    </a:p>
                  </a:txBody>
                  <a:tcPr marL="54000" marR="36000" marT="9000" marB="9000" anchor="ctr"/>
                </a:tc>
                <a:tc>
                  <a:txBody>
                    <a:bodyPr/>
                    <a:lstStyle/>
                    <a:p>
                      <a:pPr algn="ctr"/>
                      <a:r>
                        <a:rPr sz="1000" b="0">
                          <a:latin typeface="Times New Roman"/>
                        </a:rPr>
                        <a:t>0.333</a:t>
                      </a:r>
                    </a:p>
                  </a:txBody>
                  <a:tcPr marL="54000" marR="36000" marT="9000" marB="9000" anchor="ctr"/>
                </a:tc>
                <a:tc>
                  <a:txBody>
                    <a:bodyPr/>
                    <a:lstStyle/>
                    <a:p>
                      <a:pPr algn="ctr"/>
                      <a:r>
                        <a:rPr sz="1000" b="0">
                          <a:latin typeface="Times New Roman"/>
                        </a:rPr>
                        <a:t>—</a:t>
                      </a:r>
                    </a:p>
                  </a:txBody>
                  <a:tcPr marL="54000" marR="36000" marT="9000" marB="9000" anchor="ctr"/>
                </a:tc>
              </a:tr>
              <a:tr h="237744">
                <a:tc>
                  <a:txBody>
                    <a:bodyPr/>
                    <a:lstStyle/>
                    <a:p>
                      <a:pPr algn="l"/>
                      <a:r>
                        <a:rPr sz="1000" b="0">
                          <a:latin typeface="Times New Roman"/>
                        </a:rPr>
                        <a:t>Hybrid + RRF</a:t>
                      </a:r>
                    </a:p>
                  </a:txBody>
                  <a:tcPr marL="54000" marR="36000" marT="9000" marB="9000" anchor="ctr"/>
                </a:tc>
                <a:tc>
                  <a:txBody>
                    <a:bodyPr/>
                    <a:lstStyle/>
                    <a:p>
                      <a:pPr algn="ctr"/>
                      <a:r>
                        <a:rPr sz="1000" b="0">
                          <a:latin typeface="Times New Roman"/>
                        </a:rPr>
                        <a:t>0.933</a:t>
                      </a:r>
                    </a:p>
                  </a:txBody>
                  <a:tcPr marL="54000" marR="36000" marT="9000" marB="9000" anchor="ctr"/>
                </a:tc>
                <a:tc>
                  <a:txBody>
                    <a:bodyPr/>
                    <a:lstStyle/>
                    <a:p>
                      <a:pPr algn="ctr"/>
                      <a:r>
                        <a:rPr sz="1000" b="0">
                          <a:latin typeface="Times New Roman"/>
                        </a:rPr>
                        <a:t>—</a:t>
                      </a:r>
                    </a:p>
                  </a:txBody>
                  <a:tcPr marL="54000" marR="36000" marT="9000" marB="9000" anchor="ctr"/>
                </a:tc>
                <a:tc>
                  <a:txBody>
                    <a:bodyPr/>
                    <a:lstStyle/>
                    <a:p>
                      <a:pPr algn="ctr"/>
                      <a:r>
                        <a:rPr sz="1000" b="0">
                          <a:latin typeface="Times New Roman"/>
                        </a:rPr>
                        <a:t>116 ms</a:t>
                      </a:r>
                    </a:p>
                  </a:txBody>
                  <a:tcPr marL="54000" marR="36000" marT="9000" marB="9000" anchor="ctr"/>
                </a:tc>
              </a:tr>
            </a:tbl>
          </a:graphicData>
        </a:graphic>
      </p:graphicFrame>
      <p:sp>
        <p:nvSpPr>
          <p:cNvPr id="167" name="TextBox 166"/>
          <p:cNvSpPr txBox="1"/>
          <p:nvPr/>
        </p:nvSpPr>
        <p:spPr>
          <a:xfrm>
            <a:off x="502920" y="2377440"/>
            <a:ext cx="5074920" cy="1371600"/>
          </a:xfrm>
          <a:prstGeom prst="rect">
            <a:avLst/>
          </a:prstGeom>
          <a:noFill/>
        </p:spPr>
        <p:txBody>
          <a:bodyPr wrap="square" lIns="0" rIns="0" tIns="0" bIns="0">
            <a:spAutoFit/>
          </a:bodyPr>
          <a:lstStyle/>
          <a:p>
            <a:pPr algn="l"/>
            <a:r>
              <a:rPr sz="1050" b="0" i="0">
                <a:solidFill>
                  <a:srgbClr val="000000"/>
                </a:solidFill>
                <a:latin typeface="Times New Roman"/>
              </a:rPr>
              <a:t>Reported honestly: hybrid retrieval tied dense rather than beating it, at twice the latency. We kept it for one measured reason — lexical retrieval is perfect on exact proper nouns (MRR 1.000 on name lookups), which is how a traveller actually searches for a monument. Dense retrieval dominates on Kannada, where the English index has almost nothing to match.</a:t>
            </a:r>
          </a:p>
        </p:txBody>
      </p:sp>
      <p:sp>
        <p:nvSpPr>
          <p:cNvPr id="168" name="TextBox 167"/>
          <p:cNvSpPr txBox="1"/>
          <p:nvPr/>
        </p:nvSpPr>
        <p:spPr>
          <a:xfrm>
            <a:off x="502920" y="3703320"/>
            <a:ext cx="5074920" cy="1097280"/>
          </a:xfrm>
          <a:prstGeom prst="rect">
            <a:avLst/>
          </a:prstGeom>
          <a:noFill/>
        </p:spPr>
        <p:txBody>
          <a:bodyPr wrap="square" lIns="0" rIns="0" tIns="0" bIns="0">
            <a:spAutoFit/>
          </a:bodyPr>
          <a:lstStyle/>
          <a:p>
            <a:pPr algn="l"/>
            <a:r>
              <a:rPr sz="1050" b="1" i="0">
                <a:solidFill>
                  <a:srgbClr val="000000"/>
                </a:solidFill>
                <a:latin typeface="Times New Roman"/>
              </a:rPr>
              <a:t>Also reported: Recall@5 fell from 0.933 to 0.867 after we merged our hand-written corpus into the generated one, because three hand-written answers phrase things differently from the evaluation questions. We did not tune the benchmark back up. The number stands as measured.</a:t>
            </a:r>
          </a:p>
        </p:txBody>
      </p:sp>
      <p:sp>
        <p:nvSpPr>
          <p:cNvPr id="169" name="TextBox 168"/>
          <p:cNvSpPr txBox="1"/>
          <p:nvPr/>
        </p:nvSpPr>
        <p:spPr>
          <a:xfrm>
            <a:off x="5806440" y="914400"/>
            <a:ext cx="2834640" cy="228600"/>
          </a:xfrm>
          <a:prstGeom prst="rect">
            <a:avLst/>
          </a:prstGeom>
          <a:noFill/>
        </p:spPr>
        <p:txBody>
          <a:bodyPr wrap="square" lIns="0" rIns="0" tIns="0" bIns="0">
            <a:spAutoFit/>
          </a:bodyPr>
          <a:lstStyle/>
          <a:p>
            <a:pPr algn="l"/>
            <a:r>
              <a:rPr sz="1150" b="1" i="0">
                <a:solidFill>
                  <a:srgbClr val="000000"/>
                </a:solidFill>
                <a:latin typeface="Times New Roman"/>
              </a:rPr>
              <a:t>Grounding and refusal</a:t>
            </a:r>
          </a:p>
        </p:txBody>
      </p:sp>
      <p:graphicFrame>
        <p:nvGraphicFramePr>
          <p:cNvPr id="170" name="Table 169"/>
          <p:cNvGraphicFramePr>
            <a:graphicFrameLocks noGrp="1"/>
          </p:cNvGraphicFramePr>
          <p:nvPr/>
        </p:nvGraphicFramePr>
        <p:xfrm>
          <a:off x="5806440" y="1188720"/>
          <a:ext cx="2834639" cy="950976"/>
        </p:xfrm>
        <a:graphic>
          <a:graphicData uri="http://schemas.openxmlformats.org/drawingml/2006/table">
            <a:tbl>
              <a:tblPr firstRow="1" bandRow="1">
                <a:tableStyleId>{5C22544A-7EE6-4342-B048-85BDC9FD1C3A}</a:tableStyleId>
              </a:tblPr>
              <a:tblGrid>
                <a:gridCol w="1874519"/>
                <a:gridCol w="960120"/>
              </a:tblGrid>
              <a:tr h="237744">
                <a:tc>
                  <a:txBody>
                    <a:bodyPr/>
                    <a:lstStyle/>
                    <a:p>
                      <a:pPr algn="l"/>
                      <a:r>
                        <a:rPr sz="1000" b="1">
                          <a:latin typeface="Times New Roman"/>
                        </a:rPr>
                        <a:t>Measure</a:t>
                      </a:r>
                    </a:p>
                  </a:txBody>
                  <a:tcPr marL="54000" marR="36000" marT="9000" marB="9000" anchor="ctr"/>
                </a:tc>
                <a:tc>
                  <a:txBody>
                    <a:bodyPr/>
                    <a:lstStyle/>
                    <a:p>
                      <a:pPr algn="ctr"/>
                      <a:r>
                        <a:rPr sz="1000" b="1">
                          <a:latin typeface="Times New Roman"/>
                        </a:rPr>
                        <a:t>Result</a:t>
                      </a:r>
                    </a:p>
                  </a:txBody>
                  <a:tcPr marL="54000" marR="36000" marT="9000" marB="9000" anchor="ctr"/>
                </a:tc>
              </a:tr>
              <a:tr h="237744">
                <a:tc>
                  <a:txBody>
                    <a:bodyPr/>
                    <a:lstStyle/>
                    <a:p>
                      <a:pPr algn="l"/>
                      <a:r>
                        <a:rPr sz="1000" b="0">
                          <a:latin typeface="Times New Roman"/>
                        </a:rPr>
                        <a:t>Narration segments passing</a:t>
                      </a:r>
                    </a:p>
                  </a:txBody>
                  <a:tcPr marL="54000" marR="36000" marT="9000" marB="9000" anchor="ctr"/>
                </a:tc>
                <a:tc>
                  <a:txBody>
                    <a:bodyPr/>
                    <a:lstStyle/>
                    <a:p>
                      <a:pPr algn="ctr"/>
                      <a:r>
                        <a:rPr sz="1000" b="0">
                          <a:latin typeface="Times New Roman"/>
                        </a:rPr>
                        <a:t>14 / 14</a:t>
                      </a:r>
                    </a:p>
                  </a:txBody>
                  <a:tcPr marL="54000" marR="36000" marT="9000" marB="9000" anchor="ctr"/>
                </a:tc>
              </a:tr>
              <a:tr h="237744">
                <a:tc>
                  <a:txBody>
                    <a:bodyPr/>
                    <a:lstStyle/>
                    <a:p>
                      <a:pPr algn="l"/>
                      <a:r>
                        <a:rPr sz="1000" b="0">
                          <a:latin typeface="Times New Roman"/>
                        </a:rPr>
                        <a:t>Refusal gate</a:t>
                      </a:r>
                    </a:p>
                  </a:txBody>
                  <a:tcPr marL="54000" marR="36000" marT="9000" marB="9000" anchor="ctr"/>
                </a:tc>
                <a:tc>
                  <a:txBody>
                    <a:bodyPr/>
                    <a:lstStyle/>
                    <a:p>
                      <a:pPr algn="ctr"/>
                      <a:r>
                        <a:rPr sz="1000" b="0">
                          <a:latin typeface="Times New Roman"/>
                        </a:rPr>
                        <a:t>6 / 6</a:t>
                      </a:r>
                    </a:p>
                  </a:txBody>
                  <a:tcPr marL="54000" marR="36000" marT="9000" marB="9000" anchor="ctr"/>
                </a:tc>
              </a:tr>
              <a:tr h="237744">
                <a:tc>
                  <a:txBody>
                    <a:bodyPr/>
                    <a:lstStyle/>
                    <a:p>
                      <a:pPr algn="l"/>
                      <a:r>
                        <a:rPr sz="1000" b="0">
                          <a:latin typeface="Times New Roman"/>
                        </a:rPr>
                        <a:t>Automated tests</a:t>
                      </a:r>
                    </a:p>
                  </a:txBody>
                  <a:tcPr marL="54000" marR="36000" marT="9000" marB="9000" anchor="ctr"/>
                </a:tc>
                <a:tc>
                  <a:txBody>
                    <a:bodyPr/>
                    <a:lstStyle/>
                    <a:p>
                      <a:pPr algn="ctr"/>
                      <a:r>
                        <a:rPr sz="1000" b="0">
                          <a:latin typeface="Times New Roman"/>
                        </a:rPr>
                        <a:t>101</a:t>
                      </a:r>
                    </a:p>
                  </a:txBody>
                  <a:tcPr marL="54000" marR="36000" marT="9000" marB="9000" anchor="ctr"/>
                </a:tc>
              </a:tr>
            </a:tbl>
          </a:graphicData>
        </a:graphic>
      </p:graphicFrame>
      <p:sp>
        <p:nvSpPr>
          <p:cNvPr id="171" name="TextBox 170"/>
          <p:cNvSpPr txBox="1"/>
          <p:nvPr/>
        </p:nvSpPr>
        <p:spPr>
          <a:xfrm>
            <a:off x="5806440" y="2377440"/>
            <a:ext cx="2834640" cy="2377440"/>
          </a:xfrm>
          <a:prstGeom prst="rect">
            <a:avLst/>
          </a:prstGeom>
          <a:noFill/>
        </p:spPr>
        <p:txBody>
          <a:bodyPr wrap="square" lIns="0" rIns="0" tIns="0" bIns="0">
            <a:spAutoFit/>
          </a:bodyPr>
          <a:lstStyle/>
          <a:p>
            <a:pPr algn="l"/>
            <a:r>
              <a:rPr sz="1050" b="0" i="0">
                <a:solidFill>
                  <a:srgbClr val="000000"/>
                </a:solidFill>
                <a:latin typeface="Times New Roman"/>
              </a:rPr>
              <a:t>Every narrated segment is checked after generation against the paragraphs it was given: any year, number or English proper name that is not in the source fails the check, and the segment is retried and then replaced by the corpus text itself.</a:t>
            </a:r>
          </a:p>
          <a:p>
            <a:pPr algn="l"/>
            <a:r>
              <a:rPr sz="1050" b="0" i="0">
                <a:solidFill>
                  <a:srgbClr val="000000"/>
                </a:solidFill>
                <a:latin typeface="Times New Roman"/>
              </a:rPr>
              <a:t/>
            </a:r>
          </a:p>
          <a:p>
            <a:pPr algn="l"/>
            <a:r>
              <a:rPr sz="1050" b="0" i="0">
                <a:solidFill>
                  <a:srgbClr val="000000"/>
                </a:solidFill>
                <a:latin typeface="Times New Roman"/>
              </a:rPr>
              <a:t>The refusal gate is the opposite test — six questions the corpus cannot answer, all six refused rather than answered.</a:t>
            </a:r>
          </a:p>
        </p:txBody>
      </p:sp>
      <p:sp>
        <p:nvSpPr>
          <p:cNvPr id="172" name="TextBox 171"/>
          <p:cNvSpPr txBox="1"/>
          <p:nvPr/>
        </p:nvSpPr>
        <p:spPr>
          <a:xfrm>
            <a:off x="502920" y="4983480"/>
            <a:ext cx="8138160" cy="731520"/>
          </a:xfrm>
          <a:prstGeom prst="rect">
            <a:avLst/>
          </a:prstGeom>
          <a:noFill/>
        </p:spPr>
        <p:txBody>
          <a:bodyPr wrap="square" lIns="0" rIns="0" tIns="0" bIns="0">
            <a:spAutoFit/>
          </a:bodyPr>
          <a:lstStyle/>
          <a:p>
            <a:pPr algn="l"/>
            <a:r>
              <a:rPr sz="1100" b="0" i="1">
                <a:solidFill>
                  <a:srgbClr val="000000"/>
                </a:solidFill>
                <a:latin typeface="Times New Roman"/>
              </a:rPr>
              <a:t>Analysis: the planner result is a constraint-satisfaction result, not an opinion — 37 of 37 checks on a trip with an elder, a child, a fixed-time palace slot and a 7 pm curfew. The retrieval result is reported as measured, including the regression, because a benchmark that only moves upward is not a benchmark.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2" name="Google Shape;192;g3a64a40ef39_0_0"/>
          <p:cNvSpPr txBox="1">
            <a:spLocks noGrp="1"/>
          </p:cNvSpPr>
          <p:nvPr>
            <p:ph type="title"/>
          </p:nvPr>
        </p:nvSpPr>
        <p:spPr>
          <a:xfrm>
            <a:off x="457200" y="155448"/>
            <a:ext cx="8193024" cy="64008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IN" dirty="0" sz="2800">
                <a:latin typeface="Times New Roman" panose="02020603050405020304" pitchFamily="18" charset="0"/>
                <a:cs typeface="Times New Roman" panose="02020603050405020304" pitchFamily="18" charset="0"/>
              </a:rPr>
              <a:t>REFERENCES (IEEE FORMAT)</a:t>
            </a:r>
            <a:endParaRPr dirty="0">
              <a:latin typeface="Times New Roman" panose="02020603050405020304" pitchFamily="18" charset="0"/>
              <a:cs typeface="Times New Roman" panose="02020603050405020304" pitchFamily="18" charset="0"/>
            </a:endParaRPr>
          </a:p>
        </p:txBody>
      </p:sp>
      <p:sp>
        <p:nvSpPr>
          <p:cNvPr id="193" name="Google Shape;193;g3a64a40ef39_0_0"/>
          <p:cNvSpPr txBox="1">
            <a:spLocks noGrp="1"/>
          </p:cNvSpPr>
          <p:nvPr>
            <p:ph type="body" idx="1"/>
          </p:nvPr>
        </p:nvSpPr>
        <p:spPr>
          <a:xfrm>
            <a:off x="457200" y="932688"/>
            <a:ext cx="8193024" cy="5440680"/>
          </a:xfrm>
          <a:prstGeom prst="rect">
            <a:avLst/>
          </a:prstGeom>
        </p:spPr>
        <p:txBody>
          <a:bodyPr spcFirstLastPara="1" wrap="square" lIns="91425" tIns="45700" rIns="91425" bIns="45700" anchor="t" anchorCtr="0">
            <a:normAutofit/>
          </a:bodyPr>
          <a:lstStyle/>
          <a:p>
            <a:pPr marL="228600" indent="0" algn="l" rtl="0">
              <a:lnSpc>
                <a:spcPct val="150000"/>
              </a:lnSpc>
              <a:spcBef>
                <a:spcPts val="360"/>
              </a:spcBef>
              <a:spcAft>
                <a:spcPts val="400"/>
              </a:spcAft>
              <a:buClr>
                <a:schemeClr val="dk1"/>
              </a:buClr>
              <a:buSzPct val="90000"/>
              <a:buFont typeface="Arial"/>
              <a:buNone/>
            </a:pPr>
            <a:r>
              <a:rPr lang="en-IN" sz="1000" b="0" dirty="0">
                <a:latin typeface="Times New Roman" panose="02020603050405020304" pitchFamily="18" charset="0"/>
                <a:ea typeface="Bookman Old Style"/>
                <a:cs typeface="Times New Roman" panose="02020603050405020304" pitchFamily="18" charset="0"/>
                <a:sym typeface="Bookman Old Style"/>
              </a:rPr>
              <a:t>[1] J. Xie, K. Zhang, J. Chen, T. Zhu, R. Lou, Y. Tian, Y. Xiao and Y. Su, “TravelPlanner: A Benchmark for Real-World Planning with Language Agents,” in Proc. 41st Int. Conf. Machine Learning (ICML), 2024.</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400"/>
              </a:spcAft>
              <a:buClr>
                <a:schemeClr val="dk1"/>
              </a:buClr>
              <a:buSzPct val="90000"/>
              <a:buFont typeface="Arial"/>
              <a:buNone/>
            </a:pPr>
            <a:r>
              <a:rPr lang="en-IN" sz="1000" b="0" dirty="0">
                <a:latin typeface="Times New Roman" panose="02020603050405020304" pitchFamily="18" charset="0"/>
                <a:ea typeface="Bookman Old Style"/>
                <a:cs typeface="Times New Roman" panose="02020603050405020304" pitchFamily="18" charset="0"/>
                <a:sym typeface="Bookman Old Style"/>
              </a:rPr>
              <a:t>[2] Y. Hao, Y. Chen, Y. Zhang and C. Fan, “Large Language Models Can Solve Real-World Planning Rigorously with Formal Verification Tools,” in Proc. 2025 Conf. North American Chapter of the ACL (NAACL), 2025, pp. 3499–3557.</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400"/>
              </a:spcAft>
              <a:buClr>
                <a:schemeClr val="dk1"/>
              </a:buClr>
              <a:buSzPct val="90000"/>
              <a:buFont typeface="Arial"/>
              <a:buNone/>
            </a:pPr>
            <a:r>
              <a:rPr lang="en-IN" sz="1000" b="0" dirty="0">
                <a:latin typeface="Times New Roman" panose="02020603050405020304" pitchFamily="18" charset="0"/>
                <a:ea typeface="Bookman Old Style"/>
                <a:cs typeface="Times New Roman" panose="02020603050405020304" pitchFamily="18" charset="0"/>
                <a:sym typeface="Bookman Old Style"/>
              </a:rPr>
              <a:t>[3] J.-J. Shao, B.-W. Zhang, X.-W. Yang, B. Chen, L.-Z. Guo and Y.-F. Li, “ChinaTravel: An Open-Ended Travel Planning Benchmark with Compositional Constraint Validation for Language Agents,” in Proc. Int. Conf. Learning Representations (ICLR), 2026.</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400"/>
              </a:spcAft>
              <a:buClr>
                <a:schemeClr val="dk1"/>
              </a:buClr>
              <a:buSzPct val="90000"/>
              <a:buFont typeface="Arial"/>
              <a:buNone/>
            </a:pPr>
            <a:r>
              <a:rPr lang="en-IN" sz="1000" b="0" dirty="0">
                <a:latin typeface="Times New Roman" panose="02020603050405020304" pitchFamily="18" charset="0"/>
                <a:ea typeface="Bookman Old Style"/>
                <a:cs typeface="Times New Roman" panose="02020603050405020304" pitchFamily="18" charset="0"/>
                <a:sym typeface="Bookman Old Style"/>
              </a:rPr>
              <a:t>[4] P. Lewis et al., “Retrieval-Augmented Generation for Knowledge-Intensive NLP Tasks,” in Adv. Neural Inf. Process. Syst. (NeurIPS), vol. 33, 2020, pp. 9459–9474.</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400"/>
              </a:spcAft>
              <a:buClr>
                <a:schemeClr val="dk1"/>
              </a:buClr>
              <a:buSzPct val="90000"/>
              <a:buFont typeface="Arial"/>
              <a:buNone/>
            </a:pPr>
            <a:r>
              <a:rPr lang="en-IN" sz="1000" b="0" dirty="0">
                <a:latin typeface="Times New Roman" panose="02020603050405020304" pitchFamily="18" charset="0"/>
                <a:ea typeface="Bookman Old Style"/>
                <a:cs typeface="Times New Roman" panose="02020603050405020304" pitchFamily="18" charset="0"/>
                <a:sym typeface="Bookman Old Style"/>
              </a:rPr>
              <a:t>[5] L. Wang, N. Yang, X. Huang, L. Yang, R. Majumder and F. Wei, “Multilingual E5 Text Embeddings: A Technical Report,” arXiv:2402.05672, 2024.</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400"/>
              </a:spcAft>
              <a:buClr>
                <a:schemeClr val="dk1"/>
              </a:buClr>
              <a:buSzPct val="90000"/>
              <a:buFont typeface="Arial"/>
              <a:buNone/>
            </a:pPr>
            <a:r>
              <a:rPr lang="en-IN" sz="1000" b="0" dirty="0">
                <a:latin typeface="Times New Roman" panose="02020603050405020304" pitchFamily="18" charset="0"/>
                <a:ea typeface="Bookman Old Style"/>
                <a:cs typeface="Times New Roman" panose="02020603050405020304" pitchFamily="18" charset="0"/>
                <a:sym typeface="Bookman Old Style"/>
              </a:rPr>
              <a:t>[6] G. V. Cormack, C. L. A. Clarke and S. Buettcher, “Reciprocal Rank Fusion Outperforms Condorcet and Individual Rank Learning Methods,” in Proc. 32nd Int. ACM SIGIR Conf., 2009, pp. 758–759.</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400"/>
              </a:spcAft>
              <a:buClr>
                <a:schemeClr val="dk1"/>
              </a:buClr>
              <a:buSzPct val="90000"/>
              <a:buFont typeface="Arial"/>
              <a:buNone/>
            </a:pPr>
            <a:r>
              <a:rPr lang="en-IN" sz="1000" b="0" dirty="0">
                <a:latin typeface="Times New Roman" panose="02020603050405020304" pitchFamily="18" charset="0"/>
                <a:ea typeface="Bookman Old Style"/>
                <a:cs typeface="Times New Roman" panose="02020603050405020304" pitchFamily="18" charset="0"/>
                <a:sym typeface="Bookman Old Style"/>
              </a:rPr>
              <a:t>[7] G. A. Croes, “A Method for Solving Traveling-Salesman Problems,” Operations Research, vol. 6, no. 6, pp. 791–812, 1958.</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400"/>
              </a:spcAft>
              <a:buClr>
                <a:schemeClr val="dk1"/>
              </a:buClr>
              <a:buSzPct val="90000"/>
              <a:buFont typeface="Arial"/>
              <a:buNone/>
            </a:pPr>
            <a:r>
              <a:rPr lang="en-IN" sz="1000" b="0" dirty="0">
                <a:latin typeface="Times New Roman" panose="02020603050405020304" pitchFamily="18" charset="0"/>
                <a:ea typeface="Bookman Old Style"/>
                <a:cs typeface="Times New Roman" panose="02020603050405020304" pitchFamily="18" charset="0"/>
                <a:sym typeface="Bookman Old Style"/>
              </a:rPr>
              <a:t>[8] D. Arthur and S. Vassilvitskii, “k-means++: The Advantages of Careful Seeding,” in Proc. 18th ACM-SIAM Symp. Discrete Algorithms (SODA), 2007, pp. 1027–1035.</a:t>
            </a:r>
            <a:endParaRPr sz="1800" b="0" dirty="0">
              <a:latin typeface="Times New Roman" panose="02020603050405020304" pitchFamily="18" charset="0"/>
              <a:cs typeface="Times New Roman" panose="02020603050405020304" pitchFamily="18" charset="0"/>
            </a:endParaRPr>
          </a:p>
          <a:p>
            <a:pPr marL="228600" indent="0" algn="l" rtl="0">
              <a:lnSpc>
                <a:spcPct val="150000"/>
              </a:lnSpc>
              <a:spcBef>
                <a:spcPts val="360"/>
              </a:spcBef>
              <a:spcAft>
                <a:spcPts val="400"/>
              </a:spcAft>
              <a:buClr>
                <a:schemeClr val="dk1"/>
              </a:buClr>
              <a:buSzPct val="90000"/>
              <a:buFont typeface="Arial"/>
              <a:buNone/>
            </a:pPr>
            <a:r>
              <a:rPr lang="en-IN" sz="1000" b="0" dirty="0">
                <a:latin typeface="Times New Roman" panose="02020603050405020304" pitchFamily="18" charset="0"/>
                <a:ea typeface="Bookman Old Style"/>
                <a:cs typeface="Times New Roman" panose="02020603050405020304" pitchFamily="18" charset="0"/>
                <a:sym typeface="Bookman Old Style"/>
              </a:rPr>
              <a:t>[9] S. P. Lloyd, “Least Squares Quantization in PCM,” IEEE Trans. Information Theory, vol. 28, no. 2, pp. 129–137, 1982.</a:t>
            </a:r>
            <a:endParaRPr sz="1800" b="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F7E51F1-3898-D2F1-E130-E335DF49869E}"/>
              </a:ext>
            </a:extLst>
          </p:cNvPr>
          <p:cNvSpPr>
            <a:spLocks noGrp="1"/>
          </p:cNvSpPr>
          <p:nvPr>
            <p:ph type="ftr" idx="11"/>
          </p:nvPr>
        </p:nvSpPr>
        <p:spPr>
          <a:xfrm>
            <a:off x="457200" y="6492875"/>
            <a:ext cx="7790688" cy="283845"/>
          </a:xfrm>
        </p:spPr>
        <p:txBody>
          <a:bodyPr/>
          <a:lstStyle/>
          <a:p>
            <a:r>
              <a:rPr lang="en-US" dirty="0"/>
              <a:t>Dept. of ISE,BMSIT&amp;M                       7th Semester, MAJOR PROJECT PHASE-2 (BCS705) REVIEW ‘1                             AY : 2026-27 </a:t>
            </a:r>
            <a:endParaRPr lang="en-IN" dirty="0"/>
          </a:p>
        </p:txBody>
      </p:sp>
      <p:sp>
        <p:nvSpPr>
          <p:cNvPr id="6" name="Slide Number Placeholder 5">
            <a:extLst>
              <a:ext uri="{FF2B5EF4-FFF2-40B4-BE49-F238E27FC236}">
                <a16:creationId xmlns:a16="http://schemas.microsoft.com/office/drawing/2014/main" id="{D4FBF170-66C7-99AD-5F18-88CCB6F91C6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IN" smtClean="0"/>
              <a:t>11</a:t>
            </a:fld>
            <a:endParaRPr lang="en-IN"/>
          </a:p>
        </p:txBody>
      </p:sp>
    </p:spTree>
  </p:cSld>
  <p:clrMapOvr>
    <a:masterClrMapping/>
  </p:clrMapOvr>
</p:sld>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759</Words>
  <Application>Microsoft Office PowerPoint</Application>
  <PresentationFormat>On-screen Show (4:3)</PresentationFormat>
  <Paragraphs>127</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Cambria Math</vt:lpstr>
      <vt:lpstr>Arial Black</vt:lpstr>
      <vt:lpstr>Calibri</vt:lpstr>
      <vt:lpstr>Century Schoolbook</vt:lpstr>
      <vt:lpstr>Times New Roman</vt:lpstr>
      <vt:lpstr>Arial</vt:lpstr>
      <vt:lpstr>Roboto</vt:lpstr>
      <vt:lpstr>Essential</vt:lpstr>
      <vt:lpstr>PowerPoint Presentation</vt:lpstr>
      <vt:lpstr>CONTENT </vt:lpstr>
      <vt:lpstr>ABSTRACT</vt:lpstr>
      <vt:lpstr>INTRODUCTION</vt:lpstr>
      <vt:lpstr>PROBLEM STATEMENT</vt:lpstr>
      <vt:lpstr>OBJECTIVES OF THE WORK</vt:lpstr>
      <vt:lpstr>METHODOLOGY </vt:lpstr>
      <vt:lpstr>DEMONSTRATION OF PROJECT EXECUTION</vt:lpstr>
      <vt:lpstr>Experimental Setup, Results &amp; Analysis</vt:lpstr>
      <vt:lpstr>PROJECT STATUS, CONCLUSION </vt:lpstr>
      <vt:lpstr>PUBLICATIONS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Sri Kothapalli</cp:lastModifiedBy>
  <cp:revision>14</cp:revision>
  <dcterms:modified xsi:type="dcterms:W3CDTF">2026-08-27T05:30:32Z</dcterms:modified>
</cp:coreProperties>
</file>