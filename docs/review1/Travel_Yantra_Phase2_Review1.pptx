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3"/>
  </p:notesMasterIdLst>
  <p:handoutMasterIdLst>
    <p:handoutMasterId r:id="rId14"/>
  </p:handoutMasterIdLst>
  <p:sldIdLst>
    <p:sldId id="256" r:id="rId2"/>
    <p:sldId id="257" r:id="rId3"/>
    <p:sldId id="258" r:id="rId4"/>
    <p:sldId id="259" r:id="rId5"/>
    <p:sldId id="260" r:id="rId6"/>
    <p:sldId id="261" r:id="rId7"/>
    <p:sldId id="262" r:id="rId8"/>
    <p:sldId id="272" r:id="rId31"/>
    <p:sldId id="273" r:id="rId32"/>
    <p:sldId id="265" r:id="rId9"/>
    <p:sldId id="274" r:id="rId33"/>
    <p:sldId id="275" r:id="rId30"/>
    <p:sldId id="266" r:id="rId10"/>
    <p:sldId id="276" r:id="rId29"/>
    <p:sldId id="271" r:id="rId11"/>
    <p:sldId id="270" r:id="rId12"/>
    <p:sldId id="277" r:id="rId28"/>
  </p:sldIdLst>
  <p:sldSz cx="9144000" cy="6858000" type="screen4x3"/>
  <p:notesSz cx="6858000" cy="9144000"/>
  <p:embeddedFontLst>
    <p:embeddedFont>
      <p:font typeface="Arial Black" panose="020B0A04020102020204" pitchFamily="34" charset="0"/>
      <p:regular r:id="rId15"/>
      <p:bold r:id="rId16"/>
    </p:embeddedFont>
    <p:embeddedFont>
      <p:font typeface="Cambria Math" panose="02040503050406030204" pitchFamily="18" charset="0"/>
      <p:regular r:id="rId17"/>
    </p:embeddedFont>
    <p:embeddedFont>
      <p:font typeface="Century Schoolbook" panose="02040604050505020304" pitchFamily="18" charset="0"/>
      <p:regular r:id="rId18"/>
      <p:bold r:id="rId19"/>
      <p:italic r:id="rId20"/>
      <p:boldItalic r:id="rId21"/>
    </p:embeddedFont>
    <p:embeddedFont>
      <p:font typeface="Roboto" panose="02000000000000000000" pitchFamily="2"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4" roundtripDataSignature="AMtx7mgQmHZMLQPRrBnjCO/7tdUMXWB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03A9E66-F23F-4685-8762-FB8163C4B72E}">
  <a:tblStyle styleId="{803A9E66-F23F-4685-8762-FB8163C4B72E}" styleName="Table_0">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CEC"/>
          </a:solidFill>
        </a:fill>
      </a:tcStyle>
    </a:wholeTbl>
    <a:band1H>
      <a:tcTxStyle b="off" i="off"/>
      <a:tcStyle>
        <a:tcBdr/>
        <a:fill>
          <a:solidFill>
            <a:srgbClr val="D6D6D6"/>
          </a:solidFill>
        </a:fill>
      </a:tcStyle>
    </a:band1H>
    <a:band2H>
      <a:tcTxStyle b="off" i="off"/>
      <a:tcStyle>
        <a:tcBdr/>
      </a:tcStyle>
    </a:band2H>
    <a:band1V>
      <a:tcTxStyle b="off" i="off"/>
      <a:tcStyle>
        <a:tcBdr/>
        <a:fill>
          <a:solidFill>
            <a:srgbClr val="D6D6D6"/>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78" d="100"/>
          <a:sy n="78" d="100"/>
        </p:scale>
        <p:origin x="1594"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font" Target="fonts/font1.fntdata"/><Relationship Id="rId16" Type="http://schemas.openxmlformats.org/officeDocument/2006/relationships/font" Target="fonts/font2.fntdata"/><Relationship Id="rId17" Type="http://schemas.openxmlformats.org/officeDocument/2006/relationships/font" Target="fonts/font3.fntdata"/><Relationship Id="rId18" Type="http://schemas.openxmlformats.org/officeDocument/2006/relationships/font" Target="fonts/font4.fntdata"/><Relationship Id="rId19" Type="http://schemas.openxmlformats.org/officeDocument/2006/relationships/font" Target="fonts/font5.fntdata"/><Relationship Id="rId20" Type="http://schemas.openxmlformats.org/officeDocument/2006/relationships/font" Target="fonts/font6.fntdata"/><Relationship Id="rId21" Type="http://schemas.openxmlformats.org/officeDocument/2006/relationships/font" Target="fonts/font7.fntdata"/><Relationship Id="rId22" Type="http://schemas.openxmlformats.org/officeDocument/2006/relationships/font" Target="fonts/font8.fntdata"/><Relationship Id="rId23" Type="http://schemas.openxmlformats.org/officeDocument/2006/relationships/font" Target="fonts/font9.fntdata"/><Relationship Id="rId24" Type="http://schemas.openxmlformats.org/officeDocument/2006/relationships/font" Target="fonts/font10.fntdata"/><Relationship Id="rId25" Type="http://schemas.openxmlformats.org/officeDocument/2006/relationships/font" Target="fonts/font11.fntdata"/><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customschemas.google.com/relationships/presentationmetadata" Target="metadata"/><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A7811BD-A0D9-3EE1-9407-F337868D4E5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5BC4D7B2-6F3E-59DD-FDFE-E247263ACC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66054B-70BE-4932-BEB3-9E86882DF594}" type="datetimeFigureOut">
              <a:rPr lang="en-IN" smtClean="0"/>
              <a:t>27-08-2026</a:t>
            </a:fld>
            <a:endParaRPr lang="en-IN"/>
          </a:p>
        </p:txBody>
      </p:sp>
      <p:sp>
        <p:nvSpPr>
          <p:cNvPr id="4" name="Footer Placeholder 3">
            <a:extLst>
              <a:ext uri="{FF2B5EF4-FFF2-40B4-BE49-F238E27FC236}">
                <a16:creationId xmlns:a16="http://schemas.microsoft.com/office/drawing/2014/main" id="{754A9260-E315-894A-7727-A05541FBB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D958F91D-4B89-2E4F-8540-19748FE84C6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C3BCD33-6147-403D-AA0A-457D67530F69}" type="slidenum">
              <a:rPr lang="en-IN" smtClean="0"/>
              <a:t>‹#›</a:t>
            </a:fld>
            <a:endParaRPr lang="en-IN"/>
          </a:p>
        </p:txBody>
      </p:sp>
    </p:spTree>
    <p:extLst>
      <p:ext uri="{BB962C8B-B14F-4D97-AF65-F5344CB8AC3E}">
        <p14:creationId xmlns:p14="http://schemas.microsoft.com/office/powerpoint/2010/main" val="656167236"/>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2" name="Google Shape;92;p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Footer Placeholder 1">
            <a:extLst>
              <a:ext uri="{FF2B5EF4-FFF2-40B4-BE49-F238E27FC236}">
                <a16:creationId xmlns:a16="http://schemas.microsoft.com/office/drawing/2014/main" id="{CCBA4D25-6967-8978-CCBC-4EF6EE848CA6}"/>
              </a:ext>
            </a:extLst>
          </p:cNvPr>
          <p:cNvSpPr>
            <a:spLocks noGrp="1"/>
          </p:cNvSpPr>
          <p:nvPr>
            <p:ph type="ftr" idx="11"/>
          </p:nvPr>
        </p:nvSpPr>
        <p:spPr/>
        <p:txBody>
          <a:bodyPr/>
          <a:lstStyle/>
          <a:p>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9" name="Google Shape;99;p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 name="Footer Placeholder 1">
            <a:extLst>
              <a:ext uri="{FF2B5EF4-FFF2-40B4-BE49-F238E27FC236}">
                <a16:creationId xmlns:a16="http://schemas.microsoft.com/office/drawing/2014/main" id="{7074EA8F-8FF2-29B5-64D1-F4B7A4A18E55}"/>
              </a:ext>
            </a:extLst>
          </p:cNvPr>
          <p:cNvSpPr>
            <a:spLocks noGrp="1"/>
          </p:cNvSpPr>
          <p:nvPr>
            <p:ph type="ftr" idx="11"/>
          </p:nvPr>
        </p:nvSpPr>
        <p:spPr/>
        <p:txBody>
          <a:bodyPr/>
          <a:lstStyle/>
          <a:p>
            <a:endParaRPr lang="en-I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a64a40ef39_0_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a64a40ef39_0_6: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6" name="Google Shape;106;g3a64a40ef39_0_6: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3</a:t>
            </a:fld>
            <a:endParaRPr/>
          </a:p>
        </p:txBody>
      </p:sp>
      <p:sp>
        <p:nvSpPr>
          <p:cNvPr id="2" name="Footer Placeholder 1">
            <a:extLst>
              <a:ext uri="{FF2B5EF4-FFF2-40B4-BE49-F238E27FC236}">
                <a16:creationId xmlns:a16="http://schemas.microsoft.com/office/drawing/2014/main" id="{6F0F4788-8663-2B40-A8DA-EE16EAE36F31}"/>
              </a:ext>
            </a:extLst>
          </p:cNvPr>
          <p:cNvSpPr>
            <a:spLocks noGrp="1"/>
          </p:cNvSpPr>
          <p:nvPr>
            <p:ph type="ftr" idx="11"/>
          </p:nvPr>
        </p:nvSpPr>
        <p:spPr/>
        <p:txBody>
          <a:bodyPr/>
          <a:lstStyle/>
          <a:p>
            <a:endParaRPr lang="en-IN"/>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a64a40ef39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a64a40ef39_0_1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13" name="Google Shape;113;g3a64a40ef39_0_1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4</a:t>
            </a:fld>
            <a:endParaRPr/>
          </a:p>
        </p:txBody>
      </p:sp>
      <p:sp>
        <p:nvSpPr>
          <p:cNvPr id="2" name="Footer Placeholder 1">
            <a:extLst>
              <a:ext uri="{FF2B5EF4-FFF2-40B4-BE49-F238E27FC236}">
                <a16:creationId xmlns:a16="http://schemas.microsoft.com/office/drawing/2014/main" id="{5EFB580A-CC69-A1EB-4334-4953B4EE2FD8}"/>
              </a:ext>
            </a:extLst>
          </p:cNvPr>
          <p:cNvSpPr>
            <a:spLocks noGrp="1"/>
          </p:cNvSpPr>
          <p:nvPr>
            <p:ph type="ftr" idx="11"/>
          </p:nvPr>
        </p:nvSpPr>
        <p:spPr/>
        <p:txBody>
          <a:bodyPr/>
          <a:lstStyle/>
          <a:p>
            <a:endParaRPr lang="en-IN"/>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a64a40ef39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a64a40ef39_0_1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0" name="Google Shape;120;g3a64a40ef39_0_1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5</a:t>
            </a:fld>
            <a:endParaRPr/>
          </a:p>
        </p:txBody>
      </p:sp>
      <p:sp>
        <p:nvSpPr>
          <p:cNvPr id="2" name="Footer Placeholder 1">
            <a:extLst>
              <a:ext uri="{FF2B5EF4-FFF2-40B4-BE49-F238E27FC236}">
                <a16:creationId xmlns:a16="http://schemas.microsoft.com/office/drawing/2014/main" id="{D5213BD1-B11C-93D9-2812-FBB33D60BFE5}"/>
              </a:ext>
            </a:extLst>
          </p:cNvPr>
          <p:cNvSpPr>
            <a:spLocks noGrp="1"/>
          </p:cNvSpPr>
          <p:nvPr>
            <p:ph type="ftr" idx="11"/>
          </p:nvPr>
        </p:nvSpPr>
        <p:spPr/>
        <p:txBody>
          <a:bodyPr/>
          <a:lstStyle/>
          <a:p>
            <a:endParaRPr lang="en-IN"/>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a64a40ef39_2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a64a40ef39_2_2: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g3a64a40ef39_2_2: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6</a:t>
            </a:fld>
            <a:endParaRPr/>
          </a:p>
        </p:txBody>
      </p:sp>
      <p:sp>
        <p:nvSpPr>
          <p:cNvPr id="2" name="Footer Placeholder 1">
            <a:extLst>
              <a:ext uri="{FF2B5EF4-FFF2-40B4-BE49-F238E27FC236}">
                <a16:creationId xmlns:a16="http://schemas.microsoft.com/office/drawing/2014/main" id="{606A092B-DDD9-08B8-88C0-92F7E428261A}"/>
              </a:ext>
            </a:extLst>
          </p:cNvPr>
          <p:cNvSpPr>
            <a:spLocks noGrp="1"/>
          </p:cNvSpPr>
          <p:nvPr>
            <p:ph type="ftr" idx="11"/>
          </p:nvPr>
        </p:nvSpPr>
        <p:spPr/>
        <p:txBody>
          <a:bodyPr/>
          <a:lstStyle/>
          <a:p>
            <a:endParaRPr lang="en-IN"/>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a64a40ef39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a64a40ef39_2_8: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4" name="Google Shape;134;g3a64a40ef39_2_8: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7</a:t>
            </a:fld>
            <a:endParaRPr/>
          </a:p>
        </p:txBody>
      </p:sp>
      <p:sp>
        <p:nvSpPr>
          <p:cNvPr id="2" name="Footer Placeholder 1">
            <a:extLst>
              <a:ext uri="{FF2B5EF4-FFF2-40B4-BE49-F238E27FC236}">
                <a16:creationId xmlns:a16="http://schemas.microsoft.com/office/drawing/2014/main" id="{E994FE26-81B1-ABCB-5078-0084A1BDBE06}"/>
              </a:ext>
            </a:extLst>
          </p:cNvPr>
          <p:cNvSpPr>
            <a:spLocks noGrp="1"/>
          </p:cNvSpPr>
          <p:nvPr>
            <p:ph type="ftr" idx="11"/>
          </p:nvPr>
        </p:nvSpPr>
        <p:spPr/>
        <p:txBody>
          <a:bodyPr/>
          <a:lstStyle/>
          <a:p>
            <a:endParaRPr lang="en-IN"/>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a64a40ef39_2_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a64a40ef39_2_3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5" name="Google Shape;155;g3a64a40ef39_2_3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8</a:t>
            </a:fld>
            <a:endParaRPr/>
          </a:p>
        </p:txBody>
      </p:sp>
      <p:sp>
        <p:nvSpPr>
          <p:cNvPr id="2" name="Footer Placeholder 1">
            <a:extLst>
              <a:ext uri="{FF2B5EF4-FFF2-40B4-BE49-F238E27FC236}">
                <a16:creationId xmlns:a16="http://schemas.microsoft.com/office/drawing/2014/main" id="{DEAE2A33-4FB0-FEB2-45EC-843A6AB61038}"/>
              </a:ext>
            </a:extLst>
          </p:cNvPr>
          <p:cNvSpPr>
            <a:spLocks noGrp="1"/>
          </p:cNvSpPr>
          <p:nvPr>
            <p:ph type="ftr" idx="11"/>
          </p:nvPr>
        </p:nvSpPr>
        <p:spPr/>
        <p:txBody>
          <a:bodyPr/>
          <a:lstStyle/>
          <a:p>
            <a:endParaRPr lang="en-IN"/>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a64a40ef39_2_3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3a64a40ef39_2_37: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2" name="Google Shape;162;g3a64a40ef39_2_37: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9</a:t>
            </a:fld>
            <a:endParaRPr/>
          </a:p>
        </p:txBody>
      </p:sp>
      <p:sp>
        <p:nvSpPr>
          <p:cNvPr id="2" name="Footer Placeholder 1">
            <a:extLst>
              <a:ext uri="{FF2B5EF4-FFF2-40B4-BE49-F238E27FC236}">
                <a16:creationId xmlns:a16="http://schemas.microsoft.com/office/drawing/2014/main" id="{572C23AA-E5AB-0C7F-55C3-BA5A4327107C}"/>
              </a:ext>
            </a:extLst>
          </p:cNvPr>
          <p:cNvSpPr>
            <a:spLocks noGrp="1"/>
          </p:cNvSpPr>
          <p:nvPr>
            <p:ph type="ftr" idx="11"/>
          </p:nvPr>
        </p:nvSpPr>
        <p:spPr/>
        <p:txBody>
          <a:bodyPr/>
          <a:lstStyle/>
          <a:p>
            <a:endParaRPr lang="en-IN"/>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a64a40ef39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3a64a40ef39_0_0: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0" name="Google Shape;190;g3a64a40ef39_0_0:notes"/>
          <p:cNvSpPr txBox="1">
            <a:spLocks noGrp="1"/>
          </p:cNvSpPr>
          <p:nvPr>
            <p:ph type="sldNum" idx="12"/>
          </p:nvPr>
        </p:nvSpPr>
        <p:spPr>
          <a:xfrm>
            <a:off x="3884613" y="8685213"/>
            <a:ext cx="2971800" cy="4572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IN"/>
              <a:t>11</a:t>
            </a:fld>
            <a:endParaRPr/>
          </a:p>
        </p:txBody>
      </p:sp>
      <p:sp>
        <p:nvSpPr>
          <p:cNvPr id="2" name="Footer Placeholder 1">
            <a:extLst>
              <a:ext uri="{FF2B5EF4-FFF2-40B4-BE49-F238E27FC236}">
                <a16:creationId xmlns:a16="http://schemas.microsoft.com/office/drawing/2014/main" id="{4F053429-B8AC-800A-1E90-CBBEA9786FC9}"/>
              </a:ext>
            </a:extLst>
          </p:cNvPr>
          <p:cNvSpPr>
            <a:spLocks noGrp="1"/>
          </p:cNvSpPr>
          <p:nvPr>
            <p:ph type="ftr" idx="11"/>
          </p:nvPr>
        </p:nvSpPr>
        <p:spPr/>
        <p:txBody>
          <a:bodyPr/>
          <a:lstStyle/>
          <a:p>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7"/>
        <p:cNvGrpSpPr/>
        <p:nvPr/>
      </p:nvGrpSpPr>
      <p:grpSpPr>
        <a:xfrm>
          <a:off x="0" y="0"/>
          <a:ext cx="0" cy="0"/>
          <a:chOff x="0" y="0"/>
          <a:chExt cx="0" cy="0"/>
        </a:xfrm>
      </p:grpSpPr>
      <p:sp>
        <p:nvSpPr>
          <p:cNvPr id="18" name="Google Shape;18;p5"/>
          <p:cNvSpPr txBox="1">
            <a:spLocks noGrp="1"/>
          </p:cNvSpPr>
          <p:nvPr>
            <p:ph type="ctrTitle"/>
          </p:nvPr>
        </p:nvSpPr>
        <p:spPr>
          <a:xfrm>
            <a:off x="457200" y="228600"/>
            <a:ext cx="7772400" cy="4571999"/>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5"/>
          <p:cNvSpPr txBox="1">
            <a:spLocks noGrp="1"/>
          </p:cNvSpPr>
          <p:nvPr>
            <p:ph type="subTitle" idx="1"/>
          </p:nvPr>
        </p:nvSpPr>
        <p:spPr>
          <a:xfrm>
            <a:off x="457200" y="4800600"/>
            <a:ext cx="6858000" cy="9144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400"/>
              </a:spcBef>
              <a:spcAft>
                <a:spcPts val="0"/>
              </a:spcAft>
              <a:buClr>
                <a:schemeClr val="dk2"/>
              </a:buClr>
              <a:buSzPts val="2000"/>
              <a:buNone/>
              <a:defRPr b="0" cap="none">
                <a:solidFill>
                  <a:schemeClr val="dk2"/>
                </a:solidFill>
                <a:latin typeface="Arial Black"/>
                <a:ea typeface="Arial Black"/>
                <a:cs typeface="Arial Black"/>
                <a:sym typeface="Arial Black"/>
              </a:defRPr>
            </a:lvl1pPr>
            <a:lvl2pPr lvl="1" algn="ctr">
              <a:lnSpc>
                <a:spcPct val="100000"/>
              </a:lnSpc>
              <a:spcBef>
                <a:spcPts val="600"/>
              </a:spcBef>
              <a:spcAft>
                <a:spcPts val="0"/>
              </a:spcAft>
              <a:buSzPts val="2000"/>
              <a:buNone/>
              <a:defRPr>
                <a:solidFill>
                  <a:srgbClr val="888888"/>
                </a:solidFill>
              </a:defRPr>
            </a:lvl2pPr>
            <a:lvl3pPr lvl="2" algn="ctr">
              <a:lnSpc>
                <a:spcPct val="100000"/>
              </a:lnSpc>
              <a:spcBef>
                <a:spcPts val="360"/>
              </a:spcBef>
              <a:spcAft>
                <a:spcPts val="0"/>
              </a:spcAft>
              <a:buSzPts val="1800"/>
              <a:buNone/>
              <a:defRPr>
                <a:solidFill>
                  <a:srgbClr val="888888"/>
                </a:solidFill>
              </a:defRPr>
            </a:lvl3pPr>
            <a:lvl4pPr lvl="3" algn="ctr">
              <a:lnSpc>
                <a:spcPct val="100000"/>
              </a:lnSpc>
              <a:spcBef>
                <a:spcPts val="360"/>
              </a:spcBef>
              <a:spcAft>
                <a:spcPts val="0"/>
              </a:spcAft>
              <a:buSzPts val="1800"/>
              <a:buNone/>
              <a:defRPr>
                <a:solidFill>
                  <a:srgbClr val="888888"/>
                </a:solidFill>
              </a:defRPr>
            </a:lvl4pPr>
            <a:lvl5pPr lvl="4" algn="ctr">
              <a:lnSpc>
                <a:spcPct val="100000"/>
              </a:lnSpc>
              <a:spcBef>
                <a:spcPts val="360"/>
              </a:spcBef>
              <a:spcAft>
                <a:spcPts val="0"/>
              </a:spcAft>
              <a:buSzPts val="1800"/>
              <a:buNone/>
              <a:defRPr>
                <a:solidFill>
                  <a:srgbClr val="888888"/>
                </a:solidFill>
              </a:defRPr>
            </a:lvl5pPr>
            <a:lvl6pPr lvl="5" algn="ctr">
              <a:lnSpc>
                <a:spcPct val="100000"/>
              </a:lnSpc>
              <a:spcBef>
                <a:spcPts val="320"/>
              </a:spcBef>
              <a:spcAft>
                <a:spcPts val="0"/>
              </a:spcAft>
              <a:buSzPts val="1600"/>
              <a:buNone/>
              <a:defRPr>
                <a:solidFill>
                  <a:srgbClr val="888888"/>
                </a:solidFill>
              </a:defRPr>
            </a:lvl6pPr>
            <a:lvl7pPr lvl="6" algn="ctr">
              <a:lnSpc>
                <a:spcPct val="100000"/>
              </a:lnSpc>
              <a:spcBef>
                <a:spcPts val="320"/>
              </a:spcBef>
              <a:spcAft>
                <a:spcPts val="0"/>
              </a:spcAft>
              <a:buSzPts val="1600"/>
              <a:buNone/>
              <a:defRPr>
                <a:solidFill>
                  <a:srgbClr val="888888"/>
                </a:solidFill>
              </a:defRPr>
            </a:lvl7pPr>
            <a:lvl8pPr lvl="7" algn="ctr">
              <a:lnSpc>
                <a:spcPct val="100000"/>
              </a:lnSpc>
              <a:spcBef>
                <a:spcPts val="320"/>
              </a:spcBef>
              <a:spcAft>
                <a:spcPts val="0"/>
              </a:spcAft>
              <a:buSzPts val="1600"/>
              <a:buNone/>
              <a:defRPr>
                <a:solidFill>
                  <a:srgbClr val="888888"/>
                </a:solidFill>
              </a:defRPr>
            </a:lvl8pPr>
            <a:lvl9pPr lvl="8" algn="ctr">
              <a:lnSpc>
                <a:spcPct val="100000"/>
              </a:lnSpc>
              <a:spcBef>
                <a:spcPts val="320"/>
              </a:spcBef>
              <a:spcAft>
                <a:spcPts val="0"/>
              </a:spcAft>
              <a:buSzPts val="1600"/>
              <a:buNone/>
              <a:defRPr>
                <a:solidFill>
                  <a:srgbClr val="888888"/>
                </a:solidFill>
              </a:defRPr>
            </a:lvl9pPr>
          </a:lstStyle>
          <a:p>
            <a:endParaRPr/>
          </a:p>
        </p:txBody>
      </p:sp>
      <p:sp>
        <p:nvSpPr>
          <p:cNvPr id="20" name="Google Shape;20;p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22" name="Google Shape;22;p5"/>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3" name="Google Shape;23;p5"/>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24" name="Google Shape;24;p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6"/>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28" name="Google Shape;28;p6"/>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6"/>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30" name="Google Shape;30;p6"/>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7"/>
          <p:cNvSpPr txBox="1">
            <a:spLocks noGrp="1"/>
          </p:cNvSpPr>
          <p:nvPr>
            <p:ph type="title"/>
          </p:nvPr>
        </p:nvSpPr>
        <p:spPr>
          <a:xfrm>
            <a:off x="457200" y="1447800"/>
            <a:ext cx="7772400" cy="432117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8800"/>
              <a:buFont typeface="Arial Black"/>
              <a:buNone/>
              <a:defRPr sz="8800" b="0" cap="none">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7"/>
          <p:cNvSpPr txBox="1">
            <a:spLocks noGrp="1"/>
          </p:cNvSpPr>
          <p:nvPr>
            <p:ph type="body" idx="1"/>
          </p:nvPr>
        </p:nvSpPr>
        <p:spPr>
          <a:xfrm>
            <a:off x="457200" y="228601"/>
            <a:ext cx="7772400" cy="1066800"/>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chemeClr val="dk2"/>
              </a:buClr>
              <a:buSzPts val="2000"/>
              <a:buNone/>
              <a:defRPr sz="2000" b="0" cap="none">
                <a:solidFill>
                  <a:schemeClr val="dk2"/>
                </a:solidFill>
                <a:latin typeface="Arial Black"/>
                <a:ea typeface="Arial Black"/>
                <a:cs typeface="Arial Black"/>
                <a:sym typeface="Arial Black"/>
              </a:defRPr>
            </a:lvl1pPr>
            <a:lvl2pPr marL="914400" lvl="1" indent="-228600" algn="l">
              <a:lnSpc>
                <a:spcPct val="100000"/>
              </a:lnSpc>
              <a:spcBef>
                <a:spcPts val="600"/>
              </a:spcBef>
              <a:spcAft>
                <a:spcPts val="0"/>
              </a:spcAft>
              <a:buSzPts val="1800"/>
              <a:buNone/>
              <a:defRPr sz="1800">
                <a:solidFill>
                  <a:srgbClr val="888888"/>
                </a:solidFill>
              </a:defRPr>
            </a:lvl2pPr>
            <a:lvl3pPr marL="1371600" lvl="2" indent="-228600" algn="l">
              <a:lnSpc>
                <a:spcPct val="100000"/>
              </a:lnSpc>
              <a:spcBef>
                <a:spcPts val="320"/>
              </a:spcBef>
              <a:spcAft>
                <a:spcPts val="0"/>
              </a:spcAft>
              <a:buSzPts val="1600"/>
              <a:buNone/>
              <a:defRPr sz="1600">
                <a:solidFill>
                  <a:srgbClr val="888888"/>
                </a:solidFill>
              </a:defRPr>
            </a:lvl3pPr>
            <a:lvl4pPr marL="1828800" lvl="3" indent="-228600" algn="l">
              <a:lnSpc>
                <a:spcPct val="100000"/>
              </a:lnSpc>
              <a:spcBef>
                <a:spcPts val="280"/>
              </a:spcBef>
              <a:spcAft>
                <a:spcPts val="0"/>
              </a:spcAft>
              <a:buSzPts val="1400"/>
              <a:buNone/>
              <a:defRPr sz="1400">
                <a:solidFill>
                  <a:srgbClr val="888888"/>
                </a:solidFill>
              </a:defRPr>
            </a:lvl4pPr>
            <a:lvl5pPr marL="2286000" lvl="4" indent="-228600" algn="l">
              <a:lnSpc>
                <a:spcPct val="100000"/>
              </a:lnSpc>
              <a:spcBef>
                <a:spcPts val="280"/>
              </a:spcBef>
              <a:spcAft>
                <a:spcPts val="0"/>
              </a:spcAft>
              <a:buSzPts val="1400"/>
              <a:buNone/>
              <a:defRPr sz="1400">
                <a:solidFill>
                  <a:srgbClr val="888888"/>
                </a:solidFill>
              </a:defRPr>
            </a:lvl5pPr>
            <a:lvl6pPr marL="2743200" lvl="5" indent="-228600" algn="l">
              <a:lnSpc>
                <a:spcPct val="100000"/>
              </a:lnSpc>
              <a:spcBef>
                <a:spcPts val="280"/>
              </a:spcBef>
              <a:spcAft>
                <a:spcPts val="0"/>
              </a:spcAft>
              <a:buSzPts val="1400"/>
              <a:buNone/>
              <a:defRPr sz="1400">
                <a:solidFill>
                  <a:srgbClr val="888888"/>
                </a:solidFill>
              </a:defRPr>
            </a:lvl6pPr>
            <a:lvl7pPr marL="3200400" lvl="6" indent="-228600" algn="l">
              <a:lnSpc>
                <a:spcPct val="100000"/>
              </a:lnSpc>
              <a:spcBef>
                <a:spcPts val="280"/>
              </a:spcBef>
              <a:spcAft>
                <a:spcPts val="0"/>
              </a:spcAft>
              <a:buSzPts val="1400"/>
              <a:buNone/>
              <a:defRPr sz="1400">
                <a:solidFill>
                  <a:srgbClr val="888888"/>
                </a:solidFill>
              </a:defRPr>
            </a:lvl7pPr>
            <a:lvl8pPr marL="3657600" lvl="7" indent="-228600" algn="l">
              <a:lnSpc>
                <a:spcPct val="100000"/>
              </a:lnSpc>
              <a:spcBef>
                <a:spcPts val="280"/>
              </a:spcBef>
              <a:spcAft>
                <a:spcPts val="0"/>
              </a:spcAft>
              <a:buSzPts val="1400"/>
              <a:buNone/>
              <a:defRPr sz="1400">
                <a:solidFill>
                  <a:srgbClr val="888888"/>
                </a:solidFill>
              </a:defRPr>
            </a:lvl8pPr>
            <a:lvl9pPr marL="4114800" lvl="8" indent="-228600" algn="l">
              <a:lnSpc>
                <a:spcPct val="100000"/>
              </a:lnSpc>
              <a:spcBef>
                <a:spcPts val="280"/>
              </a:spcBef>
              <a:spcAft>
                <a:spcPts val="0"/>
              </a:spcAft>
              <a:buSzPts val="1400"/>
              <a:buNone/>
              <a:defRPr sz="1400">
                <a:solidFill>
                  <a:srgbClr val="888888"/>
                </a:solidFill>
              </a:defRPr>
            </a:lvl9pPr>
          </a:lstStyle>
          <a:p>
            <a:endParaRPr/>
          </a:p>
        </p:txBody>
      </p:sp>
      <p:sp>
        <p:nvSpPr>
          <p:cNvPr id="34" name="Google Shape;34;p7"/>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7"/>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36" name="Google Shape;36;p7"/>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8"/>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8"/>
          <p:cNvSpPr txBox="1">
            <a:spLocks noGrp="1"/>
          </p:cNvSpPr>
          <p:nvPr>
            <p:ph type="body" idx="1"/>
          </p:nvPr>
        </p:nvSpPr>
        <p:spPr>
          <a:xfrm>
            <a:off x="163068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0" name="Google Shape;40;p8"/>
          <p:cNvSpPr txBox="1">
            <a:spLocks noGrp="1"/>
          </p:cNvSpPr>
          <p:nvPr>
            <p:ph type="body" idx="2"/>
          </p:nvPr>
        </p:nvSpPr>
        <p:spPr>
          <a:xfrm>
            <a:off x="5090160" y="1574800"/>
            <a:ext cx="3291840" cy="45259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560"/>
              </a:spcBef>
              <a:spcAft>
                <a:spcPts val="0"/>
              </a:spcAft>
              <a:buClr>
                <a:schemeClr val="dk1"/>
              </a:buClr>
              <a:buSzPts val="2800"/>
              <a:buNone/>
              <a:defRPr sz="2800"/>
            </a:lvl1pPr>
            <a:lvl2pPr marL="914400" lvl="1" indent="-381000" algn="l">
              <a:lnSpc>
                <a:spcPct val="100000"/>
              </a:lnSpc>
              <a:spcBef>
                <a:spcPts val="600"/>
              </a:spcBef>
              <a:spcAft>
                <a:spcPts val="0"/>
              </a:spcAft>
              <a:buSzPts val="2400"/>
              <a:buChar char="•"/>
              <a:defRPr sz="2400"/>
            </a:lvl2pPr>
            <a:lvl3pPr marL="1371600" lvl="2" indent="-355600" algn="l">
              <a:lnSpc>
                <a:spcPct val="100000"/>
              </a:lnSpc>
              <a:spcBef>
                <a:spcPts val="400"/>
              </a:spcBef>
              <a:spcAft>
                <a:spcPts val="0"/>
              </a:spcAft>
              <a:buSzPts val="2000"/>
              <a:buChar char="•"/>
              <a:defRPr sz="2000"/>
            </a:lvl3pPr>
            <a:lvl4pPr marL="1828800" lvl="3" indent="-342900" algn="l">
              <a:lnSpc>
                <a:spcPct val="100000"/>
              </a:lnSpc>
              <a:spcBef>
                <a:spcPts val="360"/>
              </a:spcBef>
              <a:spcAft>
                <a:spcPts val="0"/>
              </a:spcAft>
              <a:buSzPts val="1800"/>
              <a:buChar char="•"/>
              <a:defRPr sz="1800"/>
            </a:lvl4pPr>
            <a:lvl5pPr marL="2286000" lvl="4" indent="-342900" algn="l">
              <a:lnSpc>
                <a:spcPct val="100000"/>
              </a:lnSpc>
              <a:spcBef>
                <a:spcPts val="360"/>
              </a:spcBef>
              <a:spcAft>
                <a:spcPts val="0"/>
              </a:spcAft>
              <a:buSzPts val="1800"/>
              <a:buChar char="•"/>
              <a:defRPr sz="1800"/>
            </a:lvl5pPr>
            <a:lvl6pPr marL="2743200" lvl="5" indent="-342900" algn="l">
              <a:lnSpc>
                <a:spcPct val="100000"/>
              </a:lnSpc>
              <a:spcBef>
                <a:spcPts val="360"/>
              </a:spcBef>
              <a:spcAft>
                <a:spcPts val="0"/>
              </a:spcAft>
              <a:buSzPts val="1800"/>
              <a:buChar char="•"/>
              <a:defRPr sz="1800"/>
            </a:lvl6pPr>
            <a:lvl7pPr marL="3200400" lvl="6" indent="-342900" algn="l">
              <a:lnSpc>
                <a:spcPct val="100000"/>
              </a:lnSpc>
              <a:spcBef>
                <a:spcPts val="360"/>
              </a:spcBef>
              <a:spcAft>
                <a:spcPts val="0"/>
              </a:spcAft>
              <a:buSzPts val="1800"/>
              <a:buChar char="•"/>
              <a:defRPr sz="1800"/>
            </a:lvl7pPr>
            <a:lvl8pPr marL="3657600" lvl="7" indent="-342900" algn="l">
              <a:lnSpc>
                <a:spcPct val="100000"/>
              </a:lnSpc>
              <a:spcBef>
                <a:spcPts val="360"/>
              </a:spcBef>
              <a:spcAft>
                <a:spcPts val="0"/>
              </a:spcAft>
              <a:buSzPts val="1800"/>
              <a:buChar char="•"/>
              <a:defRPr sz="1800"/>
            </a:lvl8pPr>
            <a:lvl9pPr marL="4114800" lvl="8" indent="-342900" algn="l">
              <a:lnSpc>
                <a:spcPct val="100000"/>
              </a:lnSpc>
              <a:spcBef>
                <a:spcPts val="360"/>
              </a:spcBef>
              <a:spcAft>
                <a:spcPts val="0"/>
              </a:spcAft>
              <a:buSzPts val="1800"/>
              <a:buChar char="•"/>
              <a:defRPr sz="1800"/>
            </a:lvl9pPr>
          </a:lstStyle>
          <a:p>
            <a:endParaRPr/>
          </a:p>
        </p:txBody>
      </p:sp>
      <p:sp>
        <p:nvSpPr>
          <p:cNvPr id="41" name="Google Shape;41;p8"/>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8"/>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43" name="Google Shape;43;p8"/>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9"/>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3600"/>
              <a:buFont typeface="Arial Black"/>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9"/>
          <p:cNvSpPr txBox="1">
            <a:spLocks noGrp="1"/>
          </p:cNvSpPr>
          <p:nvPr>
            <p:ph type="body" idx="1"/>
          </p:nvPr>
        </p:nvSpPr>
        <p:spPr>
          <a:xfrm>
            <a:off x="1627632"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7" name="Google Shape;47;p9"/>
          <p:cNvSpPr txBox="1">
            <a:spLocks noGrp="1"/>
          </p:cNvSpPr>
          <p:nvPr>
            <p:ph type="body" idx="2"/>
          </p:nvPr>
        </p:nvSpPr>
        <p:spPr>
          <a:xfrm>
            <a:off x="1627632"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48" name="Google Shape;48;p9"/>
          <p:cNvSpPr txBox="1">
            <a:spLocks noGrp="1"/>
          </p:cNvSpPr>
          <p:nvPr>
            <p:ph type="body" idx="3"/>
          </p:nvPr>
        </p:nvSpPr>
        <p:spPr>
          <a:xfrm>
            <a:off x="5093208" y="1572768"/>
            <a:ext cx="3291840" cy="6397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chemeClr val="dk1"/>
              </a:buClr>
              <a:buSzPts val="1800"/>
              <a:buNone/>
              <a:defRPr sz="1800" b="0" cap="none">
                <a:solidFill>
                  <a:schemeClr val="dk1"/>
                </a:solidFill>
                <a:latin typeface="Arial Black"/>
                <a:ea typeface="Arial Black"/>
                <a:cs typeface="Arial Black"/>
                <a:sym typeface="Arial Black"/>
              </a:defRPr>
            </a:lvl1pPr>
            <a:lvl2pPr marL="914400" lvl="1" indent="-228600" algn="l">
              <a:lnSpc>
                <a:spcPct val="100000"/>
              </a:lnSpc>
              <a:spcBef>
                <a:spcPts val="600"/>
              </a:spcBef>
              <a:spcAft>
                <a:spcPts val="0"/>
              </a:spcAft>
              <a:buSzPts val="2000"/>
              <a:buNone/>
              <a:defRPr sz="2000" b="1"/>
            </a:lvl2pPr>
            <a:lvl3pPr marL="1371600" lvl="2" indent="-228600" algn="l">
              <a:lnSpc>
                <a:spcPct val="100000"/>
              </a:lnSpc>
              <a:spcBef>
                <a:spcPts val="360"/>
              </a:spcBef>
              <a:spcAft>
                <a:spcPts val="0"/>
              </a:spcAft>
              <a:buSzPts val="1800"/>
              <a:buNone/>
              <a:defRPr sz="1800" b="1"/>
            </a:lvl3pPr>
            <a:lvl4pPr marL="1828800" lvl="3" indent="-228600" algn="l">
              <a:lnSpc>
                <a:spcPct val="100000"/>
              </a:lnSpc>
              <a:spcBef>
                <a:spcPts val="320"/>
              </a:spcBef>
              <a:spcAft>
                <a:spcPts val="0"/>
              </a:spcAft>
              <a:buSzPts val="1600"/>
              <a:buNone/>
              <a:defRPr sz="1600" b="1"/>
            </a:lvl4pPr>
            <a:lvl5pPr marL="2286000" lvl="4" indent="-228600" algn="l">
              <a:lnSpc>
                <a:spcPct val="100000"/>
              </a:lnSpc>
              <a:spcBef>
                <a:spcPts val="320"/>
              </a:spcBef>
              <a:spcAft>
                <a:spcPts val="0"/>
              </a:spcAft>
              <a:buSzPts val="1600"/>
              <a:buNone/>
              <a:defRPr sz="1600" b="1"/>
            </a:lvl5pPr>
            <a:lvl6pPr marL="2743200" lvl="5" indent="-228600" algn="l">
              <a:lnSpc>
                <a:spcPct val="100000"/>
              </a:lnSpc>
              <a:spcBef>
                <a:spcPts val="320"/>
              </a:spcBef>
              <a:spcAft>
                <a:spcPts val="0"/>
              </a:spcAft>
              <a:buSzPts val="1600"/>
              <a:buNone/>
              <a:defRPr sz="1600" b="1"/>
            </a:lvl6pPr>
            <a:lvl7pPr marL="3200400" lvl="6" indent="-228600" algn="l">
              <a:lnSpc>
                <a:spcPct val="100000"/>
              </a:lnSpc>
              <a:spcBef>
                <a:spcPts val="320"/>
              </a:spcBef>
              <a:spcAft>
                <a:spcPts val="0"/>
              </a:spcAft>
              <a:buSzPts val="1600"/>
              <a:buNone/>
              <a:defRPr sz="1600" b="1"/>
            </a:lvl7pPr>
            <a:lvl8pPr marL="3657600" lvl="7" indent="-228600" algn="l">
              <a:lnSpc>
                <a:spcPct val="100000"/>
              </a:lnSpc>
              <a:spcBef>
                <a:spcPts val="320"/>
              </a:spcBef>
              <a:spcAft>
                <a:spcPts val="0"/>
              </a:spcAft>
              <a:buSzPts val="1600"/>
              <a:buNone/>
              <a:defRPr sz="1600" b="1"/>
            </a:lvl8pPr>
            <a:lvl9pPr marL="4114800" lvl="8" indent="-228600" algn="l">
              <a:lnSpc>
                <a:spcPct val="100000"/>
              </a:lnSpc>
              <a:spcBef>
                <a:spcPts val="320"/>
              </a:spcBef>
              <a:spcAft>
                <a:spcPts val="0"/>
              </a:spcAft>
              <a:buSzPts val="1600"/>
              <a:buNone/>
              <a:defRPr sz="1600" b="1"/>
            </a:lvl9pPr>
          </a:lstStyle>
          <a:p>
            <a:endParaRPr/>
          </a:p>
        </p:txBody>
      </p:sp>
      <p:sp>
        <p:nvSpPr>
          <p:cNvPr id="49" name="Google Shape;49;p9"/>
          <p:cNvSpPr txBox="1">
            <a:spLocks noGrp="1"/>
          </p:cNvSpPr>
          <p:nvPr>
            <p:ph type="body" idx="4"/>
          </p:nvPr>
        </p:nvSpPr>
        <p:spPr>
          <a:xfrm>
            <a:off x="5093208" y="2259366"/>
            <a:ext cx="3291840" cy="384048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80"/>
              </a:spcBef>
              <a:spcAft>
                <a:spcPts val="0"/>
              </a:spcAft>
              <a:buClr>
                <a:schemeClr val="dk1"/>
              </a:buClr>
              <a:buSzPts val="2400"/>
              <a:buNone/>
              <a:defRPr sz="2400"/>
            </a:lvl1pPr>
            <a:lvl2pPr marL="914400" lvl="1" indent="-355600" algn="l">
              <a:lnSpc>
                <a:spcPct val="100000"/>
              </a:lnSpc>
              <a:spcBef>
                <a:spcPts val="600"/>
              </a:spcBef>
              <a:spcAft>
                <a:spcPts val="0"/>
              </a:spcAft>
              <a:buSzPts val="2000"/>
              <a:buChar char="•"/>
              <a:defRPr sz="2000"/>
            </a:lvl2pPr>
            <a:lvl3pPr marL="1371600" lvl="2" indent="-342900" algn="l">
              <a:lnSpc>
                <a:spcPct val="100000"/>
              </a:lnSpc>
              <a:spcBef>
                <a:spcPts val="360"/>
              </a:spcBef>
              <a:spcAft>
                <a:spcPts val="0"/>
              </a:spcAft>
              <a:buSzPts val="1800"/>
              <a:buChar char="•"/>
              <a:defRPr sz="1800"/>
            </a:lvl3pPr>
            <a:lvl4pPr marL="1828800" lvl="3" indent="-330200" algn="l">
              <a:lnSpc>
                <a:spcPct val="100000"/>
              </a:lnSpc>
              <a:spcBef>
                <a:spcPts val="320"/>
              </a:spcBef>
              <a:spcAft>
                <a:spcPts val="0"/>
              </a:spcAft>
              <a:buSzPts val="1600"/>
              <a:buChar char="•"/>
              <a:defRPr sz="1600"/>
            </a:lvl4pPr>
            <a:lvl5pPr marL="2286000" lvl="4" indent="-330200" algn="l">
              <a:lnSpc>
                <a:spcPct val="100000"/>
              </a:lnSpc>
              <a:spcBef>
                <a:spcPts val="320"/>
              </a:spcBef>
              <a:spcAft>
                <a:spcPts val="0"/>
              </a:spcAft>
              <a:buSzPts val="1600"/>
              <a:buChar char="•"/>
              <a:defRPr sz="1600"/>
            </a:lvl5pPr>
            <a:lvl6pPr marL="2743200" lvl="5" indent="-330200" algn="l">
              <a:lnSpc>
                <a:spcPct val="100000"/>
              </a:lnSpc>
              <a:spcBef>
                <a:spcPts val="320"/>
              </a:spcBef>
              <a:spcAft>
                <a:spcPts val="0"/>
              </a:spcAft>
              <a:buSzPts val="1600"/>
              <a:buChar char="•"/>
              <a:defRPr sz="1600"/>
            </a:lvl6pPr>
            <a:lvl7pPr marL="3200400" lvl="6" indent="-330200" algn="l">
              <a:lnSpc>
                <a:spcPct val="100000"/>
              </a:lnSpc>
              <a:spcBef>
                <a:spcPts val="320"/>
              </a:spcBef>
              <a:spcAft>
                <a:spcPts val="0"/>
              </a:spcAft>
              <a:buSzPts val="1600"/>
              <a:buChar char="•"/>
              <a:defRPr sz="1600"/>
            </a:lvl7pPr>
            <a:lvl8pPr marL="3657600" lvl="7" indent="-330200" algn="l">
              <a:lnSpc>
                <a:spcPct val="100000"/>
              </a:lnSpc>
              <a:spcBef>
                <a:spcPts val="320"/>
              </a:spcBef>
              <a:spcAft>
                <a:spcPts val="0"/>
              </a:spcAft>
              <a:buSzPts val="1600"/>
              <a:buChar char="•"/>
              <a:defRPr sz="1600"/>
            </a:lvl8pPr>
            <a:lvl9pPr marL="4114800" lvl="8" indent="-330200" algn="l">
              <a:lnSpc>
                <a:spcPct val="100000"/>
              </a:lnSpc>
              <a:spcBef>
                <a:spcPts val="320"/>
              </a:spcBef>
              <a:spcAft>
                <a:spcPts val="0"/>
              </a:spcAft>
              <a:buSzPts val="1600"/>
              <a:buChar char="•"/>
              <a:defRPr sz="1600"/>
            </a:lvl9pPr>
          </a:lstStyle>
          <a:p>
            <a:endParaRPr/>
          </a:p>
        </p:txBody>
      </p:sp>
      <p:sp>
        <p:nvSpPr>
          <p:cNvPr id="50" name="Google Shape;50;p9"/>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9"/>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52" name="Google Shape;52;p9"/>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10"/>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10"/>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0"/>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57" name="Google Shape;57;p10"/>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1"/>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1"/>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61" name="Google Shape;61;p11"/>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2"/>
        <p:cNvGrpSpPr/>
        <p:nvPr/>
      </p:nvGrpSpPr>
      <p:grpSpPr>
        <a:xfrm>
          <a:off x="0" y="0"/>
          <a:ext cx="0" cy="0"/>
          <a:chOff x="0" y="0"/>
          <a:chExt cx="0" cy="0"/>
        </a:xfrm>
      </p:grpSpPr>
      <p:sp>
        <p:nvSpPr>
          <p:cNvPr id="63" name="Google Shape;63;p12"/>
          <p:cNvSpPr txBox="1">
            <a:spLocks noGrp="1"/>
          </p:cNvSpPr>
          <p:nvPr>
            <p:ph type="body" idx="1"/>
          </p:nvPr>
        </p:nvSpPr>
        <p:spPr>
          <a:xfrm>
            <a:off x="3575050" y="1600200"/>
            <a:ext cx="5111750"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640"/>
              </a:spcBef>
              <a:spcAft>
                <a:spcPts val="0"/>
              </a:spcAft>
              <a:buClr>
                <a:schemeClr val="dk1"/>
              </a:buClr>
              <a:buSzPts val="3200"/>
              <a:buNone/>
              <a:defRPr sz="3200"/>
            </a:lvl1pPr>
            <a:lvl2pPr marL="914400" lvl="1" indent="-406400" algn="l">
              <a:lnSpc>
                <a:spcPct val="100000"/>
              </a:lnSpc>
              <a:spcBef>
                <a:spcPts val="600"/>
              </a:spcBef>
              <a:spcAft>
                <a:spcPts val="0"/>
              </a:spcAft>
              <a:buSzPts val="2800"/>
              <a:buChar char="•"/>
              <a:defRPr sz="2800"/>
            </a:lvl2pPr>
            <a:lvl3pPr marL="1371600" lvl="2" indent="-381000" algn="l">
              <a:lnSpc>
                <a:spcPct val="100000"/>
              </a:lnSpc>
              <a:spcBef>
                <a:spcPts val="480"/>
              </a:spcBef>
              <a:spcAft>
                <a:spcPts val="0"/>
              </a:spcAft>
              <a:buSzPts val="2400"/>
              <a:buChar char="•"/>
              <a:defRPr sz="2400"/>
            </a:lvl3pPr>
            <a:lvl4pPr marL="1828800" lvl="3" indent="-355600" algn="l">
              <a:lnSpc>
                <a:spcPct val="100000"/>
              </a:lnSpc>
              <a:spcBef>
                <a:spcPts val="400"/>
              </a:spcBef>
              <a:spcAft>
                <a:spcPts val="0"/>
              </a:spcAft>
              <a:buSzPts val="2000"/>
              <a:buChar char="•"/>
              <a:defRPr sz="2000"/>
            </a:lvl4pPr>
            <a:lvl5pPr marL="2286000" lvl="4" indent="-355600" algn="l">
              <a:lnSpc>
                <a:spcPct val="100000"/>
              </a:lnSpc>
              <a:spcBef>
                <a:spcPts val="400"/>
              </a:spcBef>
              <a:spcAft>
                <a:spcPts val="0"/>
              </a:spcAft>
              <a:buSzPts val="2000"/>
              <a:buChar char="•"/>
              <a:defRPr sz="2000"/>
            </a:lvl5pPr>
            <a:lvl6pPr marL="2743200" lvl="5" indent="-355600" algn="l">
              <a:lnSpc>
                <a:spcPct val="100000"/>
              </a:lnSpc>
              <a:spcBef>
                <a:spcPts val="400"/>
              </a:spcBef>
              <a:spcAft>
                <a:spcPts val="0"/>
              </a:spcAft>
              <a:buSzPts val="2000"/>
              <a:buChar char="•"/>
              <a:defRPr sz="2000"/>
            </a:lvl6pPr>
            <a:lvl7pPr marL="3200400" lvl="6" indent="-355600" algn="l">
              <a:lnSpc>
                <a:spcPct val="100000"/>
              </a:lnSpc>
              <a:spcBef>
                <a:spcPts val="400"/>
              </a:spcBef>
              <a:spcAft>
                <a:spcPts val="0"/>
              </a:spcAft>
              <a:buSzPts val="2000"/>
              <a:buChar char="•"/>
              <a:defRPr sz="2000"/>
            </a:lvl7pPr>
            <a:lvl8pPr marL="3657600" lvl="7" indent="-355600" algn="l">
              <a:lnSpc>
                <a:spcPct val="100000"/>
              </a:lnSpc>
              <a:spcBef>
                <a:spcPts val="400"/>
              </a:spcBef>
              <a:spcAft>
                <a:spcPts val="0"/>
              </a:spcAft>
              <a:buSzPts val="2000"/>
              <a:buChar char="•"/>
              <a:defRPr sz="2000"/>
            </a:lvl8pPr>
            <a:lvl9pPr marL="4114800" lvl="8" indent="-355600" algn="l">
              <a:lnSpc>
                <a:spcPct val="100000"/>
              </a:lnSpc>
              <a:spcBef>
                <a:spcPts val="400"/>
              </a:spcBef>
              <a:spcAft>
                <a:spcPts val="0"/>
              </a:spcAft>
              <a:buSzPts val="2000"/>
              <a:buChar char="•"/>
              <a:defRPr sz="2000"/>
            </a:lvl9pPr>
          </a:lstStyle>
          <a:p>
            <a:endParaRPr/>
          </a:p>
        </p:txBody>
      </p:sp>
      <p:sp>
        <p:nvSpPr>
          <p:cNvPr id="64" name="Google Shape;64;p12"/>
          <p:cNvSpPr txBox="1">
            <a:spLocks noGrp="1"/>
          </p:cNvSpPr>
          <p:nvPr>
            <p:ph type="body" idx="2"/>
          </p:nvPr>
        </p:nvSpPr>
        <p:spPr>
          <a:xfrm>
            <a:off x="457200" y="1600200"/>
            <a:ext cx="3008313" cy="448056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65" name="Google Shape;65;p12"/>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2"/>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67" name="Google Shape;67;p12"/>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68" name="Google Shape;68;p1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69"/>
        <p:cNvGrpSpPr/>
        <p:nvPr/>
      </p:nvGrpSpPr>
      <p:grpSpPr>
        <a:xfrm>
          <a:off x="0" y="0"/>
          <a:ext cx="0" cy="0"/>
          <a:chOff x="0" y="0"/>
          <a:chExt cx="0" cy="0"/>
        </a:xfrm>
      </p:grpSpPr>
      <p:sp>
        <p:nvSpPr>
          <p:cNvPr id="70" name="Google Shape;70;p13"/>
          <p:cNvSpPr/>
          <p:nvPr/>
        </p:nvSpPr>
        <p:spPr>
          <a:xfrm>
            <a:off x="9001124" y="4846320"/>
            <a:ext cx="142876" cy="201168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71" name="Google Shape;71;p13"/>
          <p:cNvSpPr>
            <a:spLocks noGrp="1"/>
          </p:cNvSpPr>
          <p:nvPr>
            <p:ph type="pic" idx="2"/>
          </p:nvPr>
        </p:nvSpPr>
        <p:spPr>
          <a:xfrm>
            <a:off x="-1" y="0"/>
            <a:ext cx="9000877" cy="4846320"/>
          </a:xfrm>
          <a:prstGeom prst="rect">
            <a:avLst/>
          </a:prstGeom>
          <a:solidFill>
            <a:srgbClr val="BFBFBF"/>
          </a:solidFill>
          <a:ln>
            <a:noFill/>
          </a:ln>
        </p:spPr>
      </p:sp>
      <p:sp>
        <p:nvSpPr>
          <p:cNvPr id="72" name="Google Shape;72;p13"/>
          <p:cNvSpPr txBox="1">
            <a:spLocks noGrp="1"/>
          </p:cNvSpPr>
          <p:nvPr>
            <p:ph type="body" idx="1"/>
          </p:nvPr>
        </p:nvSpPr>
        <p:spPr>
          <a:xfrm>
            <a:off x="457200" y="5715000"/>
            <a:ext cx="8153400" cy="457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20"/>
              </a:spcBef>
              <a:spcAft>
                <a:spcPts val="0"/>
              </a:spcAft>
              <a:buClr>
                <a:schemeClr val="dk1"/>
              </a:buClr>
              <a:buSzPts val="1600"/>
              <a:buNone/>
              <a:defRPr sz="1600"/>
            </a:lvl1pPr>
            <a:lvl2pPr marL="914400" lvl="1" indent="-228600" algn="l">
              <a:lnSpc>
                <a:spcPct val="100000"/>
              </a:lnSpc>
              <a:spcBef>
                <a:spcPts val="600"/>
              </a:spcBef>
              <a:spcAft>
                <a:spcPts val="0"/>
              </a:spcAft>
              <a:buSzPts val="1200"/>
              <a:buNone/>
              <a:defRPr sz="1200"/>
            </a:lvl2pPr>
            <a:lvl3pPr marL="1371600" lvl="2" indent="-228600" algn="l">
              <a:lnSpc>
                <a:spcPct val="100000"/>
              </a:lnSpc>
              <a:spcBef>
                <a:spcPts val="200"/>
              </a:spcBef>
              <a:spcAft>
                <a:spcPts val="0"/>
              </a:spcAft>
              <a:buSzPts val="1000"/>
              <a:buNone/>
              <a:defRPr sz="1000"/>
            </a:lvl3pPr>
            <a:lvl4pPr marL="1828800" lvl="3" indent="-228600" algn="l">
              <a:lnSpc>
                <a:spcPct val="100000"/>
              </a:lnSpc>
              <a:spcBef>
                <a:spcPts val="180"/>
              </a:spcBef>
              <a:spcAft>
                <a:spcPts val="0"/>
              </a:spcAft>
              <a:buSzPts val="900"/>
              <a:buNone/>
              <a:defRPr sz="900"/>
            </a:lvl4pPr>
            <a:lvl5pPr marL="2286000" lvl="4" indent="-228600" algn="l">
              <a:lnSpc>
                <a:spcPct val="100000"/>
              </a:lnSpc>
              <a:spcBef>
                <a:spcPts val="180"/>
              </a:spcBef>
              <a:spcAft>
                <a:spcPts val="0"/>
              </a:spcAft>
              <a:buSzPts val="900"/>
              <a:buNone/>
              <a:defRPr sz="900"/>
            </a:lvl5pPr>
            <a:lvl6pPr marL="2743200" lvl="5" indent="-228600" algn="l">
              <a:lnSpc>
                <a:spcPct val="100000"/>
              </a:lnSpc>
              <a:spcBef>
                <a:spcPts val="180"/>
              </a:spcBef>
              <a:spcAft>
                <a:spcPts val="0"/>
              </a:spcAft>
              <a:buSzPts val="900"/>
              <a:buNone/>
              <a:defRPr sz="900"/>
            </a:lvl6pPr>
            <a:lvl7pPr marL="3200400" lvl="6" indent="-228600" algn="l">
              <a:lnSpc>
                <a:spcPct val="100000"/>
              </a:lnSpc>
              <a:spcBef>
                <a:spcPts val="180"/>
              </a:spcBef>
              <a:spcAft>
                <a:spcPts val="0"/>
              </a:spcAft>
              <a:buSzPts val="900"/>
              <a:buNone/>
              <a:defRPr sz="900"/>
            </a:lvl7pPr>
            <a:lvl8pPr marL="3657600" lvl="7" indent="-228600" algn="l">
              <a:lnSpc>
                <a:spcPct val="100000"/>
              </a:lnSpc>
              <a:spcBef>
                <a:spcPts val="180"/>
              </a:spcBef>
              <a:spcAft>
                <a:spcPts val="0"/>
              </a:spcAft>
              <a:buSzPts val="900"/>
              <a:buNone/>
              <a:defRPr sz="900"/>
            </a:lvl8pPr>
            <a:lvl9pPr marL="4114800" lvl="8" indent="-228600" algn="l">
              <a:lnSpc>
                <a:spcPct val="100000"/>
              </a:lnSpc>
              <a:spcBef>
                <a:spcPts val="180"/>
              </a:spcBef>
              <a:spcAft>
                <a:spcPts val="0"/>
              </a:spcAft>
              <a:buSzPts val="900"/>
              <a:buNone/>
              <a:defRPr sz="900"/>
            </a:lvl9pPr>
          </a:lstStyle>
          <a:p>
            <a:endParaRPr/>
          </a:p>
        </p:txBody>
      </p:sp>
      <p:sp>
        <p:nvSpPr>
          <p:cNvPr id="73" name="Google Shape;73;p13"/>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3"/>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75" name="Google Shape;75;p13"/>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1"/>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76" name="Google Shape;76;p13"/>
          <p:cNvSpPr txBox="1">
            <a:spLocks noGrp="1"/>
          </p:cNvSpPr>
          <p:nvPr>
            <p:ph type="title"/>
          </p:nvPr>
        </p:nvSpPr>
        <p:spPr>
          <a:xfrm>
            <a:off x="457200" y="4953000"/>
            <a:ext cx="8153400" cy="762000"/>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2"/>
              </a:buClr>
              <a:buSzPts val="3200"/>
              <a:buFont typeface="Arial Black"/>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3"/>
          <p:cNvSpPr/>
          <p:nvPr/>
        </p:nvSpPr>
        <p:spPr>
          <a:xfrm>
            <a:off x="9001124" y="0"/>
            <a:ext cx="142876" cy="484632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8"/>
        <p:cNvGrpSpPr/>
        <p:nvPr/>
      </p:nvGrpSpPr>
      <p:grpSpPr>
        <a:xfrm>
          <a:off x="0" y="0"/>
          <a:ext cx="0" cy="0"/>
          <a:chOff x="0" y="0"/>
          <a:chExt cx="0" cy="0"/>
        </a:xfrm>
      </p:grpSpPr>
      <p:sp>
        <p:nvSpPr>
          <p:cNvPr id="79" name="Google Shape;79;p1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4"/>
          <p:cNvSpPr txBox="1">
            <a:spLocks noGrp="1"/>
          </p:cNvSpPr>
          <p:nvPr>
            <p:ph type="body" idx="1"/>
          </p:nvPr>
        </p:nvSpPr>
        <p:spPr>
          <a:xfrm rot="5400000">
            <a:off x="2080419" y="129382"/>
            <a:ext cx="4373563" cy="7620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1" name="Google Shape;81;p1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83" name="Google Shape;83;p1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4"/>
        <p:cNvGrpSpPr/>
        <p:nvPr/>
      </p:nvGrpSpPr>
      <p:grpSpPr>
        <a:xfrm>
          <a:off x="0" y="0"/>
          <a:ext cx="0" cy="0"/>
          <a:chOff x="0" y="0"/>
          <a:chExt cx="0" cy="0"/>
        </a:xfrm>
      </p:grpSpPr>
      <p:sp>
        <p:nvSpPr>
          <p:cNvPr id="85" name="Google Shape;85;p15"/>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5"/>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600"/>
              </a:spcBef>
              <a:spcAft>
                <a:spcPts val="0"/>
              </a:spcAft>
              <a:buSzPts val="1800"/>
              <a:buChar char="•"/>
              <a:defRPr/>
            </a:lvl2pPr>
            <a:lvl3pPr marL="1371600" lvl="2" indent="-342900" algn="l">
              <a:lnSpc>
                <a:spcPct val="100000"/>
              </a:lnSpc>
              <a:spcBef>
                <a:spcPts val="360"/>
              </a:spcBef>
              <a:spcAft>
                <a:spcPts val="0"/>
              </a:spcAft>
              <a:buSzPts val="1800"/>
              <a:buChar char="•"/>
              <a:defRPr/>
            </a:lvl3pPr>
            <a:lvl4pPr marL="1828800" lvl="3" indent="-342900" algn="l">
              <a:lnSpc>
                <a:spcPct val="100000"/>
              </a:lnSpc>
              <a:spcBef>
                <a:spcPts val="360"/>
              </a:spcBef>
              <a:spcAft>
                <a:spcPts val="0"/>
              </a:spcAft>
              <a:buSzPts val="1800"/>
              <a:buChar char="•"/>
              <a:defRPr/>
            </a:lvl4pPr>
            <a:lvl5pPr marL="2286000" lvl="4" indent="-342900" algn="l">
              <a:lnSpc>
                <a:spcPct val="100000"/>
              </a:lnSpc>
              <a:spcBef>
                <a:spcPts val="360"/>
              </a:spcBef>
              <a:spcAft>
                <a:spcPts val="0"/>
              </a:spcAft>
              <a:buSzPts val="1800"/>
              <a:buChar char="•"/>
              <a:defRPr/>
            </a:lvl5pPr>
            <a:lvl6pPr marL="2743200" lvl="5" indent="-342900" algn="l">
              <a:lnSpc>
                <a:spcPct val="100000"/>
              </a:lnSpc>
              <a:spcBef>
                <a:spcPts val="360"/>
              </a:spcBef>
              <a:spcAft>
                <a:spcPts val="0"/>
              </a:spcAft>
              <a:buSzPts val="1800"/>
              <a:buChar char="•"/>
              <a:defRPr/>
            </a:lvl6pPr>
            <a:lvl7pPr marL="3200400" lvl="6" indent="-342900" algn="l">
              <a:lnSpc>
                <a:spcPct val="100000"/>
              </a:lnSpc>
              <a:spcBef>
                <a:spcPts val="360"/>
              </a:spcBef>
              <a:spcAft>
                <a:spcPts val="0"/>
              </a:spcAft>
              <a:buSzPts val="1800"/>
              <a:buChar char="•"/>
              <a:defRPr/>
            </a:lvl7pPr>
            <a:lvl8pPr marL="3657600" lvl="7" indent="-342900" algn="l">
              <a:lnSpc>
                <a:spcPct val="100000"/>
              </a:lnSpc>
              <a:spcBef>
                <a:spcPts val="360"/>
              </a:spcBef>
              <a:spcAft>
                <a:spcPts val="0"/>
              </a:spcAft>
              <a:buSzPts val="1800"/>
              <a:buChar char="•"/>
              <a:defRPr/>
            </a:lvl8pPr>
            <a:lvl9pPr marL="4114800" lvl="8" indent="-342900" algn="l">
              <a:lnSpc>
                <a:spcPct val="100000"/>
              </a:lnSpc>
              <a:spcBef>
                <a:spcPts val="360"/>
              </a:spcBef>
              <a:spcAft>
                <a:spcPts val="0"/>
              </a:spcAft>
              <a:buSzPts val="1800"/>
              <a:buChar char="•"/>
              <a:defRPr/>
            </a:lvl9pPr>
          </a:lstStyle>
          <a:p>
            <a:endParaRPr/>
          </a:p>
        </p:txBody>
      </p:sp>
      <p:sp>
        <p:nvSpPr>
          <p:cNvPr id="87" name="Google Shape;87;p15"/>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8" name="Google Shape;88;p15"/>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Dept. of CSE,BMSIT&amp;M                       7th Semester, MAJOR PROJECT PHASE-2 (BCS705) REVIEW ‘1                             AY : 2026-27 </a:t>
            </a:r>
            <a:endParaRPr/>
          </a:p>
        </p:txBody>
      </p:sp>
      <p:sp>
        <p:nvSpPr>
          <p:cNvPr id="89" name="Google Shape;89;p15"/>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4"/>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lvl1pPr marR="0" lvl="0" algn="l" rtl="0">
              <a:lnSpc>
                <a:spcPct val="100000"/>
              </a:lnSpc>
              <a:spcBef>
                <a:spcPts val="0"/>
              </a:spcBef>
              <a:spcAft>
                <a:spcPts val="0"/>
              </a:spcAft>
              <a:buClr>
                <a:schemeClr val="dk2"/>
              </a:buClr>
              <a:buSzPts val="3600"/>
              <a:buFont typeface="Arial Black"/>
              <a:buNone/>
              <a:defRPr sz="3600" b="0" i="0" u="none" strike="noStrike" cap="none">
                <a:solidFill>
                  <a:schemeClr val="dk2"/>
                </a:solidFill>
                <a:latin typeface="Arial Black"/>
                <a:ea typeface="Arial Black"/>
                <a:cs typeface="Arial Black"/>
                <a:sym typeface="Arial Black"/>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4"/>
          <p:cNvSpPr txBox="1">
            <a:spLocks noGrp="1"/>
          </p:cNvSpPr>
          <p:nvPr>
            <p:ph type="body" idx="1"/>
          </p:nvPr>
        </p:nvSpPr>
        <p:spPr>
          <a:xfrm>
            <a:off x="457200" y="1752600"/>
            <a:ext cx="7620000" cy="4373563"/>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400"/>
              </a:spcBef>
              <a:spcAft>
                <a:spcPts val="0"/>
              </a:spcAft>
              <a:buClr>
                <a:schemeClr val="dk1"/>
              </a:buClr>
              <a:buSzPts val="2000"/>
              <a:buFont typeface="Arial"/>
              <a:buNone/>
              <a:defRPr sz="2000" b="1" i="0" u="none" strike="noStrike" cap="none">
                <a:solidFill>
                  <a:schemeClr val="dk1"/>
                </a:solidFill>
                <a:latin typeface="Arial"/>
                <a:ea typeface="Arial"/>
                <a:cs typeface="Arial"/>
                <a:sym typeface="Arial"/>
              </a:defRPr>
            </a:lvl1pPr>
            <a:lvl2pPr marL="914400" marR="0" lvl="1" indent="-355600" algn="l" rtl="0">
              <a:lnSpc>
                <a:spcPct val="100000"/>
              </a:lnSpc>
              <a:spcBef>
                <a:spcPts val="6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4pPr>
            <a:lvl5pPr marL="2286000" marR="0" lvl="4" indent="-342900" algn="l" rtl="0">
              <a:lnSpc>
                <a:spcPct val="100000"/>
              </a:lnSpc>
              <a:spcBef>
                <a:spcPts val="36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5pPr>
            <a:lvl6pPr marL="2743200" marR="0" lvl="5"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6pPr>
            <a:lvl7pPr marL="3200400" marR="0" lvl="6"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7pPr>
            <a:lvl8pPr marL="3657600" marR="0" lvl="7"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8pPr>
            <a:lvl9pPr marL="4114800" marR="0" lvl="8" indent="-330200" algn="l" rtl="0">
              <a:lnSpc>
                <a:spcPct val="100000"/>
              </a:lnSpc>
              <a:spcBef>
                <a:spcPts val="32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12" name="Google Shape;12;p4"/>
          <p:cNvSpPr txBox="1">
            <a:spLocks noGrp="1"/>
          </p:cNvSpPr>
          <p:nvPr>
            <p:ph type="dt" idx="10"/>
          </p:nvPr>
        </p:nvSpPr>
        <p:spPr>
          <a:xfrm>
            <a:off x="457200" y="6172201"/>
            <a:ext cx="3429000" cy="304800"/>
          </a:xfrm>
          <a:prstGeom prst="rect">
            <a:avLst/>
          </a:prstGeom>
          <a:noFill/>
          <a:ln>
            <a:noFill/>
          </a:ln>
        </p:spPr>
        <p:txBody>
          <a:bodyPr spcFirstLastPara="1" wrap="square" lIns="91425" tIns="45700" rIns="91425" bIns="0" anchor="b"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13" name="Google Shape;13;p4"/>
          <p:cNvSpPr txBox="1">
            <a:spLocks noGrp="1"/>
          </p:cNvSpPr>
          <p:nvPr>
            <p:ph type="ftr" idx="11"/>
          </p:nvPr>
        </p:nvSpPr>
        <p:spPr>
          <a:xfrm>
            <a:off x="457200" y="6492875"/>
            <a:ext cx="3429000" cy="283845"/>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0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r>
              <a:rPr lang="en-US"/>
              <a:t>Dept. of CSE,BMSIT&amp;M                       7th Semester, MAJOR PROJECT PHASE-2 (BCS705) REVIEW ‘1                             AY : 2026-27 </a:t>
            </a:r>
            <a:endParaRPr/>
          </a:p>
        </p:txBody>
      </p:sp>
      <p:sp>
        <p:nvSpPr>
          <p:cNvPr id="14" name="Google Shape;14;p4"/>
          <p:cNvSpPr txBox="1">
            <a:spLocks noGrp="1"/>
          </p:cNvSpPr>
          <p:nvPr>
            <p:ph type="sldNum" idx="12"/>
          </p:nvPr>
        </p:nvSpPr>
        <p:spPr>
          <a:xfrm rot="-5400000">
            <a:off x="8227377" y="5885497"/>
            <a:ext cx="1315721" cy="365125"/>
          </a:xfrm>
          <a:prstGeom prst="rect">
            <a:avLst/>
          </a:prstGeom>
          <a:noFill/>
          <a:ln>
            <a:noFill/>
          </a:ln>
        </p:spPr>
        <p:txBody>
          <a:bodyPr spcFirstLastPara="1" wrap="square" lIns="91425" tIns="45700" rIns="91425" bIns="45700" anchor="ctr" anchorCtr="0">
            <a:noAutofit/>
          </a:bodyPr>
          <a:lstStyle>
            <a:lvl1pPr marL="0" marR="0" lvl="0"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2400"/>
              <a:buFont typeface="Arial"/>
              <a:buNone/>
              <a:defRPr sz="2400" b="1" i="0" u="none" strike="noStrike" cap="none">
                <a:solidFill>
                  <a:schemeClr val="dk2"/>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IN"/>
              <a:t>‹#›</a:t>
            </a:fld>
            <a:endParaRPr/>
          </a:p>
        </p:txBody>
      </p:sp>
      <p:sp>
        <p:nvSpPr>
          <p:cNvPr id="15" name="Google Shape;15;p4"/>
          <p:cNvSpPr/>
          <p:nvPr/>
        </p:nvSpPr>
        <p:spPr>
          <a:xfrm>
            <a:off x="9001124" y="0"/>
            <a:ext cx="142876" cy="1371600"/>
          </a:xfrm>
          <a:prstGeom prst="rect">
            <a:avLst/>
          </a:prstGeom>
          <a:solidFill>
            <a:schemeClr val="dk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
        <p:nvSpPr>
          <p:cNvPr id="16" name="Google Shape;16;p4"/>
          <p:cNvSpPr/>
          <p:nvPr/>
        </p:nvSpPr>
        <p:spPr>
          <a:xfrm>
            <a:off x="9001124" y="1371600"/>
            <a:ext cx="142876" cy="54864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5" name="Google Shape;95;p1"/>
          <p:cNvSpPr txBox="1">
            <a:spLocks noGrp="1"/>
          </p:cNvSpPr>
          <p:nvPr>
            <p:ph type="subTitle" idx="1"/>
          </p:nvPr>
        </p:nvSpPr>
        <p:spPr>
          <a:xfrm>
            <a:off x="457201" y="1336869"/>
            <a:ext cx="8245474" cy="5126729"/>
          </a:xfrm>
          <a:prstGeom prst="rect">
            <a:avLst/>
          </a:prstGeom>
          <a:noFill/>
          <a:ln>
            <a:noFill/>
          </a:ln>
        </p:spPr>
        <p:txBody>
          <a:bodyPr spcFirstLastPara="1" wrap="square" lIns="91425" tIns="45700" rIns="91425" bIns="45700" anchor="t" anchorCtr="0">
            <a:normAutofit fontScale="77500" lnSpcReduction="20000"/>
          </a:bodyPr>
          <a:lstStyle/>
          <a:p>
            <a:pPr marL="0" indent="0" algn="ctr">
              <a:spcBef>
                <a:spcPts val="0"/>
              </a:spcBef>
              <a:buSzPct val="100000"/>
            </a:pPr>
            <a:r>
              <a:rPr lang="en-US" sz="2800" dirty="0">
                <a:solidFill>
                  <a:srgbClr val="7030A0"/>
                </a:solidFill>
              </a:rPr>
              <a:t>7</a:t>
            </a:r>
            <a:r>
              <a:rPr lang="en-US" sz="2800" baseline="30000" dirty="0">
                <a:solidFill>
                  <a:srgbClr val="7030A0"/>
                </a:solidFill>
              </a:rPr>
              <a:t>th</a:t>
            </a:r>
            <a:r>
              <a:rPr lang="en-US" sz="2800" dirty="0">
                <a:solidFill>
                  <a:srgbClr val="7030A0"/>
                </a:solidFill>
              </a:rPr>
              <a:t> Semester, Major Project Phase-2 (BCS705), </a:t>
            </a:r>
          </a:p>
          <a:p>
            <a:pPr marL="0" indent="0" algn="ctr">
              <a:spcBef>
                <a:spcPts val="0"/>
              </a:spcBef>
              <a:buSzPct val="100000"/>
            </a:pPr>
            <a:r>
              <a:rPr lang="en-US" sz="2800" dirty="0">
                <a:solidFill>
                  <a:srgbClr val="7030A0"/>
                </a:solidFill>
              </a:rPr>
              <a:t>Review ‘1’ Presentation on</a:t>
            </a:r>
            <a:endParaRPr lang="en-IN" sz="2800" dirty="0">
              <a:solidFill>
                <a:srgbClr val="7030A0"/>
              </a:solidFill>
            </a:endParaRPr>
          </a:p>
          <a:p>
            <a:pPr marL="0" lvl="0" indent="0" algn="ctr" rtl="0">
              <a:lnSpc>
                <a:spcPct val="100000"/>
              </a:lnSpc>
              <a:spcBef>
                <a:spcPts val="0"/>
              </a:spcBef>
              <a:spcAft>
                <a:spcPts val="0"/>
              </a:spcAft>
              <a:buSzPct val="100000"/>
              <a:buNone/>
            </a:pPr>
            <a:endParaRPr lang="en-IN" sz="2800" b="1" dirty="0">
              <a:latin typeface="Century Schoolbook"/>
              <a:ea typeface="Century Schoolbook"/>
              <a:cs typeface="Century Schoolbook"/>
              <a:sym typeface="Century Schoolbook"/>
            </a:endParaRPr>
          </a:p>
          <a:p>
            <a:pPr marL="0" lvl="0" indent="0" algn="ctr" rtl="0">
              <a:lnSpc>
                <a:spcPct val="100000"/>
              </a:lnSpc>
              <a:spcBef>
                <a:spcPts val="0"/>
              </a:spcBef>
              <a:spcAft>
                <a:spcPts val="0"/>
              </a:spcAft>
              <a:buSzPct val="100000"/>
              <a:buNone/>
            </a:pPr>
            <a:r>
              <a:rPr lang="en-IN" sz="2400" b="1" dirty="0">
                <a:latin typeface="Century Schoolbook"/>
                <a:ea typeface="Century Schoolbook"/>
                <a:cs typeface="Century Schoolbook"/>
                <a:sym typeface="Century Schoolbook"/>
              </a:rPr>
              <a:t>Travel Yantra — AI Based Personalized Travel Itinerary Planner and Virtual Tour Guide with Multilingual Support</a:t>
            </a:r>
            <a:endParaRPr dirty="0"/>
          </a:p>
          <a:p>
            <a:pPr marL="0" lvl="0" indent="0" algn="ctr" rtl="0">
              <a:lnSpc>
                <a:spcPct val="100000"/>
              </a:lnSpc>
              <a:spcBef>
                <a:spcPts val="908"/>
              </a:spcBef>
              <a:spcAft>
                <a:spcPts val="0"/>
              </a:spcAft>
              <a:buClr>
                <a:schemeClr val="dk2"/>
              </a:buClr>
              <a:buSzPct val="100000"/>
              <a:buNone/>
            </a:pPr>
            <a:endParaRPr sz="2800" b="1" dirty="0">
              <a:latin typeface="Century Schoolbook"/>
              <a:ea typeface="Century Schoolbook"/>
              <a:cs typeface="Century Schoolbook"/>
              <a:sym typeface="Century Schoolbook"/>
            </a:endParaRPr>
          </a:p>
          <a:p>
            <a:pPr marL="0" indent="0" algn="ctr">
              <a:spcBef>
                <a:spcPts val="776"/>
              </a:spcBef>
              <a:buSzPct val="100000"/>
            </a:pPr>
            <a:r>
              <a:rPr lang="en-IN" sz="1600" b="1" dirty="0">
                <a:latin typeface="Century Schoolbook"/>
                <a:ea typeface="Century Schoolbook"/>
                <a:cs typeface="Century Schoolbook"/>
                <a:sym typeface="Century Schoolbook"/>
              </a:rPr>
              <a:t>Nithin G (1BY23IS140)</a:t>
            </a:r>
          </a:p>
          <a:p>
            <a:pPr marL="0" indent="0" algn="ctr">
              <a:spcBef>
                <a:spcPts val="776"/>
              </a:spcBef>
              <a:buSzPct val="100000"/>
            </a:pPr>
            <a:r>
              <a:rPr lang="en-IN" sz="1600" b="1" dirty="0">
                <a:latin typeface="Century Schoolbook"/>
                <a:ea typeface="Century Schoolbook"/>
                <a:cs typeface="Century Schoolbook"/>
                <a:sym typeface="Century Schoolbook"/>
              </a:rPr>
              <a:t>Pushkar Reddy S (1BY23IS167)</a:t>
            </a:r>
          </a:p>
          <a:p>
            <a:pPr marL="0" lvl="0" indent="0" algn="ctr">
              <a:spcBef>
                <a:spcPts val="776"/>
              </a:spcBef>
              <a:buSzPct val="100000"/>
            </a:pPr>
            <a:r>
              <a:rPr lang="en-IN" sz="1600" b="1" dirty="0">
                <a:latin typeface="Century Schoolbook"/>
                <a:ea typeface="Century Schoolbook"/>
                <a:cs typeface="Century Schoolbook"/>
                <a:sym typeface="Century Schoolbook"/>
              </a:rPr>
              <a:t>Rishab Paul (1BY23IS175)</a:t>
            </a:r>
          </a:p>
          <a:p>
            <a:pPr marL="0" indent="0" algn="ctr">
              <a:spcBef>
                <a:spcPts val="776"/>
              </a:spcBef>
              <a:buSzPct val="100000"/>
            </a:pPr>
            <a:r>
              <a:rPr lang="en-IN" sz="1600" b="1" dirty="0">
                <a:latin typeface="Century Schoolbook"/>
                <a:ea typeface="Century Schoolbook"/>
                <a:cs typeface="Century Schoolbook"/>
                <a:sym typeface="Century Schoolbook"/>
              </a:rPr>
              <a:t>Rohan Balu (1BY23IS177)</a:t>
            </a:r>
          </a:p>
          <a:p>
            <a:pPr marL="0" lvl="0" indent="0" algn="ctr">
              <a:spcBef>
                <a:spcPts val="776"/>
              </a:spcBef>
              <a:buSzPct val="100000"/>
            </a:pPr>
            <a:endParaRPr lang="en-IN" sz="1600" b="1" dirty="0">
              <a:latin typeface="Century Schoolbook"/>
              <a:ea typeface="Century Schoolbook"/>
              <a:cs typeface="Century Schoolbook"/>
              <a:sym typeface="Century Schoolbook"/>
            </a:endParaRPr>
          </a:p>
          <a:p>
            <a:pPr marL="0" lvl="0" indent="0" algn="ctr" rtl="0">
              <a:lnSpc>
                <a:spcPct val="100000"/>
              </a:lnSpc>
              <a:spcBef>
                <a:spcPts val="776"/>
              </a:spcBef>
              <a:spcAft>
                <a:spcPts val="0"/>
              </a:spcAft>
              <a:buClr>
                <a:schemeClr val="dk2"/>
              </a:buClr>
              <a:buSzPct val="100000"/>
              <a:buNone/>
            </a:pPr>
            <a:endParaRPr sz="1600" b="1" dirty="0">
              <a:latin typeface="Century Schoolbook"/>
              <a:ea typeface="Century Schoolbook"/>
              <a:cs typeface="Century Schoolbook"/>
              <a:sym typeface="Century Schoolbook"/>
            </a:endParaRPr>
          </a:p>
          <a:p>
            <a:pPr marL="0" lvl="0" indent="0" algn="ctr">
              <a:spcBef>
                <a:spcPts val="776"/>
              </a:spcBef>
              <a:buClr>
                <a:srgbClr val="0070C0"/>
              </a:buClr>
              <a:buSzPct val="100000"/>
            </a:pPr>
            <a:r>
              <a:rPr lang="en-US" sz="1600" b="1" dirty="0">
                <a:solidFill>
                  <a:srgbClr val="0070C0"/>
                </a:solidFill>
                <a:latin typeface="Century Schoolbook"/>
                <a:ea typeface="Century Schoolbook"/>
                <a:cs typeface="Century Schoolbook"/>
                <a:sym typeface="Century Schoolbook"/>
              </a:rPr>
              <a:t>VII SEMESTER DEGREE OF BACHELOR OF ENGINEERING IN</a:t>
            </a:r>
            <a:endParaRPr lang="en-US" dirty="0"/>
          </a:p>
          <a:p>
            <a:pPr marL="0" lvl="0" indent="0" algn="ctr" rtl="0">
              <a:lnSpc>
                <a:spcPct val="100000"/>
              </a:lnSpc>
              <a:spcBef>
                <a:spcPts val="776"/>
              </a:spcBef>
              <a:spcAft>
                <a:spcPts val="0"/>
              </a:spcAft>
              <a:buClr>
                <a:schemeClr val="dk2"/>
              </a:buClr>
              <a:buSzPct val="100000"/>
              <a:buNone/>
            </a:pPr>
            <a:r>
              <a:rPr lang="en-US" sz="1600" b="1" dirty="0">
                <a:latin typeface="Century Schoolbook"/>
                <a:ea typeface="Century Schoolbook"/>
                <a:cs typeface="Century Schoolbook"/>
                <a:sym typeface="Century Schoolbook"/>
              </a:rPr>
              <a:t>Information Science and Engineering </a:t>
            </a:r>
            <a:endParaRPr sz="1600" b="1" dirty="0">
              <a:latin typeface="Century Schoolbook"/>
              <a:ea typeface="Century Schoolbook"/>
              <a:cs typeface="Century Schoolbook"/>
              <a:sym typeface="Century Schoolbook"/>
            </a:endParaRPr>
          </a:p>
          <a:p>
            <a:pPr marL="0" lvl="0" indent="0" algn="ctr" rtl="0">
              <a:lnSpc>
                <a:spcPct val="100000"/>
              </a:lnSpc>
              <a:spcBef>
                <a:spcPts val="820"/>
              </a:spcBef>
              <a:spcAft>
                <a:spcPts val="0"/>
              </a:spcAft>
              <a:buClr>
                <a:schemeClr val="dk2"/>
              </a:buClr>
              <a:buSzPct val="100000"/>
              <a:buNone/>
            </a:pPr>
            <a:r>
              <a:rPr lang="en-IN" b="1" dirty="0">
                <a:latin typeface="Century Schoolbook"/>
                <a:ea typeface="Century Schoolbook"/>
                <a:cs typeface="Century Schoolbook"/>
                <a:sym typeface="Century Schoolbook"/>
              </a:rPr>
              <a:t>UNDER THE GUIDANCE OF</a:t>
            </a:r>
            <a:endParaRPr dirty="0"/>
          </a:p>
          <a:p>
            <a:pPr marL="0" lvl="0" indent="0" algn="ctr" rtl="0">
              <a:lnSpc>
                <a:spcPct val="100000"/>
              </a:lnSpc>
              <a:spcBef>
                <a:spcPts val="809"/>
              </a:spcBef>
              <a:spcAft>
                <a:spcPts val="0"/>
              </a:spcAft>
              <a:buClr>
                <a:schemeClr val="dk2"/>
              </a:buClr>
              <a:buSzPct val="100000"/>
              <a:buNone/>
            </a:pPr>
            <a:r>
              <a:rPr lang="en-IN" sz="1900" b="1" dirty="0">
                <a:latin typeface="Century Schoolbook"/>
                <a:ea typeface="Century Schoolbook"/>
                <a:cs typeface="Century Schoolbook"/>
                <a:sym typeface="Century Schoolbook"/>
              </a:rPr>
              <a:t>Prof. Shwetha T</a:t>
            </a:r>
            <a:endParaRPr sz="1900" b="1" dirty="0">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Assistant Professor, Dept. of ISE</a:t>
            </a:r>
            <a:endParaRPr sz="1900" b="1" dirty="0">
              <a:solidFill>
                <a:srgbClr val="7030A0"/>
              </a:solidFill>
              <a:latin typeface="Century Schoolbook"/>
              <a:ea typeface="Century Schoolbook"/>
              <a:cs typeface="Century Schoolbook"/>
              <a:sym typeface="Century Schoolbook"/>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DEPT. OF ISE</a:t>
            </a:r>
            <a:endParaRPr dirty="0">
              <a:solidFill>
                <a:srgbClr val="7030A0"/>
              </a:solidFill>
            </a:endParaRPr>
          </a:p>
          <a:p>
            <a:pPr marL="0" lvl="0" indent="0" algn="ctr" rtl="0">
              <a:lnSpc>
                <a:spcPct val="100000"/>
              </a:lnSpc>
              <a:spcBef>
                <a:spcPts val="809"/>
              </a:spcBef>
              <a:spcAft>
                <a:spcPts val="0"/>
              </a:spcAft>
              <a:buClr>
                <a:schemeClr val="dk2"/>
              </a:buClr>
              <a:buSzPct val="100000"/>
              <a:buNone/>
            </a:pPr>
            <a:r>
              <a:rPr lang="en-IN" sz="1900" b="1" dirty="0">
                <a:solidFill>
                  <a:srgbClr val="7030A0"/>
                </a:solidFill>
                <a:latin typeface="Century Schoolbook"/>
                <a:ea typeface="Century Schoolbook"/>
                <a:cs typeface="Century Schoolbook"/>
                <a:sym typeface="Century Schoolbook"/>
              </a:rPr>
              <a:t>BMSIT&amp;M</a:t>
            </a:r>
            <a:endParaRPr dirty="0">
              <a:solidFill>
                <a:srgbClr val="7030A0"/>
              </a:solidFill>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marR="0" lvl="0" indent="0" algn="ctr" rtl="0">
              <a:lnSpc>
                <a:spcPct val="100000"/>
              </a:lnSpc>
              <a:spcBef>
                <a:spcPts val="0"/>
              </a:spcBef>
              <a:spcAft>
                <a:spcPts val="0"/>
              </a:spcAft>
              <a:buClr>
                <a:srgbClr val="000000"/>
              </a:buClr>
              <a:buSzPts val="1800"/>
              <a:buFont typeface="Arial"/>
              <a:buNone/>
            </a:pPr>
            <a:endParaRPr lang="en-IN" sz="1900" b="1" dirty="0">
              <a:latin typeface="Century Schoolbook"/>
              <a:ea typeface="Century Schoolbook"/>
              <a:cs typeface="Century Schoolbook"/>
              <a:sym typeface="Century Schoolbook"/>
            </a:endParaRPr>
          </a:p>
          <a:p>
            <a:pPr marL="0" lvl="0" indent="0" algn="ctr" rtl="0">
              <a:lnSpc>
                <a:spcPct val="100000"/>
              </a:lnSpc>
              <a:spcBef>
                <a:spcPts val="820"/>
              </a:spcBef>
              <a:spcAft>
                <a:spcPts val="0"/>
              </a:spcAft>
              <a:buClr>
                <a:schemeClr val="dk2"/>
              </a:buClr>
              <a:buSzPct val="100000"/>
              <a:buNone/>
            </a:pPr>
            <a:endParaRPr dirty="0">
              <a:latin typeface="Century Schoolbook"/>
              <a:ea typeface="Century Schoolbook"/>
              <a:cs typeface="Century Schoolbook"/>
              <a:sym typeface="Century Schoolbook"/>
            </a:endParaRPr>
          </a:p>
        </p:txBody>
      </p:sp>
      <p:pic>
        <p:nvPicPr>
          <p:cNvPr id="1026" name="Picture 2" descr="VTU online">
            <a:extLst>
              <a:ext uri="{FF2B5EF4-FFF2-40B4-BE49-F238E27FC236}">
                <a16:creationId xmlns:a16="http://schemas.microsoft.com/office/drawing/2014/main" id="{4410DB29-14E2-4208-772F-E71545D767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10368" y="79423"/>
            <a:ext cx="792307" cy="1022833"/>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a:extLst>
              <a:ext uri="{FF2B5EF4-FFF2-40B4-BE49-F238E27FC236}">
                <a16:creationId xmlns:a16="http://schemas.microsoft.com/office/drawing/2014/main" id="{14899319-A280-BCC3-AB6E-BB354C9237D3}"/>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a:t>
            </a:fld>
            <a:endParaRPr lang="en-IN"/>
          </a:p>
        </p:txBody>
      </p:sp>
      <p:sp>
        <p:nvSpPr>
          <p:cNvPr id="7" name="Footer Placeholder 6">
            <a:extLst>
              <a:ext uri="{FF2B5EF4-FFF2-40B4-BE49-F238E27FC236}">
                <a16:creationId xmlns:a16="http://schemas.microsoft.com/office/drawing/2014/main" id="{7F44B29C-F20D-B128-BE1D-1EC7A958D1B4}"/>
              </a:ext>
            </a:extLst>
          </p:cNvPr>
          <p:cNvSpPr>
            <a:spLocks noGrp="1"/>
          </p:cNvSpPr>
          <p:nvPr>
            <p:ph type="ftr" idx="11"/>
          </p:nvPr>
        </p:nvSpPr>
        <p:spPr>
          <a:xfrm>
            <a:off x="203201" y="6492875"/>
            <a:ext cx="8499474" cy="283845"/>
          </a:xfrm>
        </p:spPr>
        <p:txBody>
          <a:bodyPr/>
          <a:lstStyle/>
          <a:p>
            <a:pPr lvl="0"/>
            <a:r>
              <a:rPr lang="en-US" dirty="0"/>
              <a:t>Dept. of ISE,BMSIT&amp;M                       7th Semester, MAJOR PROJECT PHASE-2 (BCS705) REVIEW ‘1                             AY : 2026-27 </a:t>
            </a:r>
            <a:endParaRPr lang="en-IN" dirty="0"/>
          </a:p>
        </p:txBody>
      </p:sp>
      <p:pic>
        <p:nvPicPr>
          <p:cNvPr id="8" name="Picture 2" descr="logo"/>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375" t="9343" r="82084" b="10716"/>
          <a:stretch>
            <a:fillRect/>
          </a:stretch>
        </p:blipFill>
        <p:spPr bwMode="auto">
          <a:xfrm>
            <a:off x="396097" y="79423"/>
            <a:ext cx="1096908" cy="120570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logo"/>
          <p:cNvPicPr>
            <a:picLocks noChangeAspect="1" noChangeArrowheads="1"/>
          </p:cNvPicPr>
          <p:nvPr/>
        </p:nvPicPr>
        <p:blipFill rotWithShape="1">
          <a:blip r:embed="rId5">
            <a:extLst>
              <a:ext uri="{28A0092B-C50C-407E-A947-70E740481C1C}">
                <a14:useLocalDpi xmlns:a14="http://schemas.microsoft.com/office/drawing/2010/main" val="0"/>
              </a:ext>
            </a:extLst>
          </a:blip>
          <a:srcRect l="19272" t="9343" r="-1" b="10716"/>
          <a:stretch>
            <a:fillRect/>
          </a:stretch>
        </p:blipFill>
        <p:spPr bwMode="auto">
          <a:xfrm>
            <a:off x="1607938" y="157018"/>
            <a:ext cx="6196789" cy="11798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
          <p:cNvSpPr txBox="1">
            <a:spLocks noGrp="1"/>
          </p:cNvSpPr>
          <p:nvPr>
            <p:ph type="title"/>
          </p:nvPr>
        </p:nvSpPr>
        <p:spPr>
          <a:xfrm>
            <a:off x="457200" y="152718"/>
            <a:ext cx="5791200" cy="1371600"/>
          </a:xfrm>
          <a:prstGeom prst="rect">
            <a:avLst/>
          </a:prstGeom>
          <a:noFill/>
          <a:ln>
            <a:noFill/>
          </a:ln>
        </p:spPr>
        <p:txBody>
          <a:bodyPr spcFirstLastPara="1" wrap="square" lIns="91425" tIns="45700" rIns="91425" bIns="45700" anchor="b" anchorCtr="0">
            <a:normAutofit/>
          </a:bodyPr>
          <a:lstStyle/>
          <a:p>
            <a:pPr marL="0" lvl="0" indent="0" algn="l" rtl="0">
              <a:lnSpc>
                <a:spcPct val="100000"/>
              </a:lnSpc>
              <a:spcBef>
                <a:spcPts val="0"/>
              </a:spcBef>
              <a:spcAft>
                <a:spcPts val="0"/>
              </a:spcAft>
              <a:buClr>
                <a:schemeClr val="dk2"/>
              </a:buClr>
              <a:buSzPts val="3600"/>
              <a:buFont typeface="Century Schoolbook"/>
              <a:buNone/>
            </a:pPr>
            <a:r>
              <a:rPr lang="en-IN" b="1">
                <a:latin typeface="Century Schoolbook"/>
                <a:ea typeface="Century Schoolbook"/>
                <a:cs typeface="Century Schoolbook"/>
                <a:sym typeface="Century Schoolbook"/>
              </a:rPr>
              <a:t>CONTENT</a:t>
            </a:r>
            <a:br>
              <a:rPr lang="en-IN" b="1">
                <a:latin typeface="Century Schoolbook"/>
                <a:ea typeface="Century Schoolbook"/>
                <a:cs typeface="Century Schoolbook"/>
                <a:sym typeface="Century Schoolbook"/>
              </a:rPr>
            </a:br>
            <a:endParaRPr b="1">
              <a:latin typeface="Century Schoolbook"/>
              <a:ea typeface="Century Schoolbook"/>
              <a:cs typeface="Century Schoolbook"/>
              <a:sym typeface="Century Schoolbook"/>
            </a:endParaRPr>
          </a:p>
        </p:txBody>
      </p:sp>
      <p:sp>
        <p:nvSpPr>
          <p:cNvPr id="102" name="Google Shape;102;p2"/>
          <p:cNvSpPr txBox="1">
            <a:spLocks noGrp="1"/>
          </p:cNvSpPr>
          <p:nvPr>
            <p:ph type="body" idx="1"/>
          </p:nvPr>
        </p:nvSpPr>
        <p:spPr>
          <a:xfrm>
            <a:off x="457200" y="1041009"/>
            <a:ext cx="8229600" cy="5542671"/>
          </a:xfrm>
          <a:prstGeom prst="rect">
            <a:avLst/>
          </a:prstGeom>
          <a:noFill/>
          <a:ln>
            <a:noFill/>
          </a:ln>
        </p:spPr>
        <p:txBody>
          <a:bodyPr spcFirstLastPara="1" wrap="square" lIns="91425" tIns="45700" rIns="91425" bIns="45700" anchor="t" anchorCtr="0">
            <a:normAutofit fontScale="92500" lnSpcReduction="20000"/>
          </a:bodyPr>
          <a:lstStyle/>
          <a:p>
            <a:pPr marL="571500" lvl="0" indent="-557720" algn="l" rtl="0">
              <a:lnSpc>
                <a:spcPct val="120000"/>
              </a:lnSpc>
              <a:spcBef>
                <a:spcPts val="0"/>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Abstract  </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571500" lvl="0" indent="-557720" algn="l" rtl="0">
              <a:lnSpc>
                <a:spcPct val="120000"/>
              </a:lnSpc>
              <a:spcBef>
                <a:spcPts val="1118"/>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Introduction</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Problem statement</a:t>
            </a:r>
            <a:endParaRPr b="0" dirty="0">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Clr>
                <a:schemeClr val="dk1"/>
              </a:buClr>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Objectives of the work</a:t>
            </a:r>
            <a:endParaRPr b="0" dirty="0">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Methodology </a:t>
            </a: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ea typeface="Bookman Old Style"/>
                <a:cs typeface="Times New Roman" panose="02020603050405020304" pitchFamily="18" charset="0"/>
                <a:sym typeface="Bookman Old Style"/>
              </a:rPr>
              <a:t>Implementation of project Execution</a:t>
            </a:r>
            <a:endParaRPr b="0" dirty="0">
              <a:solidFill>
                <a:schemeClr val="tx1"/>
              </a:solidFill>
              <a:latin typeface="Times New Roman" panose="02020603050405020304" pitchFamily="18" charset="0"/>
              <a:cs typeface="Times New Roman" panose="02020603050405020304" pitchFamily="18" charset="0"/>
            </a:endParaRP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cs typeface="Times New Roman" panose="02020603050405020304" pitchFamily="18" charset="0"/>
              </a:rPr>
              <a:t>Experimental Setup, Expected Results &amp; Analysis</a:t>
            </a:r>
          </a:p>
          <a:p>
            <a:pPr marL="571500" lvl="0" indent="-557720" algn="l" rtl="0">
              <a:lnSpc>
                <a:spcPct val="120000"/>
              </a:lnSpc>
              <a:spcBef>
                <a:spcPts val="1118"/>
              </a:spcBef>
              <a:spcAft>
                <a:spcPts val="0"/>
              </a:spcAft>
              <a:buSzPct val="100000"/>
              <a:buFont typeface="Cambria Math"/>
              <a:buChar char="↪"/>
            </a:pPr>
            <a:r>
              <a:rPr lang="en-IN" sz="2900" b="0" dirty="0">
                <a:solidFill>
                  <a:schemeClr val="tx1"/>
                </a:solidFill>
                <a:latin typeface="Times New Roman" panose="02020603050405020304" pitchFamily="18" charset="0"/>
                <a:cs typeface="Times New Roman" panose="02020603050405020304" pitchFamily="18" charset="0"/>
              </a:rPr>
              <a:t>Project Status, Conclusion</a:t>
            </a:r>
          </a:p>
          <a:p>
            <a:pPr marL="571500" lvl="0" indent="-557720" algn="l" rtl="0">
              <a:lnSpc>
                <a:spcPct val="120000"/>
              </a:lnSpc>
              <a:spcBef>
                <a:spcPts val="1118"/>
              </a:spcBef>
              <a:spcAft>
                <a:spcPts val="0"/>
              </a:spcAft>
              <a:buSzPct val="100000"/>
              <a:buFont typeface="Cambria Math"/>
              <a:buChar char="↪"/>
            </a:pPr>
            <a:r>
              <a:rPr lang="en-IN" sz="2800" b="0" dirty="0">
                <a:solidFill>
                  <a:schemeClr val="tx1"/>
                </a:solidFill>
                <a:latin typeface="Times New Roman" panose="02020603050405020304" pitchFamily="18" charset="0"/>
                <a:cs typeface="Times New Roman" panose="02020603050405020304" pitchFamily="18" charset="0"/>
              </a:rPr>
              <a:t>Publication</a:t>
            </a:r>
          </a:p>
          <a:p>
            <a:pPr marL="571500" lvl="0" indent="-557720" algn="l" rtl="0">
              <a:lnSpc>
                <a:spcPct val="120000"/>
              </a:lnSpc>
              <a:spcBef>
                <a:spcPts val="1118"/>
              </a:spcBef>
              <a:spcAft>
                <a:spcPts val="0"/>
              </a:spcAft>
              <a:buSzPct val="100000"/>
              <a:buFont typeface="Cambria Math"/>
              <a:buChar char="↪"/>
            </a:pPr>
            <a:r>
              <a:rPr lang="en-IN" sz="2900" b="0" dirty="0">
                <a:latin typeface="Times New Roman" panose="02020603050405020304" pitchFamily="18" charset="0"/>
                <a:ea typeface="Bookman Old Style"/>
                <a:cs typeface="Times New Roman" panose="02020603050405020304" pitchFamily="18" charset="0"/>
                <a:sym typeface="Bookman Old Style"/>
              </a:rPr>
              <a:t>References(IEEE format)</a:t>
            </a:r>
            <a:endParaRPr sz="2900" b="0" dirty="0">
              <a:latin typeface="Times New Roman" panose="02020603050405020304" pitchFamily="18" charset="0"/>
              <a:ea typeface="Bookman Old Style"/>
              <a:cs typeface="Times New Roman" panose="02020603050405020304" pitchFamily="18" charset="0"/>
              <a:sym typeface="Bookman Old Style"/>
            </a:endParaRPr>
          </a:p>
          <a:p>
            <a:pPr marL="45720" lvl="0" indent="0" algn="l" rtl="0">
              <a:lnSpc>
                <a:spcPct val="100000"/>
              </a:lnSpc>
              <a:spcBef>
                <a:spcPts val="880"/>
              </a:spcBef>
              <a:spcAft>
                <a:spcPts val="0"/>
              </a:spcAft>
              <a:buClr>
                <a:schemeClr val="dk1"/>
              </a:buClr>
              <a:buSzPct val="100000"/>
              <a:buNone/>
            </a:pPr>
            <a:endParaRPr dirty="0"/>
          </a:p>
        </p:txBody>
      </p:sp>
      <p:sp>
        <p:nvSpPr>
          <p:cNvPr id="4" name="Slide Number Placeholder 3">
            <a:extLst>
              <a:ext uri="{FF2B5EF4-FFF2-40B4-BE49-F238E27FC236}">
                <a16:creationId xmlns:a16="http://schemas.microsoft.com/office/drawing/2014/main" id="{3558EB12-1B62-6FEB-4F9A-BB274C4DBCBC}"/>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2</a:t>
            </a:fld>
            <a:endParaRPr lang="en-IN"/>
          </a:p>
        </p:txBody>
      </p:sp>
      <p:sp>
        <p:nvSpPr>
          <p:cNvPr id="5" name="Footer Placeholder 4">
            <a:extLst>
              <a:ext uri="{FF2B5EF4-FFF2-40B4-BE49-F238E27FC236}">
                <a16:creationId xmlns:a16="http://schemas.microsoft.com/office/drawing/2014/main" id="{2828E2F0-886E-19C2-554E-EBC5C6F24D9C}"/>
              </a:ext>
            </a:extLst>
          </p:cNvPr>
          <p:cNvSpPr>
            <a:spLocks noGrp="1"/>
          </p:cNvSpPr>
          <p:nvPr>
            <p:ph type="ftr" idx="11"/>
          </p:nvPr>
        </p:nvSpPr>
        <p:spPr>
          <a:xfrm>
            <a:off x="457199" y="6492875"/>
            <a:ext cx="8095673"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3a64a40ef39_0_6"/>
          <p:cNvSpPr txBox="1">
            <a:spLocks noGrp="1"/>
          </p:cNvSpPr>
          <p:nvPr>
            <p:ph type="title"/>
          </p:nvPr>
        </p:nvSpPr>
        <p:spPr>
          <a:xfrm>
            <a:off x="457200" y="152718"/>
            <a:ext cx="5791200" cy="64281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IN" dirty="0">
                <a:latin typeface="Times New Roman" panose="02020603050405020304" pitchFamily="18" charset="0"/>
                <a:cs typeface="Times New Roman" panose="02020603050405020304" pitchFamily="18" charset="0"/>
              </a:rPr>
              <a:t>ABSTRACT</a:t>
            </a:r>
            <a:endParaRPr dirty="0">
              <a:latin typeface="Times New Roman" panose="02020603050405020304" pitchFamily="18" charset="0"/>
              <a:cs typeface="Times New Roman" panose="02020603050405020304" pitchFamily="18" charset="0"/>
            </a:endParaRPr>
          </a:p>
        </p:txBody>
      </p:sp>
      <p:sp>
        <p:nvSpPr>
          <p:cNvPr id="109" name="Google Shape;109;g3a64a40ef39_0_6"/>
          <p:cNvSpPr txBox="1">
            <a:spLocks noGrp="1"/>
          </p:cNvSpPr>
          <p:nvPr>
            <p:ph type="body" idx="1"/>
          </p:nvPr>
        </p:nvSpPr>
        <p:spPr>
          <a:xfrm>
            <a:off x="457200" y="1297590"/>
            <a:ext cx="7620000" cy="5024120"/>
          </a:xfrm>
          <a:prstGeom prst="rect">
            <a:avLst/>
          </a:prstGeom>
        </p:spPr>
        <p:txBody>
          <a:bodyPr spcFirstLastPara="1" wrap="square" lIns="91425" tIns="45700" rIns="91425" bIns="45700" anchor="t" anchorCtr="0">
            <a:normAutofit fontScale="92500" lnSpcReduction="20000"/>
          </a:bodyPr>
          <a:lstStyle/>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Context: Planning a trip in India means a dozen browser tabs, almost all in English, and a chat answer that may be confidently wrong about when a place closes. At the site itself there is no guide that can be trusted on a date or a fee.</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Problem Identified: Generic large language models are fluent but unreliable planners — GPT-4 passes 0.6 percent of multi-constraint plans on the TravelPlanner benchmark — and free-form generation invents opening hours, fees and history that a traveller cannot check.</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Objective: This review demonstrates two of the six project objectives in working software: Objective 1, AI-Powered Personalised Itinerary Generation, and Objective 5, Virtual Cultural Tour Guide, delivered as the feature named Katha.</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Methods: Our own solver computes the itinerary — candidate selection, grouping places by part of the city, nearest-next ordering then untangling under opening hours, a checklist, and a repair loop that rebuilds one day. The language model reads the traveller's words into the form, drafts places for a city we have never seen (labelled unverified), writes the finished plan up and reads the guide aloud; every paragraph it speaks is checked against its source.</a:t>
            </a:r>
            <a:endParaRPr sz="1600" b="0" dirty="0">
              <a:latin typeface="Times New Roman"/>
              <a:ea typeface="Times New Roman"/>
              <a:cs typeface="Times New Roman"/>
              <a:sym typeface="Times New Roman"/>
            </a:endParaRPr>
          </a:p>
          <a:p>
            <a:pPr marL="457200" indent="-304800" algn="l" rtl="0">
              <a:lnSpc>
                <a:spcPct val="115000"/>
              </a:lnSpc>
              <a:spcBef>
                <a:spcPts val="0"/>
              </a:spcBef>
              <a:spcAft>
                <a:spcPts val="800"/>
              </a:spcAft>
              <a:buSzPts val="1200"/>
              <a:buFont typeface="Times New Roman"/>
              <a:buChar char="●"/>
            </a:pPr>
            <a:r>
              <a:rPr lang="en-IN" sz="1400" b="0" dirty="0">
                <a:latin typeface="Times New Roman"/>
                <a:ea typeface="Times New Roman"/>
                <a:cs typeface="Times New Roman"/>
                <a:sym typeface="Times New Roman"/>
              </a:rPr>
              <a:t>Results: On the demonstration trip the routed itinerary is 30.9 km against 34.98 km for the same stops in list order, with 37 of 37 checks passed in 4 ms. Retrieval reaches Recall@5 of 0.867 on written questions and 0.900 on name lookups; 17 of 18 narrated segments passed the fact-check; 144 automated tests pass.</a:t>
            </a:r>
            <a:endParaRPr sz="1600" b="0" dirty="0">
              <a:latin typeface="Times New Roman"/>
              <a:ea typeface="Times New Roman"/>
              <a:cs typeface="Times New Roman"/>
              <a:sym typeface="Times New Roman"/>
            </a:endParaRPr>
          </a:p>
        </p:txBody>
      </p:sp>
      <p:sp>
        <p:nvSpPr>
          <p:cNvPr id="6" name="Footer Placeholder 5">
            <a:extLst>
              <a:ext uri="{FF2B5EF4-FFF2-40B4-BE49-F238E27FC236}">
                <a16:creationId xmlns:a16="http://schemas.microsoft.com/office/drawing/2014/main" id="{F7DC5DB4-DE2F-7C54-72E8-D875E945EEC0}"/>
              </a:ext>
            </a:extLst>
          </p:cNvPr>
          <p:cNvSpPr>
            <a:spLocks noGrp="1"/>
          </p:cNvSpPr>
          <p:nvPr>
            <p:ph type="ftr" idx="11"/>
          </p:nvPr>
        </p:nvSpPr>
        <p:spPr>
          <a:xfrm>
            <a:off x="252983" y="6421437"/>
            <a:ext cx="8318361" cy="283845"/>
          </a:xfrm>
        </p:spPr>
        <p:txBody>
          <a:bodyPr/>
          <a:lstStyle/>
          <a:p>
            <a:r>
              <a:rPr lang="en-US" dirty="0"/>
              <a:t>Dept. of ISE,BMSIT&amp;M                       7th Semester, MAJOR PROJECT PHASE-2 (BCS705) REVIEW ‘1                             AY : 2026-27 </a:t>
            </a:r>
            <a:endParaRPr lang="en-IN" dirty="0"/>
          </a:p>
        </p:txBody>
      </p:sp>
      <p:sp>
        <p:nvSpPr>
          <p:cNvPr id="7" name="Slide Number Placeholder 6">
            <a:extLst>
              <a:ext uri="{FF2B5EF4-FFF2-40B4-BE49-F238E27FC236}">
                <a16:creationId xmlns:a16="http://schemas.microsoft.com/office/drawing/2014/main" id="{374015D3-FC46-4C05-CA6C-5B379E1A48D1}"/>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3</a:t>
            </a:fld>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g3a64a40ef39_0_12"/>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INTRODUCTION</a:t>
            </a:r>
            <a:endParaRPr dirty="0">
              <a:latin typeface="Times New Roman" panose="02020603050405020304" pitchFamily="18" charset="0"/>
              <a:cs typeface="Times New Roman" panose="02020603050405020304" pitchFamily="18" charset="0"/>
            </a:endParaRPr>
          </a:p>
        </p:txBody>
      </p:sp>
      <p:sp>
        <p:nvSpPr>
          <p:cNvPr id="116" name="Google Shape;116;g3a64a40ef39_0_12"/>
          <p:cNvSpPr txBox="1">
            <a:spLocks noGrp="1"/>
          </p:cNvSpPr>
          <p:nvPr>
            <p:ph type="body" idx="1"/>
          </p:nvPr>
        </p:nvSpPr>
        <p:spPr>
          <a:xfrm>
            <a:off x="457200" y="1325880"/>
            <a:ext cx="8193024" cy="4937760"/>
          </a:xfrm>
          <a:prstGeom prst="rect">
            <a:avLst/>
          </a:prstGeom>
        </p:spPr>
        <p:txBody>
          <a:bodyPr spcFirstLastPara="1" wrap="square" lIns="91425" tIns="45700" rIns="91425" bIns="45700" anchor="t" anchorCtr="0">
            <a:normAutofit/>
          </a:bodyPr>
          <a:lstStyle/>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Travel Yantra is an AI-based personalised itinerary planner and virtual tour guide for the Indian tourism context, built for travellers who currently plan across several disconnected platforms and who are more comfortable in an Indian language than in English.</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Phase 1 established the problem, surveyed twenty-two papers and set six measurable objectives. Phase 2 is implementation. This review presents working software for two of those six objectives, evaluated on real data rather than described as intent.</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Scope of this review — Objective 1: the planner is an India-wide architecture; nothing in the solver is specific to one state. It is demonstrated on Karnataka data because that is where our verified data exists; a city outside it is drafted by the model on first request and labelled unverified until a source confirms it.</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Scope of this review — Objective 5: the Katha guide is scoped to Karnataka, since every paragraph it can speak has to be written and sourced before it can be retrieved.</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1000"/>
              </a:spcAft>
              <a:buSzPts val="21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Related work in one line: TravelPlanner (Xie et al., ICML 2024) showed that a single language model fails multi-constraint travel planning; Hao et al. (NAACL 2025) recovered the accuracy on that same benchmark by handing the constraints to a solver; and ChinaTravel (Shao et al., ICLR 2026) reproduced the effect on a second, harder benchmark. Our architecture follows that finding rather than restating the problem.</a:t>
            </a:r>
            <a:endParaRPr sz="21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0A61D392-EBCD-1E72-4571-835535255CAE}"/>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4</a:t>
            </a:fld>
            <a:endParaRPr lang="en-IN"/>
          </a:p>
        </p:txBody>
      </p:sp>
      <p:sp>
        <p:nvSpPr>
          <p:cNvPr id="5" name="Footer Placeholder 4">
            <a:extLst>
              <a:ext uri="{FF2B5EF4-FFF2-40B4-BE49-F238E27FC236}">
                <a16:creationId xmlns:a16="http://schemas.microsoft.com/office/drawing/2014/main" id="{5D6C057E-C4CC-4DA0-3F99-BA2B87E1A63A}"/>
              </a:ext>
            </a:extLst>
          </p:cNvPr>
          <p:cNvSpPr>
            <a:spLocks noGrp="1"/>
          </p:cNvSpPr>
          <p:nvPr>
            <p:ph type="ftr" idx="11"/>
          </p:nvPr>
        </p:nvSpPr>
        <p:spPr>
          <a:xfrm>
            <a:off x="457200" y="6492875"/>
            <a:ext cx="8156448"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g3a64a40ef39_0_1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PROBLEM STATEMENT</a:t>
            </a:r>
            <a:endParaRPr dirty="0">
              <a:latin typeface="Times New Roman" panose="02020603050405020304" pitchFamily="18" charset="0"/>
              <a:cs typeface="Times New Roman" panose="02020603050405020304" pitchFamily="18" charset="0"/>
            </a:endParaRPr>
          </a:p>
        </p:txBody>
      </p:sp>
      <p:sp>
        <p:nvSpPr>
          <p:cNvPr id="123" name="Google Shape;123;g3a64a40ef39_0_18"/>
          <p:cNvSpPr txBox="1">
            <a:spLocks noGrp="1"/>
          </p:cNvSpPr>
          <p:nvPr>
            <p:ph type="body" idx="1"/>
          </p:nvPr>
        </p:nvSpPr>
        <p:spPr>
          <a:xfrm>
            <a:off x="457200" y="1325880"/>
            <a:ext cx="8193024" cy="493776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A traveller assembling a three-day trip must reconcile opening hours, weekly closing days, entry fees, road time between stops, a midday meal, a budget and how far the oldest member of the group can walk. These are hard constraints and they interact: fixing one breaks another.</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Booking and review platforms each solve one slice — flights, hotels, reviews, maps — and leave the traveller to be the integration layer. Not one of them sequences a day against opening hours.</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General-purpose chat models are fluent, but measured at a 0.6 percent pass rate on multi-constraint travel plans, and they state fees and timings with a confidence they have not earned.</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Both classes of tool are English-first, which excludes the traveller who would rather read and listen in Kannada or Hindi.</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0" dirty="0">
                <a:latin typeface="Times New Roman" panose="02020603050405020304" pitchFamily="18" charset="0"/>
                <a:ea typeface="Roboto"/>
                <a:cs typeface="Times New Roman" panose="02020603050405020304" pitchFamily="18" charset="0"/>
                <a:sym typeface="Roboto"/>
              </a:rPr>
              <a:t>On site, there is no grounded, source-cited guide. This is exactly where a fabricated date or fee is least detectable by the listener and most damaging to trust.</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1000"/>
              </a:spcAft>
              <a:buSzPts val="2200"/>
              <a:buFont typeface="Roboto"/>
              <a:buChar char="●"/>
            </a:pPr>
            <a:r>
              <a:rPr lang="en-IN" sz="1600" b="1" dirty="0">
                <a:latin typeface="Times New Roman" panose="02020603050405020304" pitchFamily="18" charset="0"/>
                <a:ea typeface="Roboto"/>
                <a:cs typeface="Times New Roman" panose="02020603050405020304" pitchFamily="18" charset="0"/>
                <a:sym typeface="Roboto"/>
              </a:rPr>
              <a:t>Stated as an engineering problem: an itinerary must be computed against its constraints and be able to show the working — not generated and hoped for.</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5" name="Footer Placeholder 4">
            <a:extLst>
              <a:ext uri="{FF2B5EF4-FFF2-40B4-BE49-F238E27FC236}">
                <a16:creationId xmlns:a16="http://schemas.microsoft.com/office/drawing/2014/main" id="{5339181E-A078-B3C5-963B-BBBFBF2AA13C}"/>
              </a:ext>
            </a:extLst>
          </p:cNvPr>
          <p:cNvSpPr>
            <a:spLocks noGrp="1"/>
          </p:cNvSpPr>
          <p:nvPr>
            <p:ph type="ftr" idx="11"/>
          </p:nvPr>
        </p:nvSpPr>
        <p:spPr>
          <a:xfrm>
            <a:off x="457200" y="6492875"/>
            <a:ext cx="8055864"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A821517E-A088-090E-873E-91A0D55F2E0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5</a:t>
            </a:fld>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g3a64a40ef39_2_2"/>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OBJECTIVES OF THE WORK</a:t>
            </a:r>
            <a:endParaRPr dirty="0">
              <a:latin typeface="Times New Roman" panose="02020603050405020304" pitchFamily="18" charset="0"/>
              <a:cs typeface="Times New Roman" panose="02020603050405020304" pitchFamily="18" charset="0"/>
            </a:endParaRPr>
          </a:p>
        </p:txBody>
      </p:sp>
      <p:sp>
        <p:nvSpPr>
          <p:cNvPr id="130" name="Google Shape;130;g3a64a40ef39_2_2"/>
          <p:cNvSpPr txBox="1">
            <a:spLocks noGrp="1"/>
          </p:cNvSpPr>
          <p:nvPr>
            <p:ph type="body" idx="1"/>
          </p:nvPr>
        </p:nvSpPr>
        <p:spPr>
          <a:xfrm>
            <a:off x="457200" y="1097280"/>
            <a:ext cx="8193024" cy="5212080"/>
          </a:xfrm>
          <a:prstGeom prst="rect">
            <a:avLst/>
          </a:prstGeom>
        </p:spPr>
        <p:txBody>
          <a:bodyPr spcFirstLastPara="1" wrap="square" lIns="91425" tIns="45700" rIns="91425" bIns="45700" anchor="t" anchorCtr="0">
            <a:normAutofit/>
          </a:bodyPr>
          <a:lstStyle/>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Demonstrated in this review</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1 — AI-Powered Personalised Itinerary Generation: “Design and implement a multi-agent AI system that generates day-by-day itineraries from user preferences, budget, dates and group composition, targeting a user satisfaction rate of ninety percent or higher.”</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5 — Virtual Cultural Tour Guide: “Build a Retrieval-Augmented Generation based interactive guide for history, food, cultural significance and emergency information, with sub-three-second response latency.” Delivered as the feature named Katha.</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Scope: Objective 1 is an India-wide architecture demonstrated on Karnataka; Objective 5 is scoped to Karnataka.</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1" dirty="0">
                <a:latin typeface="Times New Roman" panose="02020603050405020304" pitchFamily="18" charset="0"/>
                <a:ea typeface="Roboto"/>
                <a:cs typeface="Times New Roman" panose="02020603050405020304" pitchFamily="18" charset="0"/>
                <a:sym typeface="Roboto"/>
              </a:rPr>
              <a:t>Deferred to Review 2</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2 — Multilingual Natural Language Support across Hindi, Tamil, Telugu, Kannada and Bengali. English and Kannada are working today; the full five-language pipeline is Review-2 work.</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3 — Multi-Channel Deployment and Accessibility across web, WhatsApp and voice. The web channel is built; WhatsApp and telephony are Review-2 work.</a:t>
            </a:r>
            <a:endParaRPr sz="2100" b="0" dirty="0">
              <a:latin typeface="Times New Roman" panose="02020603050405020304" pitchFamily="18" charset="0"/>
              <a:ea typeface="Roboto"/>
              <a:cs typeface="Times New Roman" panose="02020603050405020304" pitchFamily="18" charset="0"/>
              <a:sym typeface="Roboto"/>
            </a:endParaRPr>
          </a:p>
          <a:p>
            <a:pPr marL="457200" lvl="1"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4 — Real-Time Booking and Route Optimisation against live booking and routing APIs.</a:t>
            </a:r>
            <a:endParaRPr sz="2100" b="0" dirty="0">
              <a:latin typeface="Times New Roman" panose="02020603050405020304" pitchFamily="18" charset="0"/>
              <a:ea typeface="Roboto"/>
              <a:cs typeface="Times New Roman" panose="02020603050405020304" pitchFamily="18" charset="0"/>
              <a:sym typeface="Roboto"/>
            </a:endParaRPr>
          </a:p>
          <a:p>
            <a:pPr marL="457200" indent="-361950" algn="l" rtl="0">
              <a:lnSpc>
                <a:spcPct val="115000"/>
              </a:lnSpc>
              <a:spcBef>
                <a:spcPts val="0"/>
              </a:spcBef>
              <a:spcAft>
                <a:spcPts val="600"/>
              </a:spcAft>
              <a:buSzPts val="2100"/>
              <a:buFont typeface="Roboto"/>
              <a:buChar char="●"/>
            </a:pPr>
            <a:r>
              <a:rPr lang="en-IN" sz="1350" b="0" dirty="0">
                <a:latin typeface="Times New Roman" panose="02020603050405020304" pitchFamily="18" charset="0"/>
                <a:ea typeface="Roboto"/>
                <a:cs typeface="Times New Roman" panose="02020603050405020304" pitchFamily="18" charset="0"/>
                <a:sym typeface="Roboto"/>
              </a:rPr>
              <a:t>Objective 6 — Privacy and Cost Constraints is a standing constraint, not a milestone: the stack is open-source-first and the measured model spend for the whole project to date is under one US dollar.</a:t>
            </a:r>
            <a:endParaRPr sz="21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0B3EB978-79E7-EC0D-D7F2-93B6BFFA3179}"/>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6</a:t>
            </a:fld>
            <a:endParaRPr lang="en-IN"/>
          </a:p>
        </p:txBody>
      </p:sp>
      <p:sp>
        <p:nvSpPr>
          <p:cNvPr id="5" name="Footer Placeholder 4">
            <a:extLst>
              <a:ext uri="{FF2B5EF4-FFF2-40B4-BE49-F238E27FC236}">
                <a16:creationId xmlns:a16="http://schemas.microsoft.com/office/drawing/2014/main" id="{E5D0EE17-2BAE-351A-5ED4-1C8461DF9FF7}"/>
              </a:ext>
            </a:extLst>
          </p:cNvPr>
          <p:cNvSpPr>
            <a:spLocks noGrp="1"/>
          </p:cNvSpPr>
          <p:nvPr>
            <p:ph type="ftr" idx="11"/>
          </p:nvPr>
        </p:nvSpPr>
        <p:spPr>
          <a:xfrm>
            <a:off x="457200" y="6492875"/>
            <a:ext cx="8092440" cy="283845"/>
          </a:xfrm>
        </p:spPr>
        <p:txBody>
          <a:bodyPr/>
          <a:lstStyle/>
          <a:p>
            <a:r>
              <a:rPr lang="en-US" dirty="0"/>
              <a:t>Dept. of ISE,BMSIT&amp;M                       7th Semester, MAJOR PROJECT PHASE-2 (BCS705) REVIEW ‘1                             AY : 2026-27 </a:t>
            </a:r>
            <a:endParaRPr lang="en-I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g3a64a40ef39_2_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METHODOLOGY</a:t>
            </a:r>
            <a:endParaRPr dirty="0">
              <a:latin typeface="Times New Roman" panose="02020603050405020304" pitchFamily="18" charset="0"/>
              <a:cs typeface="Times New Roman" panose="02020603050405020304" pitchFamily="18" charset="0"/>
            </a:endParaRPr>
          </a:p>
        </p:txBody>
      </p:sp>
      <p:sp>
        <p:nvSpPr>
          <p:cNvPr id="137" name="Google Shape;137;g3a64a40ef39_2_8"/>
          <p:cNvSpPr txBox="1">
            <a:spLocks noGrp="1"/>
          </p:cNvSpPr>
          <p:nvPr>
            <p:ph type="body" idx="1"/>
          </p:nvPr>
        </p:nvSpPr>
        <p:spPr>
          <a:xfrm>
            <a:off x="457200" y="914400"/>
            <a:ext cx="8193024" cy="96012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400"/>
              </a:spcAft>
              <a:buSzPts val="2200"/>
              <a:buFont typeface="Roboto"/>
              <a:buChar char="●"/>
            </a:pPr>
            <a:r>
              <a:rPr lang="en-IN" sz="1400" b="1" dirty="0">
                <a:latin typeface="Times New Roman" panose="02020603050405020304" pitchFamily="18" charset="0"/>
                <a:ea typeface="Roboto"/>
                <a:cs typeface="Times New Roman" panose="02020603050405020304" pitchFamily="18" charset="0"/>
                <a:sym typeface="Roboto"/>
              </a:rPr>
              <a:t>The plan is computed by our own solver. The AI reads, drafts data when we have none, and narrates. It never decides the plan.</a:t>
            </a:r>
            <a:endParaRPr sz="2200" b="0" dirty="0">
              <a:latin typeface="Times New Roman" panose="02020603050405020304" pitchFamily="18" charset="0"/>
              <a:ea typeface="Roboto"/>
              <a:cs typeface="Times New Roman" panose="02020603050405020304" pitchFamily="18" charset="0"/>
              <a:sym typeface="Roboto"/>
            </a:endParaRPr>
          </a:p>
          <a:p>
            <a:pPr marL="457200" indent="-368300" algn="l" rtl="0">
              <a:lnSpc>
                <a:spcPct val="115000"/>
              </a:lnSpc>
              <a:spcBef>
                <a:spcPts val="0"/>
              </a:spcBef>
              <a:spcAft>
                <a:spcPts val="400"/>
              </a:spcAft>
              <a:buSzPts val="2200"/>
              <a:buFont typeface="Roboto"/>
              <a:buChar char="●"/>
            </a:pPr>
            <a:r>
              <a:rPr lang="en-IN" sz="1400" b="0" dirty="0">
                <a:latin typeface="Times New Roman" panose="02020603050405020304" pitchFamily="18" charset="0"/>
                <a:ea typeface="Roboto"/>
                <a:cs typeface="Times New Roman" panose="02020603050405020304" pitchFamily="18" charset="0"/>
                <a:sym typeface="Roboto"/>
              </a:rPr>
              <a:t>Stages 3 to 7 are ordinary code following fixed rules with a fixed random seed, so the same request always gives the same plan.</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535B6E70-8782-7CF1-A492-D7C8D7532384}"/>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7</a:t>
            </a:fld>
            <a:endParaRPr lang="en-IN"/>
          </a:p>
        </p:txBody>
      </p:sp>
      <p:sp>
        <p:nvSpPr>
          <p:cNvPr id="5" name="Footer Placeholder 4">
            <a:extLst>
              <a:ext uri="{FF2B5EF4-FFF2-40B4-BE49-F238E27FC236}">
                <a16:creationId xmlns:a16="http://schemas.microsoft.com/office/drawing/2014/main" id="{FBF5039F-2A94-A08F-F818-4DDB82E2B044}"/>
              </a:ext>
            </a:extLst>
          </p:cNvPr>
          <p:cNvSpPr>
            <a:spLocks noGrp="1"/>
          </p:cNvSpPr>
          <p:nvPr>
            <p:ph type="ftr" idx="11"/>
          </p:nvPr>
        </p:nvSpPr>
        <p:spPr>
          <a:xfrm>
            <a:off x="457200" y="6492875"/>
            <a:ext cx="8065008" cy="283845"/>
          </a:xfrm>
        </p:spPr>
        <p:txBody>
          <a:bodyPr/>
          <a:lstStyle/>
          <a:p>
            <a:r>
              <a:rPr lang="en-US" dirty="0"/>
              <a:t>Dept. of ISE,BMSIT&amp;M                       7th Semester, MAJOR PROJECT PHASE-2 (BCS705) REVIEW ‘1                             AY : 2026-27 </a:t>
            </a:r>
            <a:endParaRPr lang="en-IN" dirty="0"/>
          </a:p>
        </p:txBody>
      </p:sp>
      <p:sp>
        <p:nvSpPr>
          <p:cNvPr id="138" name="Rounded Rectangle 137"/>
          <p:cNvSpPr/>
          <p:nvPr/>
        </p:nvSpPr>
        <p:spPr>
          <a:xfrm>
            <a:off x="502920" y="2103120"/>
            <a:ext cx="1938528" cy="960120"/>
          </a:xfrm>
          <a:prstGeom prst="roundRect">
            <a:avLst/>
          </a:prstGeom>
          <a:solidFill>
            <a:srgbClr val="FFFFFF"/>
          </a:solidFill>
          <a:ln w="22225">
            <a:solidFill>
              <a:srgbClr val="DC5924"/>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1 Your words</a:t>
            </a:r>
          </a:p>
          <a:p>
            <a:pPr algn="ctr"/>
            <a:r>
              <a:rPr sz="850" b="0">
                <a:solidFill>
                  <a:srgbClr val="000000"/>
                </a:solidFill>
                <a:latin typeface="Times New Roman"/>
              </a:rPr>
              <a:t>the model reads them into</a:t>
            </a:r>
          </a:p>
          <a:p>
            <a:pPr algn="ctr"/>
            <a:r>
              <a:rPr sz="850" b="0">
                <a:solidFill>
                  <a:srgbClr val="000000"/>
                </a:solidFill>
                <a:latin typeface="Times New Roman"/>
              </a:rPr>
              <a:t>a form you check</a:t>
            </a:r>
          </a:p>
        </p:txBody>
      </p:sp>
      <p:cxnSp>
        <p:nvCxnSpPr>
          <p:cNvPr id="139" name="Connector 138"/>
          <p:cNvCxnSpPr/>
          <p:nvPr/>
        </p:nvCxnSpPr>
        <p:spPr>
          <a:xfrm>
            <a:off x="2441448"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0" name="Rounded Rectangle 139"/>
          <p:cNvSpPr/>
          <p:nvPr/>
        </p:nvSpPr>
        <p:spPr>
          <a:xfrm>
            <a:off x="2569464" y="2103120"/>
            <a:ext cx="1938528" cy="960120"/>
          </a:xfrm>
          <a:prstGeom prst="roundRect">
            <a:avLst/>
          </a:prstGeom>
          <a:solidFill>
            <a:srgbClr val="FFFFFF"/>
          </a:solidFill>
          <a:ln w="22225">
            <a:solidFill>
              <a:srgbClr val="DC5924"/>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2 Unknown city?</a:t>
            </a:r>
          </a:p>
          <a:p>
            <a:pPr algn="ctr"/>
            <a:r>
              <a:rPr sz="850" b="0">
                <a:solidFill>
                  <a:srgbClr val="000000"/>
                </a:solidFill>
                <a:latin typeface="Times New Roman"/>
              </a:rPr>
              <a:t>the model drafts its places,</a:t>
            </a:r>
          </a:p>
          <a:p>
            <a:pPr algn="ctr"/>
            <a:r>
              <a:rPr sz="850" b="0">
                <a:solidFill>
                  <a:srgbClr val="000000"/>
                </a:solidFill>
                <a:latin typeface="Times New Roman"/>
              </a:rPr>
              <a:t>labelled unverified</a:t>
            </a:r>
          </a:p>
        </p:txBody>
      </p:sp>
      <p:cxnSp>
        <p:nvCxnSpPr>
          <p:cNvPr id="141" name="Connector 140"/>
          <p:cNvCxnSpPr/>
          <p:nvPr/>
        </p:nvCxnSpPr>
        <p:spPr>
          <a:xfrm>
            <a:off x="4507992"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2" name="Rounded Rectangle 141"/>
          <p:cNvSpPr/>
          <p:nvPr/>
        </p:nvSpPr>
        <p:spPr>
          <a:xfrm>
            <a:off x="4636008"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3 Candidates</a:t>
            </a:r>
          </a:p>
          <a:p>
            <a:pPr algn="ctr"/>
            <a:r>
              <a:rPr sz="850" b="0">
                <a:solidFill>
                  <a:srgbClr val="000000"/>
                </a:solidFill>
                <a:latin typeface="Times New Roman"/>
              </a:rPr>
              <a:t>SQL + your interests +</a:t>
            </a:r>
          </a:p>
          <a:p>
            <a:pPr algn="ctr"/>
            <a:r>
              <a:rPr sz="850" b="0">
                <a:solidFill>
                  <a:srgbClr val="000000"/>
                </a:solidFill>
                <a:latin typeface="Times New Roman"/>
              </a:rPr>
              <a:t>pairing edges (our code)</a:t>
            </a:r>
          </a:p>
        </p:txBody>
      </p:sp>
      <p:cxnSp>
        <p:nvCxnSpPr>
          <p:cNvPr id="143" name="Connector 142"/>
          <p:cNvCxnSpPr/>
          <p:nvPr/>
        </p:nvCxnSpPr>
        <p:spPr>
          <a:xfrm>
            <a:off x="6574536" y="2583179"/>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6702552" y="210312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4 Days and route</a:t>
            </a:r>
          </a:p>
          <a:p>
            <a:pPr algn="ctr"/>
            <a:r>
              <a:rPr sz="850" b="0">
                <a:solidFill>
                  <a:srgbClr val="000000"/>
                </a:solidFill>
                <a:latin typeface="Times New Roman"/>
              </a:rPr>
              <a:t>group by part of the city;</a:t>
            </a:r>
          </a:p>
          <a:p>
            <a:pPr algn="ctr"/>
            <a:r>
              <a:rPr sz="850" b="0">
                <a:solidFill>
                  <a:srgbClr val="000000"/>
                </a:solidFill>
                <a:latin typeface="Times New Roman"/>
              </a:rPr>
              <a:t>nearest-next, then untangle</a:t>
            </a:r>
          </a:p>
        </p:txBody>
      </p:sp>
      <p:cxnSp>
        <p:nvCxnSpPr>
          <p:cNvPr id="145" name="Connector 144"/>
          <p:cNvCxnSpPr/>
          <p:nvPr/>
        </p:nvCxnSpPr>
        <p:spPr>
          <a:xfrm>
            <a:off x="7671816" y="3063239"/>
            <a:ext cx="0" cy="36576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H="1">
            <a:off x="1472184" y="3428999"/>
            <a:ext cx="6199632"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472184" y="3428999"/>
            <a:ext cx="0" cy="36576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8" name="Rounded Rectangle 147"/>
          <p:cNvSpPr/>
          <p:nvPr/>
        </p:nvSpPr>
        <p:spPr>
          <a:xfrm>
            <a:off x="502920"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5 Checklist</a:t>
            </a:r>
          </a:p>
          <a:p>
            <a:pPr algn="ctr"/>
            <a:r>
              <a:rPr sz="850" b="0">
                <a:solidFill>
                  <a:srgbClr val="000000"/>
                </a:solidFill>
                <a:latin typeface="Times New Roman"/>
              </a:rPr>
              <a:t>hours, closures, day end,</a:t>
            </a:r>
          </a:p>
          <a:p>
            <a:pPr algn="ctr"/>
            <a:r>
              <a:rPr sz="850" b="0">
                <a:solidFill>
                  <a:srgbClr val="000000"/>
                </a:solidFill>
                <a:latin typeface="Times New Roman"/>
              </a:rPr>
              <a:t>meal, travel, budget</a:t>
            </a:r>
          </a:p>
        </p:txBody>
      </p:sp>
      <p:cxnSp>
        <p:nvCxnSpPr>
          <p:cNvPr id="149" name="Connector 148"/>
          <p:cNvCxnSpPr/>
          <p:nvPr/>
        </p:nvCxnSpPr>
        <p:spPr>
          <a:xfrm>
            <a:off x="2441448"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2569464"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6 Repair</a:t>
            </a:r>
          </a:p>
          <a:p>
            <a:pPr algn="ctr"/>
            <a:r>
              <a:rPr sz="850" b="0">
                <a:solidFill>
                  <a:srgbClr val="000000"/>
                </a:solidFill>
                <a:latin typeface="Times New Roman"/>
              </a:rPr>
              <a:t>drop one flexible stop,</a:t>
            </a:r>
          </a:p>
          <a:p>
            <a:pPr algn="ctr"/>
            <a:r>
              <a:rPr sz="850" b="0">
                <a:solidFill>
                  <a:srgbClr val="000000"/>
                </a:solidFill>
                <a:latin typeface="Times New Roman"/>
              </a:rPr>
              <a:t>rebuild that day only</a:t>
            </a:r>
          </a:p>
        </p:txBody>
      </p:sp>
      <p:cxnSp>
        <p:nvCxnSpPr>
          <p:cNvPr id="151" name="Connector 150"/>
          <p:cNvCxnSpPr/>
          <p:nvPr/>
        </p:nvCxnSpPr>
        <p:spPr>
          <a:xfrm>
            <a:off x="4507992"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2" name="Rounded Rectangle 151"/>
          <p:cNvSpPr/>
          <p:nvPr/>
        </p:nvSpPr>
        <p:spPr>
          <a:xfrm>
            <a:off x="4636008" y="3794760"/>
            <a:ext cx="1938528" cy="960120"/>
          </a:xfrm>
          <a:prstGeom prst="roundRect">
            <a:avLst/>
          </a:prstGeom>
          <a:solidFill>
            <a:srgbClr val="FFFFFF"/>
          </a:solidFill>
          <a:ln w="22225">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7 Reasons</a:t>
            </a:r>
          </a:p>
          <a:p>
            <a:pPr algn="ctr"/>
            <a:r>
              <a:rPr sz="850" b="0">
                <a:solidFill>
                  <a:srgbClr val="000000"/>
                </a:solidFill>
                <a:latin typeface="Times New Roman"/>
              </a:rPr>
              <a:t>one plain sentence per</a:t>
            </a:r>
          </a:p>
          <a:p>
            <a:pPr algn="ctr"/>
            <a:r>
              <a:rPr sz="850" b="0">
                <a:solidFill>
                  <a:srgbClr val="000000"/>
                </a:solidFill>
                <a:latin typeface="Times New Roman"/>
              </a:rPr>
              <a:t>stop, from templates</a:t>
            </a:r>
          </a:p>
        </p:txBody>
      </p:sp>
      <p:cxnSp>
        <p:nvCxnSpPr>
          <p:cNvPr id="153" name="Connector 152"/>
          <p:cNvCxnSpPr/>
          <p:nvPr/>
        </p:nvCxnSpPr>
        <p:spPr>
          <a:xfrm>
            <a:off x="6574536" y="4274820"/>
            <a:ext cx="128016" cy="0"/>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54" name="Rounded Rectangle 153"/>
          <p:cNvSpPr/>
          <p:nvPr/>
        </p:nvSpPr>
        <p:spPr>
          <a:xfrm>
            <a:off x="6702552" y="3794760"/>
            <a:ext cx="1938528" cy="960120"/>
          </a:xfrm>
          <a:prstGeom prst="roundRect">
            <a:avLst/>
          </a:prstGeom>
          <a:solidFill>
            <a:srgbClr val="FFFFFF"/>
          </a:solidFill>
          <a:ln w="22225">
            <a:solidFill>
              <a:srgbClr val="DC5924"/>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8 Narrate</a:t>
            </a:r>
          </a:p>
          <a:p>
            <a:pPr algn="ctr"/>
            <a:r>
              <a:rPr sz="850" b="0">
                <a:solidFill>
                  <a:srgbClr val="000000"/>
                </a:solidFill>
                <a:latin typeface="Times New Roman"/>
              </a:rPr>
              <a:t>writes the plan up, reads</a:t>
            </a:r>
          </a:p>
          <a:p>
            <a:pPr algn="ctr"/>
            <a:r>
              <a:rPr sz="850" b="0">
                <a:solidFill>
                  <a:srgbClr val="000000"/>
                </a:solidFill>
                <a:latin typeface="Times New Roman"/>
              </a:rPr>
              <a:t>Katha aloud, fact-checked</a:t>
            </a:r>
          </a:p>
        </p:txBody>
      </p:sp>
      <p:sp>
        <p:nvSpPr>
          <p:cNvPr id="155" name="Rounded Rectangle 154"/>
          <p:cNvSpPr/>
          <p:nvPr/>
        </p:nvSpPr>
        <p:spPr>
          <a:xfrm>
            <a:off x="502920" y="4956048"/>
            <a:ext cx="201168" cy="146304"/>
          </a:xfrm>
          <a:prstGeom prst="round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56" name="TextBox 155"/>
          <p:cNvSpPr txBox="1"/>
          <p:nvPr/>
        </p:nvSpPr>
        <p:spPr>
          <a:xfrm>
            <a:off x="777240" y="4928616"/>
            <a:ext cx="3200400" cy="228600"/>
          </a:xfrm>
          <a:prstGeom prst="rect">
            <a:avLst/>
          </a:prstGeom>
          <a:noFill/>
        </p:spPr>
        <p:txBody>
          <a:bodyPr wrap="square" lIns="0" rIns="0" tIns="0" bIns="0">
            <a:spAutoFit/>
          </a:bodyPr>
          <a:lstStyle/>
          <a:p>
            <a:pPr algn="l"/>
            <a:r>
              <a:rPr sz="1000" b="0" i="0">
                <a:solidFill>
                  <a:srgbClr val="000000"/>
                </a:solidFill>
                <a:latin typeface="Times New Roman"/>
              </a:rPr>
              <a:t>Our code — fixed rules, seeded</a:t>
            </a:r>
          </a:p>
        </p:txBody>
      </p:sp>
      <p:sp>
        <p:nvSpPr>
          <p:cNvPr id="157" name="Rounded Rectangle 156"/>
          <p:cNvSpPr/>
          <p:nvPr/>
        </p:nvSpPr>
        <p:spPr>
          <a:xfrm>
            <a:off x="3977639" y="4956048"/>
            <a:ext cx="201168" cy="146304"/>
          </a:xfrm>
          <a:prstGeom prst="roundRect">
            <a:avLst/>
          </a:prstGeom>
          <a:solidFill>
            <a:srgbClr val="DC59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58" name="TextBox 157"/>
          <p:cNvSpPr txBox="1"/>
          <p:nvPr/>
        </p:nvSpPr>
        <p:spPr>
          <a:xfrm>
            <a:off x="4251960" y="4928616"/>
            <a:ext cx="3840480" cy="228600"/>
          </a:xfrm>
          <a:prstGeom prst="rect">
            <a:avLst/>
          </a:prstGeom>
          <a:noFill/>
        </p:spPr>
        <p:txBody>
          <a:bodyPr wrap="square" lIns="0" rIns="0" tIns="0" bIns="0">
            <a:spAutoFit/>
          </a:bodyPr>
          <a:lstStyle/>
          <a:p>
            <a:pPr algn="l"/>
            <a:r>
              <a:rPr sz="1000" b="0" i="0">
                <a:solidFill>
                  <a:srgbClr val="000000"/>
                </a:solidFill>
                <a:latin typeface="Times New Roman"/>
              </a:rPr>
              <a:t>Language model — reads, drafts, narrates</a:t>
            </a:r>
          </a:p>
        </p:txBody>
      </p:sp>
      <p:sp>
        <p:nvSpPr>
          <p:cNvPr id="159" name="TextBox 158"/>
          <p:cNvSpPr txBox="1"/>
          <p:nvPr/>
        </p:nvSpPr>
        <p:spPr>
          <a:xfrm>
            <a:off x="502920" y="5285232"/>
            <a:ext cx="8138160" cy="822960"/>
          </a:xfrm>
          <a:prstGeom prst="rect">
            <a:avLst/>
          </a:prstGeom>
          <a:noFill/>
        </p:spPr>
        <p:txBody>
          <a:bodyPr wrap="square" lIns="0" rIns="0" tIns="0" bIns="0">
            <a:spAutoFit/>
          </a:bodyPr>
          <a:lstStyle/>
          <a:p>
            <a:pPr algn="l"/>
            <a:r>
              <a:rPr sz="1100" b="0" i="1">
                <a:solidFill>
                  <a:srgbClr val="333333"/>
                </a:solidFill>
                <a:latin typeface="Times New Roman"/>
              </a:rPr>
              <a:t>The model also turns a chat edit into a strict instruction, and one day is rebuilt while the others stay untouched. Anything it drafts is labelled on screen until a source confirms it; anything it narrates is checked against its source, and a message it cannot read becomes one question, not a guess.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04b-form-step1.png"/>
          <p:cNvPicPr>
            <a:picLocks noChangeAspect="1"/>
          </p:cNvPicPr>
          <p:nvPr/>
        </p:nvPicPr>
        <p:blipFill>
          <a:blip r:embed="rId3"/>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The form, filled by the model from one pasted sentence; the traveller checks it.</a:t>
            </a:r>
          </a:p>
        </p:txBody>
      </p:sp>
      <p:pic>
        <p:nvPicPr>
          <p:cNvPr id="160" name="Picture 159" descr="07b-building.png"/>
          <p:cNvPicPr>
            <a:picLocks noChangeAspect="1"/>
          </p:cNvPicPr>
          <p:nvPr/>
        </p:nvPicPr>
        <p:blipFill>
          <a:blip r:embed="rId4"/>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Build trace from PlanMetrics: 27 of 135 candidates, 34.98 → 30.9 km, 37/37 checks.</a:t>
            </a:r>
          </a:p>
        </p:txBody>
      </p:sp>
      <p:pic>
        <p:nvPicPr>
          <p:cNvPr id="162" name="Picture 161" descr="09b-plan-routed.png"/>
          <p:cNvPicPr>
            <a:picLocks noChangeAspect="1"/>
          </p:cNvPicPr>
          <p:nvPr/>
        </p:nvPicPr>
        <p:blipFill>
          <a:blip r:embed="rId5"/>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Plan page: “In a few words”, written by the model and checked; the getting-around line.</a:t>
            </a:r>
          </a:p>
        </p:txBody>
      </p:sp>
      <p:pic>
        <p:nvPicPr>
          <p:cNvPr id="164" name="Picture 163" descr="10b-plan-day2-listed.png"/>
          <p:cNvPicPr>
            <a:picLocks noChangeAspect="1"/>
          </p:cNvPicPr>
          <p:nvPr/>
        </p:nvPicPr>
        <p:blipFill>
          <a:blip r:embed="rId6"/>
          <a:stretch>
            <a:fillRect/>
          </a:stretch>
        </p:blipFill>
        <p:spPr>
          <a:xfrm>
            <a:off x="4572000" y="3675887"/>
            <a:ext cx="3611880" cy="2257425"/>
          </a:xfrm>
          <a:prstGeom prst="rect">
            <a:avLst/>
          </a:prstGeom>
          <a:ln w="9525">
            <a:solidFill>
              <a:srgbClr val="7A7A7A"/>
            </a:solidFill>
          </a:ln>
        </p:spPr>
      </p:pic>
      <p:sp>
        <p:nvSpPr>
          <p:cNvPr id="165" name="TextBox 164"/>
          <p:cNvSpPr txBox="1"/>
          <p:nvPr/>
        </p:nvSpPr>
        <p:spPr>
          <a:xfrm>
            <a:off x="457200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Day 2 as listed, on real tiles: 10.53 km in list order against 6.45 km routed.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g3a64a40ef39_2_37"/>
          <p:cNvSpPr txBox="1">
            <a:spLocks noGrp="1"/>
          </p:cNvSpPr>
          <p:nvPr>
            <p:ph type="title"/>
          </p:nvPr>
        </p:nvSpPr>
        <p:spPr>
          <a:xfrm>
            <a:off x="457200" y="155448"/>
            <a:ext cx="8193024" cy="658368"/>
          </a:xfrm>
          <a:prstGeom prst="rect">
            <a:avLst/>
          </a:prstGeom>
        </p:spPr>
        <p:txBody>
          <a:bodyPr spcFirstLastPara="1" wrap="square" lIns="91425" tIns="45700" rIns="91425" bIns="45700" anchor="t" anchorCtr="0">
            <a:normAutofit/>
          </a:bodyPr>
          <a:lstStyle/>
          <a:p>
            <a:pPr algn="l"/>
            <a:r>
              <a:rPr lang="en-IN" sz="2800" b="1" i="0" dirty="0">
                <a:solidFill>
                  <a:schemeClr val="bg2"/>
                </a:solidFill>
                <a:effectLst/>
                <a:latin typeface="Times New Roman" panose="02020603050405020304" pitchFamily="18" charset="0"/>
                <a:cs typeface="Times New Roman" panose="02020603050405020304" pitchFamily="18" charset="0"/>
              </a:rPr>
              <a:t>Experimental Setup, Results &amp; Analysis</a:t>
            </a:r>
          </a:p>
        </p:txBody>
      </p:sp>
      <p:sp>
        <p:nvSpPr>
          <p:cNvPr id="165" name="Google Shape;165;g3a64a40ef39_2_37"/>
          <p:cNvSpPr txBox="1">
            <a:spLocks noGrp="1"/>
          </p:cNvSpPr>
          <p:nvPr>
            <p:ph type="body" idx="1"/>
          </p:nvPr>
        </p:nvSpPr>
        <p:spPr>
          <a:xfrm>
            <a:off x="457200" y="841248"/>
            <a:ext cx="8193024" cy="777240"/>
          </a:xfrm>
          <a:prstGeom prst="rect">
            <a:avLst/>
          </a:prstGeom>
        </p:spPr>
        <p:txBody>
          <a:bodyPr spcFirstLastPara="1" wrap="square" lIns="91425" tIns="45700" rIns="91425" bIns="45700" anchor="t" anchorCtr="0">
            <a:normAutofit/>
          </a:bodyPr>
          <a:lstStyle/>
          <a:p>
            <a:pPr algn="l">
              <a:spcAft>
                <a:spcPts val="200"/>
              </a:spcAft>
            </a:pPr>
            <a:r>
              <a:rPr lang="en-IN" sz="1250" b="0" i="0" dirty="0">
                <a:solidFill>
                  <a:srgbClr val="000000"/>
                </a:solidFill>
                <a:effectLst/>
                <a:latin typeface="Times New Roman" panose="02020603050405020304" pitchFamily="18" charset="0"/>
                <a:cs typeface="Times New Roman" panose="02020603050405020304" pitchFamily="18" charset="0"/>
              </a:rPr>
              <a:t>Setup: Python 3.12 and FastAPI against Supabase PostgreSQL 17 with pgvector and pg_trgm; embeddings computed locally with multilingual-e5-small; models through OpenRouter; speech from Sarvam bulbul:v3. Planner and retrieval are measured by their own harnesses, offline where they can be, so the numbers are reproducible.</a:t>
            </a:r>
            <a:endParaRPr lang="en-IN" sz="2400" b="0" i="0" dirty="0">
              <a:solidFill>
                <a:srgbClr val="000000"/>
              </a:solidFill>
              <a:effectLst/>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A4487834-DEF6-FACB-92D2-96A8CFCC7AE5}"/>
              </a:ext>
            </a:extLst>
          </p:cNvPr>
          <p:cNvSpPr>
            <a:spLocks noGrp="1"/>
          </p:cNvSpPr>
          <p:nvPr>
            <p:ph type="ftr" idx="11"/>
          </p:nvPr>
        </p:nvSpPr>
        <p:spPr>
          <a:xfrm>
            <a:off x="457200" y="6492875"/>
            <a:ext cx="8037576"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09715EE9-9EC8-D6D1-7398-7FB1E6CB3F5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9</a:t>
            </a:fld>
            <a:endParaRPr lang="en-IN"/>
          </a:p>
        </p:txBody>
      </p:sp>
      <p:sp>
        <p:nvSpPr>
          <p:cNvPr id="166" name="TextBox 165"/>
          <p:cNvSpPr txBox="1"/>
          <p:nvPr/>
        </p:nvSpPr>
        <p:spPr>
          <a:xfrm>
            <a:off x="502920" y="1664208"/>
            <a:ext cx="3840480" cy="228600"/>
          </a:xfrm>
          <a:prstGeom prst="rect">
            <a:avLst/>
          </a:prstGeom>
          <a:noFill/>
        </p:spPr>
        <p:txBody>
          <a:bodyPr wrap="square" lIns="0" rIns="0" tIns="0" bIns="0">
            <a:spAutoFit/>
          </a:bodyPr>
          <a:lstStyle/>
          <a:p>
            <a:pPr algn="l"/>
            <a:r>
              <a:rPr sz="1150" b="1" i="0">
                <a:solidFill>
                  <a:srgbClr val="000000"/>
                </a:solidFill>
                <a:latin typeface="Times New Roman"/>
              </a:rPr>
              <a:t>Data the system was built on</a:t>
            </a:r>
          </a:p>
        </p:txBody>
      </p:sp>
      <p:graphicFrame>
        <p:nvGraphicFramePr>
          <p:cNvPr id="167" name="Table 166"/>
          <p:cNvGraphicFramePr>
            <a:graphicFrameLocks noGrp="1"/>
          </p:cNvGraphicFramePr>
          <p:nvPr/>
        </p:nvGraphicFramePr>
        <p:xfrm>
          <a:off x="502920" y="1920240"/>
          <a:ext cx="3794760" cy="1664208"/>
        </p:xfrm>
        <a:graphic>
          <a:graphicData uri="http://schemas.openxmlformats.org/drawingml/2006/table">
            <a:tbl>
              <a:tblPr firstRow="1" bandRow="1">
                <a:tableStyleId>{5C22544A-7EE6-4342-B048-85BDC9FD1C3A}</a:tableStyleId>
              </a:tblPr>
              <a:tblGrid>
                <a:gridCol w="2788920"/>
                <a:gridCol w="1005840"/>
              </a:tblGrid>
              <a:tr h="237744">
                <a:tc>
                  <a:txBody>
                    <a:bodyPr/>
                    <a:lstStyle/>
                    <a:p>
                      <a:pPr algn="l"/>
                      <a:r>
                        <a:rPr sz="1000" b="1">
                          <a:latin typeface="Times New Roman"/>
                        </a:rPr>
                        <a:t>Dataset</a:t>
                      </a:r>
                    </a:p>
                  </a:txBody>
                  <a:tcPr marL="54000" marR="36000" marT="9000" marB="9000" anchor="ctr"/>
                </a:tc>
                <a:tc>
                  <a:txBody>
                    <a:bodyPr/>
                    <a:lstStyle/>
                    <a:p>
                      <a:pPr algn="ctr"/>
                      <a:r>
                        <a:rPr sz="1000" b="1">
                          <a:latin typeface="Times New Roman"/>
                        </a:rPr>
                        <a:t>Count</a:t>
                      </a:r>
                    </a:p>
                  </a:txBody>
                  <a:tcPr marL="54000" marR="36000" marT="9000" marB="9000" anchor="ctr"/>
                </a:tc>
              </a:tr>
              <a:tr h="237744">
                <a:tc>
                  <a:txBody>
                    <a:bodyPr/>
                    <a:lstStyle/>
                    <a:p>
                      <a:pPr algn="l"/>
                      <a:r>
                        <a:rPr sz="1000" b="0">
                          <a:latin typeface="Times New Roman"/>
                        </a:rPr>
                        <a:t>Places in the table</a:t>
                      </a:r>
                    </a:p>
                  </a:txBody>
                  <a:tcPr marL="54000" marR="36000" marT="9000" marB="9000" anchor="ctr"/>
                </a:tc>
                <a:tc>
                  <a:txBody>
                    <a:bodyPr/>
                    <a:lstStyle/>
                    <a:p>
                      <a:pPr algn="ctr"/>
                      <a:r>
                        <a:rPr sz="1000" b="0">
                          <a:latin typeface="Times New Roman"/>
                        </a:rPr>
                        <a:t>135</a:t>
                      </a:r>
                    </a:p>
                  </a:txBody>
                  <a:tcPr marL="54000" marR="36000" marT="9000" marB="9000" anchor="ctr"/>
                </a:tc>
              </a:tr>
              <a:tr h="237744">
                <a:tc>
                  <a:txBody>
                    <a:bodyPr/>
                    <a:lstStyle/>
                    <a:p>
                      <a:pPr algn="l"/>
                      <a:r>
                        <a:rPr sz="1000" b="0">
                          <a:latin typeface="Times New Roman"/>
                        </a:rPr>
                        <a:t>Verified against a live source</a:t>
                      </a:r>
                    </a:p>
                  </a:txBody>
                  <a:tcPr marL="54000" marR="36000" marT="9000" marB="9000" anchor="ctr"/>
                </a:tc>
                <a:tc>
                  <a:txBody>
                    <a:bodyPr/>
                    <a:lstStyle/>
                    <a:p>
                      <a:pPr algn="ctr"/>
                      <a:r>
                        <a:rPr sz="1000" b="0">
                          <a:latin typeface="Times New Roman"/>
                        </a:rPr>
                        <a:t>20</a:t>
                      </a:r>
                    </a:p>
                  </a:txBody>
                  <a:tcPr marL="54000" marR="36000" marT="9000" marB="9000" anchor="ctr"/>
                </a:tc>
              </a:tr>
              <a:tr h="237744">
                <a:tc>
                  <a:txBody>
                    <a:bodyPr/>
                    <a:lstStyle/>
                    <a:p>
                      <a:pPr algn="l"/>
                      <a:r>
                        <a:rPr sz="1000" b="0">
                          <a:latin typeface="Times New Roman"/>
                        </a:rPr>
                        <a:t>Of those, corrected by verification</a:t>
                      </a:r>
                    </a:p>
                  </a:txBody>
                  <a:tcPr marL="54000" marR="36000" marT="9000" marB="9000" anchor="ctr"/>
                </a:tc>
                <a:tc>
                  <a:txBody>
                    <a:bodyPr/>
                    <a:lstStyle/>
                    <a:p>
                      <a:pPr algn="ctr"/>
                      <a:r>
                        <a:rPr sz="1000" b="0">
                          <a:latin typeface="Times New Roman"/>
                        </a:rPr>
                        <a:t>16</a:t>
                      </a:r>
                    </a:p>
                  </a:txBody>
                  <a:tcPr marL="54000" marR="36000" marT="9000" marB="9000" anchor="ctr"/>
                </a:tc>
              </a:tr>
              <a:tr h="237744">
                <a:tc>
                  <a:txBody>
                    <a:bodyPr/>
                    <a:lstStyle/>
                    <a:p>
                      <a:pPr algn="l"/>
                      <a:r>
                        <a:rPr sz="1000" b="0">
                          <a:latin typeface="Times New Roman"/>
                        </a:rPr>
                        <a:t>Drafted by the model, unverified</a:t>
                      </a:r>
                    </a:p>
                  </a:txBody>
                  <a:tcPr marL="54000" marR="36000" marT="9000" marB="9000" anchor="ctr"/>
                </a:tc>
                <a:tc>
                  <a:txBody>
                    <a:bodyPr/>
                    <a:lstStyle/>
                    <a:p>
                      <a:pPr algn="ctr"/>
                      <a:r>
                        <a:rPr sz="1000" b="0">
                          <a:latin typeface="Times New Roman"/>
                        </a:rPr>
                        <a:t>23</a:t>
                      </a:r>
                    </a:p>
                  </a:txBody>
                  <a:tcPr marL="54000" marR="36000" marT="9000" marB="9000" anchor="ctr"/>
                </a:tc>
              </a:tr>
              <a:tr h="237744">
                <a:tc>
                  <a:txBody>
                    <a:bodyPr/>
                    <a:lstStyle/>
                    <a:p>
                      <a:pPr algn="l"/>
                      <a:r>
                        <a:rPr sz="1000" b="0">
                          <a:latin typeface="Times New Roman"/>
                        </a:rPr>
                        <a:t>Live corpus paragraphs</a:t>
                      </a:r>
                    </a:p>
                  </a:txBody>
                  <a:tcPr marL="54000" marR="36000" marT="9000" marB="9000" anchor="ctr"/>
                </a:tc>
                <a:tc>
                  <a:txBody>
                    <a:bodyPr/>
                    <a:lstStyle/>
                    <a:p>
                      <a:pPr algn="ctr"/>
                      <a:r>
                        <a:rPr sz="1000" b="0">
                          <a:latin typeface="Times New Roman"/>
                        </a:rPr>
                        <a:t>300</a:t>
                      </a:r>
                    </a:p>
                  </a:txBody>
                  <a:tcPr marL="54000" marR="36000" marT="9000" marB="9000" anchor="ctr"/>
                </a:tc>
              </a:tr>
              <a:tr h="237744">
                <a:tc>
                  <a:txBody>
                    <a:bodyPr/>
                    <a:lstStyle/>
                    <a:p>
                      <a:pPr algn="l"/>
                      <a:r>
                        <a:rPr sz="1000" b="0">
                          <a:latin typeface="Times New Roman"/>
                        </a:rPr>
                        <a:t>Of which the city portrait layer</a:t>
                      </a:r>
                    </a:p>
                  </a:txBody>
                  <a:tcPr marL="54000" marR="36000" marT="9000" marB="9000" anchor="ctr"/>
                </a:tc>
                <a:tc>
                  <a:txBody>
                    <a:bodyPr/>
                    <a:lstStyle/>
                    <a:p>
                      <a:pPr algn="ctr"/>
                      <a:r>
                        <a:rPr sz="1000" b="0">
                          <a:latin typeface="Times New Roman"/>
                        </a:rPr>
                        <a:t>82</a:t>
                      </a:r>
                    </a:p>
                  </a:txBody>
                  <a:tcPr marL="54000" marR="36000" marT="9000" marB="9000" anchor="ctr"/>
                </a:tc>
              </a:tr>
            </a:tbl>
          </a:graphicData>
        </a:graphic>
      </p:graphicFrame>
      <p:sp>
        <p:nvSpPr>
          <p:cNvPr id="168" name="TextBox 167"/>
          <p:cNvSpPr txBox="1"/>
          <p:nvPr/>
        </p:nvSpPr>
        <p:spPr>
          <a:xfrm>
            <a:off x="502920" y="3584448"/>
            <a:ext cx="3794760" cy="566928"/>
          </a:xfrm>
          <a:prstGeom prst="rect">
            <a:avLst/>
          </a:prstGeom>
          <a:noFill/>
        </p:spPr>
        <p:txBody>
          <a:bodyPr wrap="square" lIns="0" rIns="0" tIns="0" bIns="0">
            <a:spAutoFit/>
          </a:bodyPr>
          <a:lstStyle/>
          <a:p>
            <a:pPr algn="l"/>
            <a:r>
              <a:rPr sz="950" b="0" i="1">
                <a:solidFill>
                  <a:srgbClr val="333333"/>
                </a:solidFill>
                <a:latin typeface="Times New Roman"/>
              </a:rPr>
              <a:t>16 of the 20 verified entries were wrong before we checked them. That ratio is the argument for verifying rather than trusting, and for labelling what is not yet verified.</a:t>
            </a:r>
          </a:p>
        </p:txBody>
      </p:sp>
      <p:sp>
        <p:nvSpPr>
          <p:cNvPr id="169" name="TextBox 168"/>
          <p:cNvSpPr txBox="1"/>
          <p:nvPr/>
        </p:nvSpPr>
        <p:spPr>
          <a:xfrm>
            <a:off x="502920" y="4224528"/>
            <a:ext cx="3794760" cy="228600"/>
          </a:xfrm>
          <a:prstGeom prst="rect">
            <a:avLst/>
          </a:prstGeom>
          <a:noFill/>
        </p:spPr>
        <p:txBody>
          <a:bodyPr wrap="square" lIns="0" rIns="0" tIns="0" bIns="0">
            <a:spAutoFit/>
          </a:bodyPr>
          <a:lstStyle/>
          <a:p>
            <a:pPr algn="l"/>
            <a:r>
              <a:rPr sz="1150" b="1" i="0">
                <a:solidFill>
                  <a:srgbClr val="000000"/>
                </a:solidFill>
                <a:latin typeface="Times New Roman"/>
              </a:rPr>
              <a:t>Module-wise status</a:t>
            </a:r>
          </a:p>
        </p:txBody>
      </p:sp>
      <p:graphicFrame>
        <p:nvGraphicFramePr>
          <p:cNvPr id="170" name="Table 169"/>
          <p:cNvGraphicFramePr>
            <a:graphicFrameLocks noGrp="1"/>
          </p:cNvGraphicFramePr>
          <p:nvPr/>
        </p:nvGraphicFramePr>
        <p:xfrm>
          <a:off x="502920" y="4480560"/>
          <a:ext cx="3794760" cy="1664208"/>
        </p:xfrm>
        <a:graphic>
          <a:graphicData uri="http://schemas.openxmlformats.org/drawingml/2006/table">
            <a:tbl>
              <a:tblPr firstRow="1" bandRow="1">
                <a:tableStyleId>{5C22544A-7EE6-4342-B048-85BDC9FD1C3A}</a:tableStyleId>
              </a:tblPr>
              <a:tblGrid>
                <a:gridCol w="2880360"/>
                <a:gridCol w="914400"/>
              </a:tblGrid>
              <a:tr h="237744">
                <a:tc>
                  <a:txBody>
                    <a:bodyPr/>
                    <a:lstStyle/>
                    <a:p>
                      <a:pPr algn="l"/>
                      <a:r>
                        <a:rPr sz="950" b="1">
                          <a:latin typeface="Times New Roman"/>
                        </a:rPr>
                        <a:t>Module</a:t>
                      </a:r>
                    </a:p>
                  </a:txBody>
                  <a:tcPr marL="54000" marR="36000" marT="9000" marB="9000" anchor="ctr"/>
                </a:tc>
                <a:tc>
                  <a:txBody>
                    <a:bodyPr/>
                    <a:lstStyle/>
                    <a:p>
                      <a:pPr algn="ctr"/>
                      <a:r>
                        <a:rPr sz="950" b="1">
                          <a:latin typeface="Times New Roman"/>
                        </a:rPr>
                        <a:t>State</a:t>
                      </a:r>
                    </a:p>
                  </a:txBody>
                  <a:tcPr marL="54000" marR="36000" marT="9000" marB="9000" anchor="ctr"/>
                </a:tc>
              </a:tr>
              <a:tr h="237744">
                <a:tc>
                  <a:txBody>
                    <a:bodyPr/>
                    <a:lstStyle/>
                    <a:p>
                      <a:pPr algn="l"/>
                      <a:r>
                        <a:rPr sz="950" b="0">
                          <a:latin typeface="Times New Roman"/>
                        </a:rPr>
                        <a:t>Intake parser and cold start</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Planner (cluster, route, validate, repair)</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Retrieval; city, place and day Kathas</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Narration with fact-check</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Speech (Sarvam, cached)</a:t>
                      </a:r>
                    </a:p>
                  </a:txBody>
                  <a:tcPr marL="54000" marR="36000" marT="9000" marB="9000" anchor="ctr"/>
                </a:tc>
                <a:tc>
                  <a:txBody>
                    <a:bodyPr/>
                    <a:lstStyle/>
                    <a:p>
                      <a:pPr algn="ctr"/>
                      <a:r>
                        <a:rPr sz="950" b="0">
                          <a:latin typeface="Times New Roman"/>
                        </a:rPr>
                        <a:t>Working</a:t>
                      </a:r>
                    </a:p>
                  </a:txBody>
                  <a:tcPr marL="54000" marR="36000" marT="9000" marB="9000" anchor="ctr"/>
                </a:tc>
              </a:tr>
              <a:tr h="237744">
                <a:tc>
                  <a:txBody>
                    <a:bodyPr/>
                    <a:lstStyle/>
                    <a:p>
                      <a:pPr algn="l"/>
                      <a:r>
                        <a:rPr sz="950" b="0">
                          <a:latin typeface="Times New Roman"/>
                        </a:rPr>
                        <a:t>Web application, maps and chat</a:t>
                      </a:r>
                    </a:p>
                  </a:txBody>
                  <a:tcPr marL="54000" marR="36000" marT="9000" marB="9000" anchor="ctr"/>
                </a:tc>
                <a:tc>
                  <a:txBody>
                    <a:bodyPr/>
                    <a:lstStyle/>
                    <a:p>
                      <a:pPr algn="ctr"/>
                      <a:r>
                        <a:rPr sz="950" b="0">
                          <a:latin typeface="Times New Roman"/>
                        </a:rPr>
                        <a:t>Working</a:t>
                      </a:r>
                    </a:p>
                  </a:txBody>
                  <a:tcPr marL="54000" marR="36000" marT="9000" marB="9000" anchor="ctr"/>
                </a:tc>
              </a:tr>
            </a:tbl>
          </a:graphicData>
        </a:graphic>
      </p:graphicFrame>
      <p:sp>
        <p:nvSpPr>
          <p:cNvPr id="171" name="TextBox 170"/>
          <p:cNvSpPr txBox="1"/>
          <p:nvPr/>
        </p:nvSpPr>
        <p:spPr>
          <a:xfrm>
            <a:off x="4663440" y="1664208"/>
            <a:ext cx="3977639" cy="228600"/>
          </a:xfrm>
          <a:prstGeom prst="rect">
            <a:avLst/>
          </a:prstGeom>
          <a:noFill/>
        </p:spPr>
        <p:txBody>
          <a:bodyPr wrap="square" lIns="0" rIns="0" tIns="0" bIns="0">
            <a:spAutoFit/>
          </a:bodyPr>
          <a:lstStyle/>
          <a:p>
            <a:pPr algn="l"/>
            <a:r>
              <a:rPr sz="1150" b="1" i="0">
                <a:solidFill>
                  <a:srgbClr val="000000"/>
                </a:solidFill>
                <a:latin typeface="Times New Roman"/>
              </a:rPr>
              <a:t>Planner, on the seeded demonstration trip</a:t>
            </a:r>
          </a:p>
        </p:txBody>
      </p:sp>
      <p:sp>
        <p:nvSpPr>
          <p:cNvPr id="172" name="Rectangle 171"/>
          <p:cNvSpPr/>
          <p:nvPr/>
        </p:nvSpPr>
        <p:spPr>
          <a:xfrm>
            <a:off x="5897880" y="2139696"/>
            <a:ext cx="2331720" cy="256032"/>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3" name="TextBox 172"/>
          <p:cNvSpPr txBox="1"/>
          <p:nvPr/>
        </p:nvSpPr>
        <p:spPr>
          <a:xfrm>
            <a:off x="4663440" y="2167127"/>
            <a:ext cx="1188720" cy="228600"/>
          </a:xfrm>
          <a:prstGeom prst="rect">
            <a:avLst/>
          </a:prstGeom>
          <a:noFill/>
        </p:spPr>
        <p:txBody>
          <a:bodyPr wrap="square" lIns="0" rIns="0" tIns="0" bIns="0">
            <a:spAutoFit/>
          </a:bodyPr>
          <a:lstStyle/>
          <a:p>
            <a:pPr algn="r"/>
            <a:r>
              <a:rPr sz="950" b="0" i="0">
                <a:solidFill>
                  <a:srgbClr val="000000"/>
                </a:solidFill>
                <a:latin typeface="Times New Roman"/>
              </a:rPr>
              <a:t>Whole trip, as listed</a:t>
            </a:r>
          </a:p>
        </p:txBody>
      </p:sp>
      <p:sp>
        <p:nvSpPr>
          <p:cNvPr id="174" name="TextBox 173"/>
          <p:cNvSpPr txBox="1"/>
          <p:nvPr/>
        </p:nvSpPr>
        <p:spPr>
          <a:xfrm>
            <a:off x="8275320" y="2157984"/>
            <a:ext cx="960120" cy="228600"/>
          </a:xfrm>
          <a:prstGeom prst="rect">
            <a:avLst/>
          </a:prstGeom>
          <a:noFill/>
        </p:spPr>
        <p:txBody>
          <a:bodyPr wrap="square" lIns="0" rIns="0" tIns="0" bIns="0">
            <a:spAutoFit/>
          </a:bodyPr>
          <a:lstStyle/>
          <a:p>
            <a:pPr algn="l"/>
            <a:r>
              <a:rPr sz="950" b="1" i="0">
                <a:solidFill>
                  <a:srgbClr val="000000"/>
                </a:solidFill>
                <a:latin typeface="Times New Roman"/>
              </a:rPr>
              <a:t>34.98 km</a:t>
            </a:r>
          </a:p>
        </p:txBody>
      </p:sp>
      <p:sp>
        <p:nvSpPr>
          <p:cNvPr id="175" name="Rectangle 174"/>
          <p:cNvSpPr/>
          <p:nvPr/>
        </p:nvSpPr>
        <p:spPr>
          <a:xfrm>
            <a:off x="5897880" y="2468880"/>
            <a:ext cx="2059752" cy="256032"/>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6" name="TextBox 175"/>
          <p:cNvSpPr txBox="1"/>
          <p:nvPr/>
        </p:nvSpPr>
        <p:spPr>
          <a:xfrm>
            <a:off x="4663440" y="2496312"/>
            <a:ext cx="1188720" cy="228600"/>
          </a:xfrm>
          <a:prstGeom prst="rect">
            <a:avLst/>
          </a:prstGeom>
          <a:noFill/>
        </p:spPr>
        <p:txBody>
          <a:bodyPr wrap="square" lIns="0" rIns="0" tIns="0" bIns="0">
            <a:spAutoFit/>
          </a:bodyPr>
          <a:lstStyle/>
          <a:p>
            <a:pPr algn="r"/>
            <a:r>
              <a:rPr sz="950" b="0" i="0">
                <a:solidFill>
                  <a:srgbClr val="000000"/>
                </a:solidFill>
                <a:latin typeface="Times New Roman"/>
              </a:rPr>
              <a:t>Whole trip, as routed</a:t>
            </a:r>
          </a:p>
        </p:txBody>
      </p:sp>
      <p:sp>
        <p:nvSpPr>
          <p:cNvPr id="177" name="TextBox 176"/>
          <p:cNvSpPr txBox="1"/>
          <p:nvPr/>
        </p:nvSpPr>
        <p:spPr>
          <a:xfrm>
            <a:off x="8003352" y="2487168"/>
            <a:ext cx="960120" cy="228600"/>
          </a:xfrm>
          <a:prstGeom prst="rect">
            <a:avLst/>
          </a:prstGeom>
          <a:noFill/>
        </p:spPr>
        <p:txBody>
          <a:bodyPr wrap="square" lIns="0" rIns="0" tIns="0" bIns="0">
            <a:spAutoFit/>
          </a:bodyPr>
          <a:lstStyle/>
          <a:p>
            <a:pPr algn="l"/>
            <a:r>
              <a:rPr sz="950" b="1" i="0">
                <a:solidFill>
                  <a:srgbClr val="000000"/>
                </a:solidFill>
                <a:latin typeface="Times New Roman"/>
              </a:rPr>
              <a:t>30.9 km</a:t>
            </a:r>
          </a:p>
        </p:txBody>
      </p:sp>
      <p:sp>
        <p:nvSpPr>
          <p:cNvPr id="178" name="Rectangle 177"/>
          <p:cNvSpPr/>
          <p:nvPr/>
        </p:nvSpPr>
        <p:spPr>
          <a:xfrm>
            <a:off x="5897880" y="2889504"/>
            <a:ext cx="701915" cy="256032"/>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79" name="TextBox 178"/>
          <p:cNvSpPr txBox="1"/>
          <p:nvPr/>
        </p:nvSpPr>
        <p:spPr>
          <a:xfrm>
            <a:off x="4663440" y="2916936"/>
            <a:ext cx="1188720" cy="228600"/>
          </a:xfrm>
          <a:prstGeom prst="rect">
            <a:avLst/>
          </a:prstGeom>
          <a:noFill/>
        </p:spPr>
        <p:txBody>
          <a:bodyPr wrap="square" lIns="0" rIns="0" tIns="0" bIns="0">
            <a:spAutoFit/>
          </a:bodyPr>
          <a:lstStyle/>
          <a:p>
            <a:pPr algn="r"/>
            <a:r>
              <a:rPr sz="950" b="0" i="0">
                <a:solidFill>
                  <a:srgbClr val="000000"/>
                </a:solidFill>
                <a:latin typeface="Times New Roman"/>
              </a:rPr>
              <a:t>Day 2, as listed</a:t>
            </a:r>
          </a:p>
        </p:txBody>
      </p:sp>
      <p:sp>
        <p:nvSpPr>
          <p:cNvPr id="180" name="TextBox 179"/>
          <p:cNvSpPr txBox="1"/>
          <p:nvPr/>
        </p:nvSpPr>
        <p:spPr>
          <a:xfrm>
            <a:off x="6645515" y="2907792"/>
            <a:ext cx="960120" cy="228600"/>
          </a:xfrm>
          <a:prstGeom prst="rect">
            <a:avLst/>
          </a:prstGeom>
          <a:noFill/>
        </p:spPr>
        <p:txBody>
          <a:bodyPr wrap="square" lIns="0" rIns="0" tIns="0" bIns="0">
            <a:spAutoFit/>
          </a:bodyPr>
          <a:lstStyle/>
          <a:p>
            <a:pPr algn="l"/>
            <a:r>
              <a:rPr sz="950" b="1" i="0">
                <a:solidFill>
                  <a:srgbClr val="000000"/>
                </a:solidFill>
                <a:latin typeface="Times New Roman"/>
              </a:rPr>
              <a:t>10.53 km</a:t>
            </a:r>
          </a:p>
        </p:txBody>
      </p:sp>
      <p:sp>
        <p:nvSpPr>
          <p:cNvPr id="181" name="Rectangle 180"/>
          <p:cNvSpPr/>
          <p:nvPr/>
        </p:nvSpPr>
        <p:spPr>
          <a:xfrm>
            <a:off x="5897880" y="3218688"/>
            <a:ext cx="429948" cy="256032"/>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82" name="TextBox 181"/>
          <p:cNvSpPr txBox="1"/>
          <p:nvPr/>
        </p:nvSpPr>
        <p:spPr>
          <a:xfrm>
            <a:off x="4663440" y="3246120"/>
            <a:ext cx="1188720" cy="228600"/>
          </a:xfrm>
          <a:prstGeom prst="rect">
            <a:avLst/>
          </a:prstGeom>
          <a:noFill/>
        </p:spPr>
        <p:txBody>
          <a:bodyPr wrap="square" lIns="0" rIns="0" tIns="0" bIns="0">
            <a:spAutoFit/>
          </a:bodyPr>
          <a:lstStyle/>
          <a:p>
            <a:pPr algn="r"/>
            <a:r>
              <a:rPr sz="950" b="0" i="0">
                <a:solidFill>
                  <a:srgbClr val="000000"/>
                </a:solidFill>
                <a:latin typeface="Times New Roman"/>
              </a:rPr>
              <a:t>Day 2, as routed</a:t>
            </a:r>
          </a:p>
        </p:txBody>
      </p:sp>
      <p:sp>
        <p:nvSpPr>
          <p:cNvPr id="183" name="TextBox 182"/>
          <p:cNvSpPr txBox="1"/>
          <p:nvPr/>
        </p:nvSpPr>
        <p:spPr>
          <a:xfrm>
            <a:off x="6373548" y="3236976"/>
            <a:ext cx="960120" cy="228600"/>
          </a:xfrm>
          <a:prstGeom prst="rect">
            <a:avLst/>
          </a:prstGeom>
          <a:noFill/>
        </p:spPr>
        <p:txBody>
          <a:bodyPr wrap="square" lIns="0" rIns="0" tIns="0" bIns="0">
            <a:spAutoFit/>
          </a:bodyPr>
          <a:lstStyle/>
          <a:p>
            <a:pPr algn="l"/>
            <a:r>
              <a:rPr sz="950" b="1" i="0">
                <a:solidFill>
                  <a:srgbClr val="000000"/>
                </a:solidFill>
                <a:latin typeface="Times New Roman"/>
              </a:rPr>
              <a:t>6.45 km</a:t>
            </a:r>
          </a:p>
        </p:txBody>
      </p:sp>
      <p:sp>
        <p:nvSpPr>
          <p:cNvPr id="184" name="TextBox 183"/>
          <p:cNvSpPr txBox="1"/>
          <p:nvPr/>
        </p:nvSpPr>
        <p:spPr>
          <a:xfrm>
            <a:off x="4663440" y="3529584"/>
            <a:ext cx="3977639" cy="201168"/>
          </a:xfrm>
          <a:prstGeom prst="rect">
            <a:avLst/>
          </a:prstGeom>
          <a:noFill/>
        </p:spPr>
        <p:txBody>
          <a:bodyPr wrap="square" lIns="0" rIns="0" tIns="0" bIns="0">
            <a:spAutoFit/>
          </a:bodyPr>
          <a:lstStyle/>
          <a:p>
            <a:pPr algn="l"/>
            <a:r>
              <a:rPr sz="850" b="0" i="1">
                <a:solidFill>
                  <a:srgbClr val="7A7A7A"/>
                </a:solidFill>
                <a:latin typeface="Times New Roman"/>
              </a:rPr>
              <a:t>Same scale for all four bars.</a:t>
            </a:r>
          </a:p>
        </p:txBody>
      </p:sp>
      <p:graphicFrame>
        <p:nvGraphicFramePr>
          <p:cNvPr id="185" name="Table 184"/>
          <p:cNvGraphicFramePr>
            <a:graphicFrameLocks noGrp="1"/>
          </p:cNvGraphicFramePr>
          <p:nvPr/>
        </p:nvGraphicFramePr>
        <p:xfrm>
          <a:off x="4663440" y="3822191"/>
          <a:ext cx="3977640" cy="1188720"/>
        </p:xfrm>
        <a:graphic>
          <a:graphicData uri="http://schemas.openxmlformats.org/drawingml/2006/table">
            <a:tbl>
              <a:tblPr firstRow="1" bandRow="1">
                <a:tableStyleId>{5C22544A-7EE6-4342-B048-85BDC9FD1C3A}</a:tableStyleId>
              </a:tblPr>
              <a:tblGrid>
                <a:gridCol w="2880360"/>
                <a:gridCol w="1097280"/>
              </a:tblGrid>
              <a:tr h="237744">
                <a:tc>
                  <a:txBody>
                    <a:bodyPr/>
                    <a:lstStyle/>
                    <a:p>
                      <a:pPr algn="l"/>
                      <a:r>
                        <a:rPr sz="1000" b="1">
                          <a:latin typeface="Times New Roman"/>
                        </a:rPr>
                        <a:t>Planner measure</a:t>
                      </a:r>
                    </a:p>
                  </a:txBody>
                  <a:tcPr marL="54000" marR="36000" marT="9000" marB="9000" anchor="ctr"/>
                </a:tc>
                <a:tc>
                  <a:txBody>
                    <a:bodyPr/>
                    <a:lstStyle/>
                    <a:p>
                      <a:pPr algn="ctr"/>
                      <a:r>
                        <a:rPr sz="1000" b="1">
                          <a:latin typeface="Times New Roman"/>
                        </a:rPr>
                        <a:t>Result</a:t>
                      </a:r>
                    </a:p>
                  </a:txBody>
                  <a:tcPr marL="54000" marR="36000" marT="9000" marB="9000" anchor="ctr"/>
                </a:tc>
              </a:tr>
              <a:tr h="237744">
                <a:tc>
                  <a:txBody>
                    <a:bodyPr/>
                    <a:lstStyle/>
                    <a:p>
                      <a:pPr algn="l"/>
                      <a:r>
                        <a:rPr sz="1000" b="0">
                          <a:latin typeface="Times New Roman"/>
                        </a:rPr>
                        <a:t>Constraint checks passed</a:t>
                      </a:r>
                    </a:p>
                  </a:txBody>
                  <a:tcPr marL="54000" marR="36000" marT="9000" marB="9000" anchor="ctr"/>
                </a:tc>
                <a:tc>
                  <a:txBody>
                    <a:bodyPr/>
                    <a:lstStyle/>
                    <a:p>
                      <a:pPr algn="ctr"/>
                      <a:r>
                        <a:rPr sz="1000" b="0">
                          <a:latin typeface="Times New Roman"/>
                        </a:rPr>
                        <a:t>37 / 37</a:t>
                      </a:r>
                    </a:p>
                  </a:txBody>
                  <a:tcPr marL="54000" marR="36000" marT="9000" marB="9000" anchor="ctr"/>
                </a:tc>
              </a:tr>
              <a:tr h="237744">
                <a:tc>
                  <a:txBody>
                    <a:bodyPr/>
                    <a:lstStyle/>
                    <a:p>
                      <a:pPr algn="l"/>
                      <a:r>
                        <a:rPr sz="1000" b="0">
                          <a:latin typeface="Times New Roman"/>
                        </a:rPr>
                        <a:t>Repairs applied</a:t>
                      </a:r>
                    </a:p>
                  </a:txBody>
                  <a:tcPr marL="54000" marR="36000" marT="9000" marB="9000" anchor="ctr"/>
                </a:tc>
                <a:tc>
                  <a:txBody>
                    <a:bodyPr/>
                    <a:lstStyle/>
                    <a:p>
                      <a:pPr algn="ctr"/>
                      <a:r>
                        <a:rPr sz="1000" b="0">
                          <a:latin typeface="Times New Roman"/>
                        </a:rPr>
                        <a:t>3</a:t>
                      </a:r>
                    </a:p>
                  </a:txBody>
                  <a:tcPr marL="54000" marR="36000" marT="9000" marB="9000" anchor="ctr"/>
                </a:tc>
              </a:tr>
              <a:tr h="237744">
                <a:tc>
                  <a:txBody>
                    <a:bodyPr/>
                    <a:lstStyle/>
                    <a:p>
                      <a:pPr algn="l"/>
                      <a:r>
                        <a:rPr sz="1000" b="0">
                          <a:latin typeface="Times New Roman"/>
                        </a:rPr>
                        <a:t>Candidates considered</a:t>
                      </a:r>
                    </a:p>
                  </a:txBody>
                  <a:tcPr marL="54000" marR="36000" marT="9000" marB="9000" anchor="ctr"/>
                </a:tc>
                <a:tc>
                  <a:txBody>
                    <a:bodyPr/>
                    <a:lstStyle/>
                    <a:p>
                      <a:pPr algn="ctr"/>
                      <a:r>
                        <a:rPr sz="1000" b="0">
                          <a:latin typeface="Times New Roman"/>
                        </a:rPr>
                        <a:t>27 of 135</a:t>
                      </a:r>
                    </a:p>
                  </a:txBody>
                  <a:tcPr marL="54000" marR="36000" marT="9000" marB="9000" anchor="ctr"/>
                </a:tc>
              </a:tr>
              <a:tr h="237744">
                <a:tc>
                  <a:txBody>
                    <a:bodyPr/>
                    <a:lstStyle/>
                    <a:p>
                      <a:pPr algn="l"/>
                      <a:r>
                        <a:rPr sz="1000" b="0">
                          <a:latin typeface="Times New Roman"/>
                        </a:rPr>
                        <a:t>Build time</a:t>
                      </a:r>
                    </a:p>
                  </a:txBody>
                  <a:tcPr marL="54000" marR="36000" marT="9000" marB="9000" anchor="ctr"/>
                </a:tc>
                <a:tc>
                  <a:txBody>
                    <a:bodyPr/>
                    <a:lstStyle/>
                    <a:p>
                      <a:pPr algn="ctr"/>
                      <a:r>
                        <a:rPr sz="1000" b="0">
                          <a:latin typeface="Times New Roman"/>
                        </a:rPr>
                        <a:t>4 ms</a:t>
                      </a:r>
                    </a:p>
                  </a:txBody>
                  <a:tcPr marL="54000" marR="36000" marT="9000" marB="9000" anchor="ctr"/>
                </a:tc>
              </a:tr>
            </a:tbl>
          </a:graphicData>
        </a:graphic>
      </p:graphicFrame>
      <p:sp>
        <p:nvSpPr>
          <p:cNvPr id="186" name="TextBox 185"/>
          <p:cNvSpPr txBox="1"/>
          <p:nvPr/>
        </p:nvSpPr>
        <p:spPr>
          <a:xfrm>
            <a:off x="4663440" y="5193792"/>
            <a:ext cx="3977639" cy="777240"/>
          </a:xfrm>
          <a:prstGeom prst="rect">
            <a:avLst/>
          </a:prstGeom>
          <a:noFill/>
        </p:spPr>
        <p:txBody>
          <a:bodyPr wrap="square" lIns="0" rIns="0" tIns="0" bIns="0">
            <a:spAutoFit/>
          </a:bodyPr>
          <a:lstStyle/>
          <a:p>
            <a:pPr algn="l"/>
            <a:r>
              <a:rPr sz="1000" b="0" i="1">
                <a:solidFill>
                  <a:srgbClr val="333333"/>
                </a:solidFill>
                <a:latin typeface="Times New Roman"/>
              </a:rPr>
              <a:t>“As listed” is the same stops visited in candidate order — what an itinerary that never routes produces. It is the honest baseline, because nearest-next was already optimal here.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57593-4059-4EFD-2BB0-FF813EA89E79}"/>
              </a:ext>
            </a:extLst>
          </p:cNvPr>
          <p:cNvSpPr>
            <a:spLocks noGrp="1"/>
          </p:cNvSpPr>
          <p:nvPr>
            <p:ph type="title"/>
          </p:nvPr>
        </p:nvSpPr>
        <p:spPr>
          <a:xfrm>
            <a:off x="457200" y="155448"/>
            <a:ext cx="8193024" cy="658368"/>
          </a:xfrm>
        </p:spPr>
        <p:txBody>
          <a:bodyPr anchor="t">
            <a:normAutofit/>
          </a:bodyPr>
          <a:lstStyle/>
          <a:p>
            <a:r>
              <a:rPr lang="en-IN" b="1" i="0" dirty="0" sz="2800">
                <a:solidFill>
                  <a:schemeClr val="bg2"/>
                </a:solidFill>
                <a:effectLst/>
                <a:latin typeface="Times New Roman" panose="02020603050405020304" pitchFamily="18" charset="0"/>
                <a:cs typeface="Times New Roman" panose="02020603050405020304" pitchFamily="18" charset="0"/>
              </a:rPr>
              <a:t>PROJECT STATUS, CONCLUSION</a:t>
            </a:r>
            <a:br>
              <a:rPr lang="en-IN" b="1" i="0" dirty="0">
                <a:solidFill>
                  <a:srgbClr val="000000"/>
                </a:solidFill>
                <a:effectLst/>
                <a:latin typeface="Times New Roman" panose="02020603050405020304" pitchFamily="18" charset="0"/>
                <a:cs typeface="Times New Roman" panose="02020603050405020304" pitchFamily="18" charset="0"/>
              </a:rPr>
            </a:br>
            <a:endParaRPr lang="en-US" dirty="0">
              <a:latin typeface="Times New Roman" panose="02020603050405020304" pitchFamily="18" charset="0"/>
              <a:cs typeface="Times New Roman" panose="02020603050405020304" pitchFamily="18" charset="0"/>
            </a:endParaRPr>
          </a:p>
        </p:txBody>
      </p:sp>
      <p:sp>
        <p:nvSpPr>
          <p:cNvPr id="6" name="Slide Number Placeholder 5">
            <a:extLst>
              <a:ext uri="{FF2B5EF4-FFF2-40B4-BE49-F238E27FC236}">
                <a16:creationId xmlns:a16="http://schemas.microsoft.com/office/drawing/2014/main" id="{E20F00D8-5DAB-3041-83E8-E5C536AA4A0C}"/>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10</a:t>
            </a:fld>
            <a:endParaRPr lang="en-IN"/>
          </a:p>
        </p:txBody>
      </p:sp>
      <p:sp>
        <p:nvSpPr>
          <p:cNvPr id="7" name="Footer Placeholder 6">
            <a:extLst>
              <a:ext uri="{FF2B5EF4-FFF2-40B4-BE49-F238E27FC236}">
                <a16:creationId xmlns:a16="http://schemas.microsoft.com/office/drawing/2014/main" id="{1AF726E8-5086-0729-9262-62B17A327BBE}"/>
              </a:ext>
            </a:extLst>
          </p:cNvPr>
          <p:cNvSpPr>
            <a:spLocks noGrp="1"/>
          </p:cNvSpPr>
          <p:nvPr>
            <p:ph type="ftr" idx="11"/>
          </p:nvPr>
        </p:nvSpPr>
        <p:spPr>
          <a:xfrm>
            <a:off x="457200" y="6492875"/>
            <a:ext cx="8028432" cy="283845"/>
          </a:xfrm>
        </p:spPr>
        <p:txBody>
          <a:bodyPr/>
          <a:lstStyle/>
          <a:p>
            <a:r>
              <a:rPr lang="en-US" dirty="0"/>
              <a:t>Dept. of ISE,BMSIT&amp;M                       7th Semester, MAJOR PROJECT PHASE-2 (BCS705) REVIEW ‘1                             AY : 2026-27 </a:t>
            </a:r>
            <a:endParaRPr lang="en-IN" dirty="0"/>
          </a:p>
        </p:txBody>
      </p:sp>
      <p:sp>
        <p:nvSpPr>
          <p:cNvPr id="8" name="Rectangle 7"/>
          <p:cNvSpPr/>
          <p:nvPr/>
        </p:nvSpPr>
        <p:spPr>
          <a:xfrm>
            <a:off x="502920" y="914400"/>
            <a:ext cx="2606040" cy="365760"/>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FFFFFF"/>
                </a:solidFill>
                <a:latin typeface="Times New Roman"/>
              </a:rPr>
              <a:t>Completed</a:t>
            </a:r>
          </a:p>
        </p:txBody>
      </p:sp>
      <p:sp>
        <p:nvSpPr>
          <p:cNvPr id="9" name="Rectangle 8"/>
          <p:cNvSpPr/>
          <p:nvPr/>
        </p:nvSpPr>
        <p:spPr>
          <a:xfrm>
            <a:off x="502920" y="1280160"/>
            <a:ext cx="2606040" cy="2103120"/>
          </a:xfrm>
          <a:prstGeom prst="rect">
            <a:avLst/>
          </a:prstGeom>
          <a:solidFill>
            <a:srgbClr val="FFFFFF"/>
          </a:solidFill>
          <a:ln w="1270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00" b="0">
                <a:solidFill>
                  <a:srgbClr val="000000"/>
                </a:solidFill>
                <a:latin typeface="Times New Roman"/>
              </a:rPr>
              <a:t>Intake: your words read into a form</a:t>
            </a:r>
          </a:p>
          <a:p>
            <a:pPr algn="l"/>
            <a:r>
              <a:rPr sz="900" b="0">
                <a:solidFill>
                  <a:srgbClr val="000000"/>
                </a:solidFill>
                <a:latin typeface="Times New Roman"/>
              </a:rPr>
              <a:t>Cold start for an unseen city</a:t>
            </a:r>
          </a:p>
          <a:p>
            <a:pPr algn="l"/>
            <a:r>
              <a:rPr sz="900" b="0">
                <a:solidFill>
                  <a:srgbClr val="000000"/>
                </a:solidFill>
                <a:latin typeface="Times New Roman"/>
              </a:rPr>
              <a:t>Deterministic planner</a:t>
            </a:r>
          </a:p>
          <a:p>
            <a:pPr algn="l"/>
            <a:r>
              <a:rPr sz="900" b="0">
                <a:solidFill>
                  <a:srgbClr val="000000"/>
                </a:solidFill>
                <a:latin typeface="Times New Roman"/>
              </a:rPr>
              <a:t>Hybrid retrieval</a:t>
            </a:r>
          </a:p>
          <a:p>
            <a:pPr algn="l"/>
            <a:r>
              <a:rPr sz="900" b="0">
                <a:solidFill>
                  <a:srgbClr val="000000"/>
                </a:solidFill>
                <a:latin typeface="Times New Roman"/>
              </a:rPr>
              <a:t>City, Place and Day Kathas</a:t>
            </a:r>
          </a:p>
          <a:p>
            <a:pPr algn="l"/>
            <a:r>
              <a:rPr sz="900" b="0">
                <a:solidFill>
                  <a:srgbClr val="000000"/>
                </a:solidFill>
                <a:latin typeface="Times New Roman"/>
              </a:rPr>
              <a:t>Narration with fact-check</a:t>
            </a:r>
          </a:p>
          <a:p>
            <a:pPr algn="l"/>
            <a:r>
              <a:rPr sz="900" b="0">
                <a:solidFill>
                  <a:srgbClr val="000000"/>
                </a:solidFill>
                <a:latin typeface="Times New Roman"/>
              </a:rPr>
              <a:t>Sarvam speech, cached</a:t>
            </a:r>
          </a:p>
          <a:p>
            <a:pPr algn="l"/>
            <a:r>
              <a:rPr sz="900" b="0">
                <a:solidFill>
                  <a:srgbClr val="000000"/>
                </a:solidFill>
                <a:latin typeface="Times New Roman"/>
              </a:rPr>
              <a:t>Chat repair, one day</a:t>
            </a:r>
          </a:p>
          <a:p>
            <a:pPr algn="l"/>
            <a:r>
              <a:rPr sz="900" b="0">
                <a:solidFill>
                  <a:srgbClr val="000000"/>
                </a:solidFill>
                <a:latin typeface="Times New Roman"/>
              </a:rPr>
              <a:t>Web app on real map tiles</a:t>
            </a:r>
          </a:p>
        </p:txBody>
      </p:sp>
      <p:sp>
        <p:nvSpPr>
          <p:cNvPr id="10" name="Rectangle 9"/>
          <p:cNvSpPr/>
          <p:nvPr/>
        </p:nvSpPr>
        <p:spPr>
          <a:xfrm>
            <a:off x="3273552" y="914400"/>
            <a:ext cx="2606040" cy="365760"/>
          </a:xfrm>
          <a:prstGeom prst="rect">
            <a:avLst/>
          </a:prstGeom>
          <a:solidFill>
            <a:srgbClr val="F5C20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000000"/>
                </a:solidFill>
                <a:latin typeface="Times New Roman"/>
              </a:rPr>
              <a:t>In progress</a:t>
            </a:r>
          </a:p>
        </p:txBody>
      </p:sp>
      <p:sp>
        <p:nvSpPr>
          <p:cNvPr id="11" name="Rectangle 10"/>
          <p:cNvSpPr/>
          <p:nvPr/>
        </p:nvSpPr>
        <p:spPr>
          <a:xfrm>
            <a:off x="3273552" y="1280160"/>
            <a:ext cx="2606040" cy="2103120"/>
          </a:xfrm>
          <a:prstGeom prst="rect">
            <a:avLst/>
          </a:prstGeom>
          <a:solidFill>
            <a:srgbClr val="FFFFFF"/>
          </a:solidFill>
          <a:ln w="12700">
            <a:solidFill>
              <a:srgbClr val="F5C201"/>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00" b="0">
                <a:solidFill>
                  <a:srgbClr val="000000"/>
                </a:solidFill>
                <a:latin typeface="Times New Roman"/>
              </a:rPr>
              <a:t>Verifying the model-drafted places</a:t>
            </a:r>
          </a:p>
          <a:p>
            <a:pPr algn="l"/>
            <a:r>
              <a:rPr sz="900" b="0">
                <a:solidFill>
                  <a:srgbClr val="000000"/>
                </a:solidFill>
                <a:latin typeface="Times New Roman"/>
              </a:rPr>
              <a:t/>
            </a:r>
          </a:p>
          <a:p>
            <a:pPr algn="l"/>
            <a:r>
              <a:rPr sz="900" b="0">
                <a:solidFill>
                  <a:srgbClr val="000000"/>
                </a:solidFill>
                <a:latin typeface="Times New Roman"/>
              </a:rPr>
              <a:t>Counting getting-around cost</a:t>
            </a:r>
          </a:p>
          <a:p>
            <a:pPr algn="l"/>
            <a:r>
              <a:rPr sz="900" b="0">
                <a:solidFill>
                  <a:srgbClr val="000000"/>
                </a:solidFill>
                <a:latin typeface="Times New Roman"/>
              </a:rPr>
              <a:t>against the budget</a:t>
            </a:r>
          </a:p>
          <a:p>
            <a:pPr algn="l"/>
            <a:r>
              <a:rPr sz="900" b="0">
                <a:solidFill>
                  <a:srgbClr val="000000"/>
                </a:solidFill>
                <a:latin typeface="Times New Roman"/>
              </a:rPr>
              <a:t/>
            </a:r>
          </a:p>
          <a:p>
            <a:pPr algn="l"/>
            <a:r>
              <a:rPr sz="900" b="0">
                <a:solidFill>
                  <a:srgbClr val="000000"/>
                </a:solidFill>
                <a:latin typeface="Times New Roman"/>
              </a:rPr>
              <a:t>OpenStreetMap as the place source</a:t>
            </a:r>
          </a:p>
          <a:p>
            <a:pPr algn="l"/>
            <a:r>
              <a:rPr sz="900" b="0">
                <a:solidFill>
                  <a:srgbClr val="000000"/>
                </a:solidFill>
                <a:latin typeface="Times New Roman"/>
              </a:rPr>
              <a:t>for new cities</a:t>
            </a:r>
          </a:p>
        </p:txBody>
      </p:sp>
      <p:sp>
        <p:nvSpPr>
          <p:cNvPr id="12" name="Rectangle 11"/>
          <p:cNvSpPr/>
          <p:nvPr/>
        </p:nvSpPr>
        <p:spPr>
          <a:xfrm>
            <a:off x="6044183" y="914400"/>
            <a:ext cx="2606040" cy="365760"/>
          </a:xfrm>
          <a:prstGeom prst="rect">
            <a:avLst/>
          </a:prstGeom>
          <a:solidFill>
            <a:srgbClr val="7A7A7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150" b="1">
                <a:solidFill>
                  <a:srgbClr val="FFFFFF"/>
                </a:solidFill>
                <a:latin typeface="Times New Roman"/>
              </a:rPr>
              <a:t>Not started — Review 2</a:t>
            </a:r>
          </a:p>
        </p:txBody>
      </p:sp>
      <p:sp>
        <p:nvSpPr>
          <p:cNvPr id="13" name="Rectangle 12"/>
          <p:cNvSpPr/>
          <p:nvPr/>
        </p:nvSpPr>
        <p:spPr>
          <a:xfrm>
            <a:off x="6044183" y="1280160"/>
            <a:ext cx="2606040" cy="2103120"/>
          </a:xfrm>
          <a:prstGeom prst="rect">
            <a:avLst/>
          </a:prstGeom>
          <a:solidFill>
            <a:srgbClr val="FFFFFF"/>
          </a:solidFill>
          <a:ln w="12700">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00" b="0">
                <a:solidFill>
                  <a:srgbClr val="000000"/>
                </a:solidFill>
                <a:latin typeface="Times New Roman"/>
              </a:rPr>
              <a:t>Objective 2: full five-</a:t>
            </a:r>
          </a:p>
          <a:p>
            <a:pPr algn="l"/>
            <a:r>
              <a:rPr sz="900" b="0">
                <a:solidFill>
                  <a:srgbClr val="000000"/>
                </a:solidFill>
                <a:latin typeface="Times New Roman"/>
              </a:rPr>
              <a:t>language support</a:t>
            </a:r>
          </a:p>
          <a:p>
            <a:pPr algn="l"/>
            <a:r>
              <a:rPr sz="900" b="0">
                <a:solidFill>
                  <a:srgbClr val="000000"/>
                </a:solidFill>
                <a:latin typeface="Times New Roman"/>
              </a:rPr>
              <a:t/>
            </a:r>
          </a:p>
          <a:p>
            <a:pPr algn="l"/>
            <a:r>
              <a:rPr sz="900" b="0">
                <a:solidFill>
                  <a:srgbClr val="000000"/>
                </a:solidFill>
                <a:latin typeface="Times New Roman"/>
              </a:rPr>
              <a:t>Objective 3: WhatsApp and</a:t>
            </a:r>
          </a:p>
          <a:p>
            <a:pPr algn="l"/>
            <a:r>
              <a:rPr sz="900" b="0">
                <a:solidFill>
                  <a:srgbClr val="000000"/>
                </a:solidFill>
                <a:latin typeface="Times New Roman"/>
              </a:rPr>
              <a:t>voice channels</a:t>
            </a:r>
          </a:p>
          <a:p>
            <a:pPr algn="l"/>
            <a:r>
              <a:rPr sz="900" b="0">
                <a:solidFill>
                  <a:srgbClr val="000000"/>
                </a:solidFill>
                <a:latin typeface="Times New Roman"/>
              </a:rPr>
              <a:t/>
            </a:r>
          </a:p>
          <a:p>
            <a:pPr algn="l"/>
            <a:r>
              <a:rPr sz="900" b="0">
                <a:solidFill>
                  <a:srgbClr val="000000"/>
                </a:solidFill>
                <a:latin typeface="Times New Roman"/>
              </a:rPr>
              <a:t>Objective 4: live booking</a:t>
            </a:r>
          </a:p>
          <a:p>
            <a:pPr algn="l"/>
            <a:r>
              <a:rPr sz="900" b="0">
                <a:solidFill>
                  <a:srgbClr val="000000"/>
                </a:solidFill>
                <a:latin typeface="Times New Roman"/>
              </a:rPr>
              <a:t>and routing APIs</a:t>
            </a:r>
          </a:p>
          <a:p>
            <a:pPr algn="l"/>
            <a:r>
              <a:rPr sz="900" b="0">
                <a:solidFill>
                  <a:srgbClr val="000000"/>
                </a:solidFill>
                <a:latin typeface="Times New Roman"/>
              </a:rPr>
              <a:t/>
            </a:r>
          </a:p>
          <a:p>
            <a:pPr algn="l"/>
            <a:r>
              <a:rPr sz="900" b="0">
                <a:solidFill>
                  <a:srgbClr val="000000"/>
                </a:solidFill>
                <a:latin typeface="Times New Roman"/>
              </a:rPr>
              <a:t>A dedicated vector database</a:t>
            </a:r>
          </a:p>
          <a:p>
            <a:pPr algn="l"/>
            <a:r>
              <a:rPr sz="900" b="0">
                <a:solidFill>
                  <a:srgbClr val="000000"/>
                </a:solidFill>
                <a:latin typeface="Times New Roman"/>
              </a:rPr>
              <a:t>for the five-language corpus</a:t>
            </a:r>
          </a:p>
        </p:txBody>
      </p:sp>
      <p:sp>
        <p:nvSpPr>
          <p:cNvPr id="14" name="TextBox 13"/>
          <p:cNvSpPr txBox="1"/>
          <p:nvPr/>
        </p:nvSpPr>
        <p:spPr>
          <a:xfrm>
            <a:off x="502920" y="3520440"/>
            <a:ext cx="8138160" cy="228600"/>
          </a:xfrm>
          <a:prstGeom prst="rect">
            <a:avLst/>
          </a:prstGeom>
          <a:noFill/>
        </p:spPr>
        <p:txBody>
          <a:bodyPr wrap="square" lIns="0" rIns="0" tIns="0" bIns="0">
            <a:spAutoFit/>
          </a:bodyPr>
          <a:lstStyle/>
          <a:p>
            <a:pPr algn="l"/>
            <a:r>
              <a:rPr sz="1150" b="1" i="0">
                <a:solidFill>
                  <a:srgbClr val="000000"/>
                </a:solidFill>
                <a:latin typeface="Times New Roman"/>
              </a:rPr>
              <a:t>Known limits, stated plainly</a:t>
            </a:r>
          </a:p>
        </p:txBody>
      </p:sp>
      <p:sp>
        <p:nvSpPr>
          <p:cNvPr id="15" name="Rectangle 14"/>
          <p:cNvSpPr/>
          <p:nvPr/>
        </p:nvSpPr>
        <p:spPr>
          <a:xfrm>
            <a:off x="502920" y="3767328"/>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6" name="TextBox 15"/>
          <p:cNvSpPr txBox="1"/>
          <p:nvPr/>
        </p:nvSpPr>
        <p:spPr>
          <a:xfrm>
            <a:off x="713232" y="3712464"/>
            <a:ext cx="7909560" cy="384048"/>
          </a:xfrm>
          <a:prstGeom prst="rect">
            <a:avLst/>
          </a:prstGeom>
          <a:noFill/>
        </p:spPr>
        <p:txBody>
          <a:bodyPr wrap="square" lIns="0" rIns="0" tIns="0" bIns="0">
            <a:spAutoFit/>
          </a:bodyPr>
          <a:lstStyle/>
          <a:p>
            <a:pPr algn="l"/>
            <a:r>
              <a:rPr sz="1000" b="0" i="0">
                <a:solidFill>
                  <a:srgbClr val="000000"/>
                </a:solidFill>
                <a:latin typeface="Times New Roman"/>
              </a:rPr>
              <a:t>23 places drafted by the model for Mangalore are unverified; every one is labelled “AI-drafted · unverified” on screen until a source confirms it.</a:t>
            </a:r>
          </a:p>
        </p:txBody>
      </p:sp>
      <p:sp>
        <p:nvSpPr>
          <p:cNvPr id="17" name="Rectangle 16"/>
          <p:cNvSpPr/>
          <p:nvPr/>
        </p:nvSpPr>
        <p:spPr>
          <a:xfrm>
            <a:off x="502920" y="4133088"/>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18" name="TextBox 17"/>
          <p:cNvSpPr txBox="1"/>
          <p:nvPr/>
        </p:nvSpPr>
        <p:spPr>
          <a:xfrm>
            <a:off x="713232" y="4078224"/>
            <a:ext cx="7909560" cy="384048"/>
          </a:xfrm>
          <a:prstGeom prst="rect">
            <a:avLst/>
          </a:prstGeom>
          <a:noFill/>
        </p:spPr>
        <p:txBody>
          <a:bodyPr wrap="square" lIns="0" rIns="0" tIns="0" bIns="0">
            <a:spAutoFit/>
          </a:bodyPr>
          <a:lstStyle/>
          <a:p>
            <a:pPr algn="l"/>
            <a:r>
              <a:rPr sz="1000" b="0" i="0">
                <a:solidFill>
                  <a:srgbClr val="000000"/>
                </a:solidFill>
                <a:latin typeface="Times New Roman"/>
              </a:rPr>
              <a:t>The getting-around cost is shown per day, estimated, and not yet counted against the budget or checked by the planner.</a:t>
            </a:r>
          </a:p>
        </p:txBody>
      </p:sp>
      <p:sp>
        <p:nvSpPr>
          <p:cNvPr id="19" name="Rectangle 18"/>
          <p:cNvSpPr/>
          <p:nvPr/>
        </p:nvSpPr>
        <p:spPr>
          <a:xfrm>
            <a:off x="502920" y="4498848"/>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20" name="TextBox 19"/>
          <p:cNvSpPr txBox="1"/>
          <p:nvPr/>
        </p:nvSpPr>
        <p:spPr>
          <a:xfrm>
            <a:off x="713232" y="4443984"/>
            <a:ext cx="7909560" cy="384048"/>
          </a:xfrm>
          <a:prstGeom prst="rect">
            <a:avLst/>
          </a:prstGeom>
          <a:noFill/>
        </p:spPr>
        <p:txBody>
          <a:bodyPr wrap="square" lIns="0" rIns="0" tIns="0" bIns="0">
            <a:spAutoFit/>
          </a:bodyPr>
          <a:lstStyle/>
          <a:p>
            <a:pPr algn="l"/>
            <a:r>
              <a:rPr sz="1000" b="0" i="0">
                <a:solidFill>
                  <a:srgbClr val="000000"/>
                </a:solidFill>
                <a:latin typeface="Times New Roman"/>
              </a:rPr>
              <a:t>92 of the seeded places are still unverified draft data; the interface labels them as estimated rather than hiding it.</a:t>
            </a:r>
          </a:p>
        </p:txBody>
      </p:sp>
      <p:sp>
        <p:nvSpPr>
          <p:cNvPr id="21" name="Rectangle 20"/>
          <p:cNvSpPr/>
          <p:nvPr/>
        </p:nvSpPr>
        <p:spPr>
          <a:xfrm>
            <a:off x="502920" y="4864608"/>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22" name="TextBox 21"/>
          <p:cNvSpPr txBox="1"/>
          <p:nvPr/>
        </p:nvSpPr>
        <p:spPr>
          <a:xfrm>
            <a:off x="713232" y="4809744"/>
            <a:ext cx="7909560" cy="384048"/>
          </a:xfrm>
          <a:prstGeom prst="rect">
            <a:avLst/>
          </a:prstGeom>
          <a:noFill/>
        </p:spPr>
        <p:txBody>
          <a:bodyPr wrap="square" lIns="0" rIns="0" tIns="0" bIns="0">
            <a:spAutoFit/>
          </a:bodyPr>
          <a:lstStyle/>
          <a:p>
            <a:pPr algn="l"/>
            <a:r>
              <a:rPr sz="1000" b="0" i="0">
                <a:solidFill>
                  <a:srgbClr val="000000"/>
                </a:solidFill>
                <a:latin typeface="Times New Roman"/>
              </a:rPr>
              <a:t>Routes are drawn as straight segments between stops, on real tiles or on the sketch; the kilometres use a detour factor and are honest, the drawing is not.</a:t>
            </a:r>
          </a:p>
        </p:txBody>
      </p:sp>
      <p:sp>
        <p:nvSpPr>
          <p:cNvPr id="23" name="Rectangle 22"/>
          <p:cNvSpPr/>
          <p:nvPr/>
        </p:nvSpPr>
        <p:spPr>
          <a:xfrm>
            <a:off x="502920" y="5230368"/>
            <a:ext cx="91440" cy="91440"/>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50" b="0">
                <a:solidFill>
                  <a:srgbClr val="000000"/>
                </a:solidFill>
                <a:latin typeface="Times New Roman"/>
              </a:rPr>
              <a:t/>
            </a:r>
          </a:p>
        </p:txBody>
      </p:sp>
      <p:sp>
        <p:nvSpPr>
          <p:cNvPr id="24" name="TextBox 23"/>
          <p:cNvSpPr txBox="1"/>
          <p:nvPr/>
        </p:nvSpPr>
        <p:spPr>
          <a:xfrm>
            <a:off x="713232" y="5175504"/>
            <a:ext cx="7909560" cy="384048"/>
          </a:xfrm>
          <a:prstGeom prst="rect">
            <a:avLst/>
          </a:prstGeom>
          <a:noFill/>
        </p:spPr>
        <p:txBody>
          <a:bodyPr wrap="square" lIns="0" rIns="0" tIns="0" bIns="0">
            <a:spAutoFit/>
          </a:bodyPr>
          <a:lstStyle/>
          <a:p>
            <a:pPr algn="l"/>
            <a:r>
              <a:rPr sz="1000" b="0" i="0">
                <a:solidFill>
                  <a:srgbClr val="000000"/>
                </a:solidFill>
                <a:latin typeface="Times New Roman"/>
              </a:rPr>
              <a:t>The system runs on localhost for this review; deployment is a post-review decision recorded in the project log.</a:t>
            </a:r>
          </a:p>
        </p:txBody>
      </p:sp>
      <p:sp>
        <p:nvSpPr>
          <p:cNvPr id="25" name="TextBox 24"/>
          <p:cNvSpPr txBox="1"/>
          <p:nvPr/>
        </p:nvSpPr>
        <p:spPr>
          <a:xfrm>
            <a:off x="502920" y="5623560"/>
            <a:ext cx="8138160" cy="640080"/>
          </a:xfrm>
          <a:prstGeom prst="rect">
            <a:avLst/>
          </a:prstGeom>
          <a:noFill/>
        </p:spPr>
        <p:txBody>
          <a:bodyPr wrap="square" lIns="0" rIns="0" tIns="0" bIns="0">
            <a:spAutoFit/>
          </a:bodyPr>
          <a:lstStyle/>
          <a:p>
            <a:pPr algn="l"/>
            <a:r>
              <a:rPr sz="1100" b="1" i="0">
                <a:solidFill>
                  <a:srgbClr val="000000"/>
                </a:solidFill>
                <a:latin typeface="Times New Roman"/>
              </a:rPr>
              <a:t>Conclusion: two of six objectives are demonstrated in working software, measured rather than asserted. Beyond Karnataka, a city we have never seen is drafted by the model on first request, labelled, and still scheduled by our solver; OpenStreetMap is the intended place source for Review 2.</a:t>
            </a:r>
          </a:p>
        </p:txBody>
      </p:sp>
    </p:spTree>
    <p:extLst>
      <p:ext uri="{BB962C8B-B14F-4D97-AF65-F5344CB8AC3E}">
        <p14:creationId xmlns:p14="http://schemas.microsoft.com/office/powerpoint/2010/main" val="1360987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192" name="Google Shape;192;g3a64a40ef39_0_0"/>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PUBLICATION</a:t>
            </a:r>
            <a:endParaRPr dirty="0">
              <a:latin typeface="Times New Roman" panose="02020603050405020304" pitchFamily="18" charset="0"/>
              <a:cs typeface="Times New Roman" panose="02020603050405020304" pitchFamily="18" charset="0"/>
            </a:endParaRPr>
          </a:p>
        </p:txBody>
      </p:sp>
      <p:sp>
        <p:nvSpPr>
          <p:cNvPr id="193" name="Google Shape;193;g3a64a40ef39_0_0"/>
          <p:cNvSpPr txBox="1">
            <a:spLocks noGrp="1"/>
          </p:cNvSpPr>
          <p:nvPr>
            <p:ph type="body" idx="1"/>
          </p:nvPr>
        </p:nvSpPr>
        <p:spPr>
          <a:xfrm>
            <a:off x="457200" y="960120"/>
            <a:ext cx="8193024" cy="5303520"/>
          </a:xfrm>
          <a:prstGeom prst="rect">
            <a:avLst/>
          </a:prstGeom>
        </p:spPr>
        <p:txBody>
          <a:bodyPr spcFirstLastPara="1" wrap="square" lIns="91425" tIns="45700" rIns="91425" bIns="45700" anchor="t" anchorCtr="0">
            <a:normAutofit/>
          </a:bodyPr>
          <a:lstStyle/>
          <a:p>
            <a:pPr marL="228600" indent="0" algn="l" rtl="0">
              <a:lnSpc>
                <a:spcPct val="150000"/>
              </a:lnSpc>
              <a:spcBef>
                <a:spcPts val="360"/>
              </a:spcBef>
              <a:spcAft>
                <a:spcPts val="700"/>
              </a:spcAft>
              <a:buClr>
                <a:schemeClr val="dk1"/>
              </a:buClr>
              <a:buSzPct val="90000"/>
              <a:buFont typeface="Arial"/>
              <a:buNone/>
            </a:pPr>
            <a:r>
              <a:rPr lang="en-IN" sz="1300" b="1" dirty="0">
                <a:latin typeface="Times New Roman" panose="02020603050405020304" pitchFamily="18" charset="0"/>
                <a:ea typeface="Bookman Old Style"/>
                <a:cs typeface="Times New Roman" panose="02020603050405020304" pitchFamily="18" charset="0"/>
                <a:sym typeface="Bookman Old Style"/>
              </a:rPr>
              <a:t>Planned contribution: IndiaTravel — the first India-specific benchmark for travel-planning AI agents.</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Modelled on ChinaTravel (Shao et al., ICLR 2026), the equivalent open-ended benchmark for Chinese travel, on which neuro-symbolic agents reach 37.0 percent constraint satisfaction against 2.6 percent for purely neural ones — roughly a tenfold gap.</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The novelty is the constraint set. India-specific constraints have no counterpart in the existing benchmarks: temple darshan windows and midday closures, weekly closing days, festival and Dasara crowding, monsoon access to hill roads, vegetarian and Jain food requirements, multi-generational parties with an elder's walking limit, and state-boundary transport changes.</a:t>
            </a:r>
            <a:endParaRPr sz="1800" b="0" dirty="0">
              <a:latin typeface="Times New Roman" panose="02020603050405020304" pitchFamily="18" charset="0"/>
              <a:cs typeface="Times New Roman" panose="02020603050405020304" pitchFamily="18" charset="0"/>
            </a:endParaRPr>
          </a:p>
          <a:p>
            <a:pPr marL="228600" lvl="1"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Our planner, its validator and the 135-place dataset (20 verified against live sources) are the working reference implementation the benchmark would be released alongside.</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700"/>
              </a:spcAft>
              <a:buClr>
                <a:schemeClr val="dk1"/>
              </a:buClr>
              <a:buSzPct val="90000"/>
              <a:buFont typeface="Arial"/>
              <a:buNone/>
            </a:pPr>
            <a:r>
              <a:rPr lang="en-IN" sz="1300" b="1" dirty="0">
                <a:latin typeface="Times New Roman" panose="02020603050405020304" pitchFamily="18" charset="0"/>
                <a:ea typeface="Bookman Old Style"/>
                <a:cs typeface="Times New Roman" panose="02020603050405020304" pitchFamily="18" charset="0"/>
                <a:sym typeface="Bookman Old Style"/>
              </a:rPr>
              <a:t>Target: a Scopus-indexed conference or journal. Drafting begins after Review 2, once the multilingual and multi-channel objectives provide the second half of the evaluation.</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700"/>
              </a:spcAft>
              <a:buClr>
                <a:schemeClr val="dk1"/>
              </a:buClr>
              <a:buSzPct val="90000"/>
              <a:buFont typeface="Arial"/>
              <a:buNone/>
            </a:pPr>
            <a:r>
              <a:rPr lang="en-IN" sz="1300" b="0" dirty="0">
                <a:latin typeface="Times New Roman" panose="02020603050405020304" pitchFamily="18" charset="0"/>
                <a:ea typeface="Bookman Old Style"/>
                <a:cs typeface="Times New Roman" panose="02020603050405020304" pitchFamily="18" charset="0"/>
                <a:sym typeface="Bookman Old Style"/>
              </a:rPr>
              <a:t>The report will be prepared in LaTeX and checked through Turnitin, to remain under the fifteen percent similarity requirement.</a:t>
            </a:r>
            <a:endParaRPr sz="1800" b="0" dirty="0">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F7E51F1-3898-D2F1-E130-E335DF49869E}"/>
              </a:ext>
            </a:extLst>
          </p:cNvPr>
          <p:cNvSpPr>
            <a:spLocks noGrp="1"/>
          </p:cNvSpPr>
          <p:nvPr>
            <p:ph type="ftr" idx="11"/>
          </p:nvPr>
        </p:nvSpPr>
        <p:spPr>
          <a:xfrm>
            <a:off x="457200" y="6492875"/>
            <a:ext cx="7790688"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D4FBF170-66C7-99AD-5F18-88CCB6F91C6B}"/>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11</a:t>
            </a:fld>
            <a:endParaRPr lang="en-IN"/>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6" name="Google Shape;136;g3a64a40ef39_2_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METHODOLOGY (contd.)</a:t>
            </a:r>
            <a:endParaRPr dirty="0">
              <a:latin typeface="Times New Roman" panose="02020603050405020304" pitchFamily="18" charset="0"/>
              <a:cs typeface="Times New Roman" panose="02020603050405020304" pitchFamily="18" charset="0"/>
            </a:endParaRPr>
          </a:p>
        </p:txBody>
      </p:sp>
      <p:sp>
        <p:nvSpPr>
          <p:cNvPr id="137" name="Google Shape;137;g3a64a40ef39_2_8"/>
          <p:cNvSpPr txBox="1">
            <a:spLocks noGrp="1"/>
          </p:cNvSpPr>
          <p:nvPr>
            <p:ph type="body" idx="1"/>
          </p:nvPr>
        </p:nvSpPr>
        <p:spPr>
          <a:xfrm>
            <a:off x="457200" y="914400"/>
            <a:ext cx="8193024" cy="45720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200"/>
              </a:spcAft>
              <a:buSzPts val="2200"/>
              <a:buFont typeface="Roboto"/>
              <a:buChar char="●"/>
            </a:pPr>
            <a:r>
              <a:rPr lang="en-IN" sz="1400" b="1" dirty="0">
                <a:latin typeface="Times New Roman" panose="02020603050405020304" pitchFamily="18" charset="0"/>
                <a:ea typeface="Roboto"/>
                <a:cs typeface="Times New Roman" panose="02020603050405020304" pitchFamily="18" charset="0"/>
                <a:sym typeface="Roboto"/>
              </a:rPr>
              <a:t>The validator is the contract. A plan is only returned once every check passes, or the request is refused with the arithmetic shown.</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535B6E70-8782-7CF1-A492-D7C8D7532384}"/>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7</a:t>
            </a:fld>
            <a:endParaRPr lang="en-IN"/>
          </a:p>
        </p:txBody>
      </p:sp>
      <p:sp>
        <p:nvSpPr>
          <p:cNvPr id="5" name="Footer Placeholder 4">
            <a:extLst>
              <a:ext uri="{FF2B5EF4-FFF2-40B4-BE49-F238E27FC236}">
                <a16:creationId xmlns:a16="http://schemas.microsoft.com/office/drawing/2014/main" id="{FBF5039F-2A94-A08F-F818-4DDB82E2B044}"/>
              </a:ext>
            </a:extLst>
          </p:cNvPr>
          <p:cNvSpPr>
            <a:spLocks noGrp="1"/>
          </p:cNvSpPr>
          <p:nvPr>
            <p:ph type="ftr" idx="11"/>
          </p:nvPr>
        </p:nvSpPr>
        <p:spPr>
          <a:xfrm>
            <a:off x="457200" y="6492875"/>
            <a:ext cx="8065008" cy="283845"/>
          </a:xfrm>
        </p:spPr>
        <p:txBody>
          <a:bodyPr/>
          <a:lstStyle/>
          <a:p>
            <a:r>
              <a:rPr lang="en-US" dirty="0"/>
              <a:t>Dept. of ISE,BMSIT&amp;M                       7th Semester, MAJOR PROJECT PHASE-2 (BCS705) REVIEW ‘1                             AY : 2026-27 </a:t>
            </a:r>
            <a:endParaRPr lang="en-IN" dirty="0"/>
          </a:p>
        </p:txBody>
      </p:sp>
      <p:sp>
        <p:nvSpPr>
          <p:cNvPr id="138" name="TextBox 137"/>
          <p:cNvSpPr txBox="1"/>
          <p:nvPr/>
        </p:nvSpPr>
        <p:spPr>
          <a:xfrm>
            <a:off x="502920" y="1463040"/>
            <a:ext cx="4206240" cy="228600"/>
          </a:xfrm>
          <a:prstGeom prst="rect">
            <a:avLst/>
          </a:prstGeom>
          <a:noFill/>
        </p:spPr>
        <p:txBody>
          <a:bodyPr wrap="square" lIns="0" rIns="0" tIns="0" bIns="0">
            <a:spAutoFit/>
          </a:bodyPr>
          <a:lstStyle/>
          <a:p>
            <a:pPr algn="l"/>
            <a:r>
              <a:rPr sz="1100" b="1" i="0">
                <a:solidFill>
                  <a:srgbClr val="000000"/>
                </a:solidFill>
                <a:latin typeface="Times New Roman"/>
              </a:rPr>
              <a:t>Repair loop (maximum eight iterations)</a:t>
            </a:r>
          </a:p>
        </p:txBody>
      </p:sp>
      <p:sp>
        <p:nvSpPr>
          <p:cNvPr id="139" name="Rounded Rectangle 138"/>
          <p:cNvSpPr/>
          <p:nvPr/>
        </p:nvSpPr>
        <p:spPr>
          <a:xfrm>
            <a:off x="502920" y="1783080"/>
            <a:ext cx="2377440" cy="457200"/>
          </a:xfrm>
          <a:prstGeom prst="roundRect">
            <a:avLst/>
          </a:prstGeom>
          <a:solidFill>
            <a:srgbClr val="FFFFFF"/>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Build the day</a:t>
            </a:r>
          </a:p>
        </p:txBody>
      </p:sp>
      <p:sp>
        <p:nvSpPr>
          <p:cNvPr id="140" name="Rounded Rectangle 139"/>
          <p:cNvSpPr/>
          <p:nvPr/>
        </p:nvSpPr>
        <p:spPr>
          <a:xfrm>
            <a:off x="502920" y="2569464"/>
            <a:ext cx="2377440" cy="457200"/>
          </a:xfrm>
          <a:prstGeom prst="roundRect">
            <a:avLst/>
          </a:prstGeom>
          <a:solidFill>
            <a:srgbClr val="FFFFFF"/>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Validate: 6 checks per day</a:t>
            </a:r>
          </a:p>
        </p:txBody>
      </p:sp>
      <p:sp>
        <p:nvSpPr>
          <p:cNvPr id="141" name="Diamond 140"/>
          <p:cNvSpPr/>
          <p:nvPr/>
        </p:nvSpPr>
        <p:spPr>
          <a:xfrm>
            <a:off x="502920" y="3355848"/>
            <a:ext cx="2377440" cy="566928"/>
          </a:xfrm>
          <a:prstGeom prst="diamond">
            <a:avLst/>
          </a:prstGeom>
          <a:solidFill>
            <a:srgbClr val="FFFFFF"/>
          </a:solidFill>
          <a:ln w="19050">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Any violation?</a:t>
            </a:r>
          </a:p>
        </p:txBody>
      </p:sp>
      <p:sp>
        <p:nvSpPr>
          <p:cNvPr id="142" name="Rounded Rectangle 141"/>
          <p:cNvSpPr/>
          <p:nvPr/>
        </p:nvSpPr>
        <p:spPr>
          <a:xfrm>
            <a:off x="502920" y="4197096"/>
            <a:ext cx="2377440" cy="566928"/>
          </a:xfrm>
          <a:prstGeom prst="roundRect">
            <a:avLst/>
          </a:prstGeom>
          <a:solidFill>
            <a:srgbClr val="FFFFFF"/>
          </a:solidFill>
          <a:ln w="19050">
            <a:solidFill>
              <a:srgbClr val="D1282E"/>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950" b="1">
                <a:solidFill>
                  <a:srgbClr val="000000"/>
                </a:solidFill>
                <a:latin typeface="Times New Roman"/>
              </a:rPr>
              <a:t>Drop the lowest-scoring flexible</a:t>
            </a:r>
          </a:p>
          <a:p>
            <a:pPr algn="ctr"/>
            <a:r>
              <a:rPr sz="850" b="0">
                <a:solidFill>
                  <a:srgbClr val="000000"/>
                </a:solidFill>
                <a:latin typeface="Times New Roman"/>
              </a:rPr>
              <a:t>stop of the least-repaired day</a:t>
            </a:r>
          </a:p>
        </p:txBody>
      </p:sp>
      <p:sp>
        <p:nvSpPr>
          <p:cNvPr id="143" name="Rounded Rectangle 142"/>
          <p:cNvSpPr/>
          <p:nvPr/>
        </p:nvSpPr>
        <p:spPr>
          <a:xfrm>
            <a:off x="3200400" y="3355848"/>
            <a:ext cx="1325880" cy="457200"/>
          </a:xfrm>
          <a:prstGeom prst="roundRect">
            <a:avLst/>
          </a:prstGeom>
          <a:solidFill>
            <a:srgbClr val="C8C8B1"/>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54000" bIns="54000"/>
          <a:lstStyle/>
          <a:p>
            <a:pPr algn="ctr"/>
            <a:r>
              <a:rPr sz="1000" b="1">
                <a:solidFill>
                  <a:srgbClr val="000000"/>
                </a:solidFill>
                <a:latin typeface="Times New Roman"/>
              </a:rPr>
              <a:t>Plan returned</a:t>
            </a:r>
          </a:p>
        </p:txBody>
      </p:sp>
      <p:cxnSp>
        <p:nvCxnSpPr>
          <p:cNvPr id="144" name="Connector 143"/>
          <p:cNvCxnSpPr/>
          <p:nvPr/>
        </p:nvCxnSpPr>
        <p:spPr>
          <a:xfrm>
            <a:off x="1691640" y="2240280"/>
            <a:ext cx="0" cy="32918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a:off x="1691640" y="3026664"/>
            <a:ext cx="0" cy="32918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2880360" y="3584448"/>
            <a:ext cx="320040" cy="54864"/>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7" name="TextBox 146"/>
          <p:cNvSpPr txBox="1"/>
          <p:nvPr/>
        </p:nvSpPr>
        <p:spPr>
          <a:xfrm>
            <a:off x="2898648" y="3346704"/>
            <a:ext cx="320040" cy="182880"/>
          </a:xfrm>
          <a:prstGeom prst="rect">
            <a:avLst/>
          </a:prstGeom>
          <a:noFill/>
        </p:spPr>
        <p:txBody>
          <a:bodyPr wrap="square" lIns="0" rIns="0" tIns="0" bIns="0">
            <a:spAutoFit/>
          </a:bodyPr>
          <a:lstStyle/>
          <a:p>
            <a:pPr algn="l"/>
            <a:r>
              <a:rPr sz="900" b="0" i="0">
                <a:solidFill>
                  <a:srgbClr val="000000"/>
                </a:solidFill>
                <a:latin typeface="Times New Roman"/>
              </a:rPr>
              <a:t>no</a:t>
            </a:r>
          </a:p>
        </p:txBody>
      </p:sp>
      <p:cxnSp>
        <p:nvCxnSpPr>
          <p:cNvPr id="148" name="Connector 147"/>
          <p:cNvCxnSpPr/>
          <p:nvPr/>
        </p:nvCxnSpPr>
        <p:spPr>
          <a:xfrm>
            <a:off x="1691640" y="3922776"/>
            <a:ext cx="0" cy="292608"/>
          </a:xfrm>
          <a:prstGeom prst="line">
            <a:avLst/>
          </a:prstGeom>
          <a:ln w="15875">
            <a:solidFill>
              <a:srgbClr val="7A7A7A"/>
            </a:solidFill>
            <a:tailEnd type="triangle" w="sm" len="sm"/>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1746504" y="3959352"/>
            <a:ext cx="365760" cy="182880"/>
          </a:xfrm>
          <a:prstGeom prst="rect">
            <a:avLst/>
          </a:prstGeom>
          <a:noFill/>
        </p:spPr>
        <p:txBody>
          <a:bodyPr wrap="square" lIns="0" rIns="0" tIns="0" bIns="0">
            <a:spAutoFit/>
          </a:bodyPr>
          <a:lstStyle/>
          <a:p>
            <a:pPr algn="l"/>
            <a:r>
              <a:rPr sz="900" b="0" i="0">
                <a:solidFill>
                  <a:srgbClr val="000000"/>
                </a:solidFill>
                <a:latin typeface="Times New Roman"/>
              </a:rPr>
              <a:t>yes</a:t>
            </a:r>
          </a:p>
        </p:txBody>
      </p:sp>
      <p:cxnSp>
        <p:nvCxnSpPr>
          <p:cNvPr id="150" name="Connector 149"/>
          <p:cNvCxnSpPr/>
          <p:nvPr/>
        </p:nvCxnSpPr>
        <p:spPr>
          <a:xfrm flipH="1">
            <a:off x="228600" y="4480560"/>
            <a:ext cx="274320" cy="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flipV="1">
            <a:off x="228600" y="2011680"/>
            <a:ext cx="0" cy="246888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228600" y="2011680"/>
            <a:ext cx="274320" cy="0"/>
          </a:xfrm>
          <a:prstGeom prst="line">
            <a:avLst/>
          </a:prstGeom>
          <a:ln w="15875">
            <a:solidFill>
              <a:srgbClr val="D1282E"/>
            </a:solidFill>
            <a:tailEnd type="triangle" w="sm" len="sm"/>
          </a:ln>
        </p:spPr>
        <p:style>
          <a:lnRef idx="2">
            <a:schemeClr val="accent1"/>
          </a:lnRef>
          <a:fillRef idx="0">
            <a:schemeClr val="accent1"/>
          </a:fillRef>
          <a:effectRef idx="1">
            <a:schemeClr val="accent1"/>
          </a:effectRef>
          <a:fontRef idx="minor">
            <a:schemeClr val="tx1"/>
          </a:fontRef>
        </p:style>
      </p:cxnSp>
      <p:sp>
        <p:nvSpPr>
          <p:cNvPr id="153" name="TextBox 152"/>
          <p:cNvSpPr txBox="1"/>
          <p:nvPr/>
        </p:nvSpPr>
        <p:spPr>
          <a:xfrm>
            <a:off x="502920" y="4846320"/>
            <a:ext cx="4114800" cy="685800"/>
          </a:xfrm>
          <a:prstGeom prst="rect">
            <a:avLst/>
          </a:prstGeom>
          <a:noFill/>
        </p:spPr>
        <p:txBody>
          <a:bodyPr wrap="square" lIns="0" rIns="0" tIns="0" bIns="0">
            <a:spAutoFit/>
          </a:bodyPr>
          <a:lstStyle/>
          <a:p>
            <a:pPr algn="l"/>
            <a:r>
              <a:rPr sz="1000" b="0" i="1">
                <a:solidFill>
                  <a:srgbClr val="333333"/>
                </a:solidFill>
                <a:latin typeface="Times New Roman"/>
              </a:rPr>
              <a:t>The fixed-time anchor of a day is never dropped. Only the day named by the violation is rebuilt; every other day is left byte-for-byte identical.</a:t>
            </a:r>
          </a:p>
        </p:txBody>
      </p:sp>
      <p:sp>
        <p:nvSpPr>
          <p:cNvPr id="154" name="TextBox 153"/>
          <p:cNvSpPr txBox="1"/>
          <p:nvPr/>
        </p:nvSpPr>
        <p:spPr>
          <a:xfrm>
            <a:off x="4892040" y="1444752"/>
            <a:ext cx="3749039" cy="228600"/>
          </a:xfrm>
          <a:prstGeom prst="rect">
            <a:avLst/>
          </a:prstGeom>
          <a:noFill/>
        </p:spPr>
        <p:txBody>
          <a:bodyPr wrap="square" lIns="0" rIns="0" tIns="0" bIns="0">
            <a:spAutoFit/>
          </a:bodyPr>
          <a:lstStyle/>
          <a:p>
            <a:pPr algn="l"/>
            <a:r>
              <a:rPr sz="1100" b="1" i="0">
                <a:solidFill>
                  <a:srgbClr val="000000"/>
                </a:solidFill>
                <a:latin typeface="Times New Roman"/>
              </a:rPr>
              <a:t>Why a solver and not the model alone</a:t>
            </a:r>
          </a:p>
        </p:txBody>
      </p:sp>
      <p:sp>
        <p:nvSpPr>
          <p:cNvPr id="155" name="TextBox 154"/>
          <p:cNvSpPr txBox="1"/>
          <p:nvPr/>
        </p:nvSpPr>
        <p:spPr>
          <a:xfrm>
            <a:off x="4892040" y="1755648"/>
            <a:ext cx="3749039" cy="219456"/>
          </a:xfrm>
          <a:prstGeom prst="rect">
            <a:avLst/>
          </a:prstGeom>
          <a:noFill/>
        </p:spPr>
        <p:txBody>
          <a:bodyPr wrap="square" lIns="0" rIns="0" tIns="0" bIns="0">
            <a:spAutoFit/>
          </a:bodyPr>
          <a:lstStyle/>
          <a:p>
            <a:pPr algn="l"/>
            <a:r>
              <a:rPr sz="850" b="0" i="1">
                <a:solidFill>
                  <a:srgbClr val="7A7A7A"/>
                </a:solidFill>
                <a:latin typeface="Times New Roman"/>
              </a:rPr>
              <a:t>TravelPlanner (Xie et al., ICML 2024) — final pass rate [1]</a:t>
            </a:r>
          </a:p>
        </p:txBody>
      </p:sp>
      <p:sp>
        <p:nvSpPr>
          <p:cNvPr id="156" name="Rectangle 155"/>
          <p:cNvSpPr/>
          <p:nvPr/>
        </p:nvSpPr>
        <p:spPr>
          <a:xfrm>
            <a:off x="6144768" y="1993391"/>
            <a:ext cx="45720" cy="237744"/>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57" name="TextBox 156"/>
          <p:cNvSpPr txBox="1"/>
          <p:nvPr/>
        </p:nvSpPr>
        <p:spPr>
          <a:xfrm>
            <a:off x="4892040" y="2011679"/>
            <a:ext cx="1188720" cy="219456"/>
          </a:xfrm>
          <a:prstGeom prst="rect">
            <a:avLst/>
          </a:prstGeom>
          <a:noFill/>
        </p:spPr>
        <p:txBody>
          <a:bodyPr wrap="square" lIns="0" rIns="0" tIns="0" bIns="0">
            <a:spAutoFit/>
          </a:bodyPr>
          <a:lstStyle/>
          <a:p>
            <a:pPr algn="r"/>
            <a:r>
              <a:rPr sz="900" b="0" i="0">
                <a:solidFill>
                  <a:srgbClr val="000000"/>
                </a:solidFill>
                <a:latin typeface="Times New Roman"/>
              </a:rPr>
              <a:t>GPT-4-Turbo</a:t>
            </a:r>
          </a:p>
        </p:txBody>
      </p:sp>
      <p:sp>
        <p:nvSpPr>
          <p:cNvPr id="158" name="TextBox 157"/>
          <p:cNvSpPr txBox="1"/>
          <p:nvPr/>
        </p:nvSpPr>
        <p:spPr>
          <a:xfrm>
            <a:off x="6254496" y="2002535"/>
            <a:ext cx="1280160" cy="219456"/>
          </a:xfrm>
          <a:prstGeom prst="rect">
            <a:avLst/>
          </a:prstGeom>
          <a:noFill/>
        </p:spPr>
        <p:txBody>
          <a:bodyPr wrap="square" lIns="0" rIns="0" tIns="0" bIns="0">
            <a:spAutoFit/>
          </a:bodyPr>
          <a:lstStyle/>
          <a:p>
            <a:pPr algn="l"/>
            <a:r>
              <a:rPr sz="950" b="1" i="0">
                <a:solidFill>
                  <a:srgbClr val="000000"/>
                </a:solidFill>
                <a:latin typeface="Times New Roman"/>
              </a:rPr>
              <a:t>0.6%</a:t>
            </a:r>
          </a:p>
        </p:txBody>
      </p:sp>
      <p:sp>
        <p:nvSpPr>
          <p:cNvPr id="159" name="Rectangle 158"/>
          <p:cNvSpPr/>
          <p:nvPr/>
        </p:nvSpPr>
        <p:spPr>
          <a:xfrm>
            <a:off x="6144768" y="2313432"/>
            <a:ext cx="2103622" cy="237744"/>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60" name="TextBox 159"/>
          <p:cNvSpPr txBox="1"/>
          <p:nvPr/>
        </p:nvSpPr>
        <p:spPr>
          <a:xfrm>
            <a:off x="4892040" y="2331720"/>
            <a:ext cx="1188720" cy="219456"/>
          </a:xfrm>
          <a:prstGeom prst="rect">
            <a:avLst/>
          </a:prstGeom>
          <a:noFill/>
        </p:spPr>
        <p:txBody>
          <a:bodyPr wrap="square" lIns="0" rIns="0" tIns="0" bIns="0">
            <a:spAutoFit/>
          </a:bodyPr>
          <a:lstStyle/>
          <a:p>
            <a:pPr algn="r"/>
            <a:r>
              <a:rPr sz="900" b="0" i="0">
                <a:solidFill>
                  <a:srgbClr val="000000"/>
                </a:solidFill>
                <a:latin typeface="Times New Roman"/>
              </a:rPr>
              <a:t>LLM + solver [2]</a:t>
            </a:r>
          </a:p>
        </p:txBody>
      </p:sp>
      <p:sp>
        <p:nvSpPr>
          <p:cNvPr id="161" name="TextBox 160"/>
          <p:cNvSpPr txBox="1"/>
          <p:nvPr/>
        </p:nvSpPr>
        <p:spPr>
          <a:xfrm>
            <a:off x="8312398" y="2322575"/>
            <a:ext cx="1280160" cy="219456"/>
          </a:xfrm>
          <a:prstGeom prst="rect">
            <a:avLst/>
          </a:prstGeom>
          <a:noFill/>
        </p:spPr>
        <p:txBody>
          <a:bodyPr wrap="square" lIns="0" rIns="0" tIns="0" bIns="0">
            <a:spAutoFit/>
          </a:bodyPr>
          <a:lstStyle/>
          <a:p>
            <a:pPr algn="l"/>
            <a:r>
              <a:rPr sz="950" b="1" i="0">
                <a:solidFill>
                  <a:srgbClr val="000000"/>
                </a:solidFill>
                <a:latin typeface="Times New Roman"/>
              </a:rPr>
              <a:t>93.9%</a:t>
            </a:r>
          </a:p>
        </p:txBody>
      </p:sp>
      <p:sp>
        <p:nvSpPr>
          <p:cNvPr id="162" name="TextBox 161"/>
          <p:cNvSpPr txBox="1"/>
          <p:nvPr/>
        </p:nvSpPr>
        <p:spPr>
          <a:xfrm>
            <a:off x="4892040" y="2724912"/>
            <a:ext cx="3749039" cy="219456"/>
          </a:xfrm>
          <a:prstGeom prst="rect">
            <a:avLst/>
          </a:prstGeom>
          <a:noFill/>
        </p:spPr>
        <p:txBody>
          <a:bodyPr wrap="square" lIns="0" rIns="0" tIns="0" bIns="0">
            <a:spAutoFit/>
          </a:bodyPr>
          <a:lstStyle/>
          <a:p>
            <a:pPr algn="l"/>
            <a:r>
              <a:rPr sz="850" b="0" i="1">
                <a:solidFill>
                  <a:srgbClr val="7A7A7A"/>
                </a:solidFill>
                <a:latin typeface="Times New Roman"/>
              </a:rPr>
              <a:t>ChinaTravel (Shao et al., ICLR 2026) — constraint satisfaction [3]</a:t>
            </a:r>
          </a:p>
        </p:txBody>
      </p:sp>
      <p:sp>
        <p:nvSpPr>
          <p:cNvPr id="163" name="Rectangle 162"/>
          <p:cNvSpPr/>
          <p:nvPr/>
        </p:nvSpPr>
        <p:spPr>
          <a:xfrm>
            <a:off x="6144768" y="2962656"/>
            <a:ext cx="82890" cy="237744"/>
          </a:xfrm>
          <a:prstGeom prst="rect">
            <a:avLst/>
          </a:prstGeom>
          <a:solidFill>
            <a:srgbClr val="D1282E"/>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64" name="TextBox 163"/>
          <p:cNvSpPr txBox="1"/>
          <p:nvPr/>
        </p:nvSpPr>
        <p:spPr>
          <a:xfrm>
            <a:off x="4892040" y="2980944"/>
            <a:ext cx="1188720" cy="219456"/>
          </a:xfrm>
          <a:prstGeom prst="rect">
            <a:avLst/>
          </a:prstGeom>
          <a:noFill/>
        </p:spPr>
        <p:txBody>
          <a:bodyPr wrap="square" lIns="0" rIns="0" tIns="0" bIns="0">
            <a:spAutoFit/>
          </a:bodyPr>
          <a:lstStyle/>
          <a:p>
            <a:pPr algn="r"/>
            <a:r>
              <a:rPr sz="900" b="0" i="0">
                <a:solidFill>
                  <a:srgbClr val="000000"/>
                </a:solidFill>
                <a:latin typeface="Times New Roman"/>
              </a:rPr>
              <a:t>Purely neural</a:t>
            </a:r>
          </a:p>
        </p:txBody>
      </p:sp>
      <p:sp>
        <p:nvSpPr>
          <p:cNvPr id="165" name="TextBox 164"/>
          <p:cNvSpPr txBox="1"/>
          <p:nvPr/>
        </p:nvSpPr>
        <p:spPr>
          <a:xfrm>
            <a:off x="6291666" y="2971800"/>
            <a:ext cx="1280160" cy="219456"/>
          </a:xfrm>
          <a:prstGeom prst="rect">
            <a:avLst/>
          </a:prstGeom>
          <a:noFill/>
        </p:spPr>
        <p:txBody>
          <a:bodyPr wrap="square" lIns="0" rIns="0" tIns="0" bIns="0">
            <a:spAutoFit/>
          </a:bodyPr>
          <a:lstStyle/>
          <a:p>
            <a:pPr algn="l"/>
            <a:r>
              <a:rPr sz="950" b="1" i="0">
                <a:solidFill>
                  <a:srgbClr val="000000"/>
                </a:solidFill>
                <a:latin typeface="Times New Roman"/>
              </a:rPr>
              <a:t>about a tenth</a:t>
            </a:r>
          </a:p>
        </p:txBody>
      </p:sp>
      <p:sp>
        <p:nvSpPr>
          <p:cNvPr id="166" name="Rectangle 165"/>
          <p:cNvSpPr/>
          <p:nvPr/>
        </p:nvSpPr>
        <p:spPr>
          <a:xfrm>
            <a:off x="6144768" y="3282696"/>
            <a:ext cx="828903" cy="237744"/>
          </a:xfrm>
          <a:prstGeom prst="rect">
            <a:avLst/>
          </a:prstGeom>
          <a:solidFill>
            <a:srgbClr val="526DB0"/>
          </a:solidFill>
          <a:ln>
            <a:noFill/>
          </a:ln>
          <a:effectLst/>
        </p:spPr>
        <p:style>
          <a:lnRef idx="1">
            <a:schemeClr val="accent1"/>
          </a:lnRef>
          <a:fillRef idx="3">
            <a:schemeClr val="accent1"/>
          </a:fillRef>
          <a:effectRef idx="2">
            <a:schemeClr val="accent1"/>
          </a:effectRef>
          <a:fontRef idx="minor">
            <a:schemeClr val="lt1"/>
          </a:fontRef>
        </p:style>
        <p:txBody>
          <a:bodyPr rtlCol="0" anchor="ctr" lIns="36000" rIns="36000"/>
          <a:lstStyle/>
          <a:p>
            <a:pPr algn="r"/>
            <a:r>
              <a:rPr sz="900" b="1">
                <a:solidFill>
                  <a:srgbClr val="FFFFFF"/>
                </a:solidFill>
                <a:latin typeface="Times New Roman"/>
              </a:rPr>
              <a:t/>
            </a:r>
          </a:p>
        </p:txBody>
      </p:sp>
      <p:sp>
        <p:nvSpPr>
          <p:cNvPr id="167" name="TextBox 166"/>
          <p:cNvSpPr txBox="1"/>
          <p:nvPr/>
        </p:nvSpPr>
        <p:spPr>
          <a:xfrm>
            <a:off x="4892040" y="3300984"/>
            <a:ext cx="1188720" cy="219456"/>
          </a:xfrm>
          <a:prstGeom prst="rect">
            <a:avLst/>
          </a:prstGeom>
          <a:noFill/>
        </p:spPr>
        <p:txBody>
          <a:bodyPr wrap="square" lIns="0" rIns="0" tIns="0" bIns="0">
            <a:spAutoFit/>
          </a:bodyPr>
          <a:lstStyle/>
          <a:p>
            <a:pPr algn="r"/>
            <a:r>
              <a:rPr sz="900" b="0" i="0">
                <a:solidFill>
                  <a:srgbClr val="000000"/>
                </a:solidFill>
                <a:latin typeface="Times New Roman"/>
              </a:rPr>
              <a:t>Neuro-symbolic</a:t>
            </a:r>
          </a:p>
        </p:txBody>
      </p:sp>
      <p:sp>
        <p:nvSpPr>
          <p:cNvPr id="168" name="TextBox 167"/>
          <p:cNvSpPr txBox="1"/>
          <p:nvPr/>
        </p:nvSpPr>
        <p:spPr>
          <a:xfrm>
            <a:off x="7037679" y="3291840"/>
            <a:ext cx="1280160" cy="219456"/>
          </a:xfrm>
          <a:prstGeom prst="rect">
            <a:avLst/>
          </a:prstGeom>
          <a:noFill/>
        </p:spPr>
        <p:txBody>
          <a:bodyPr wrap="square" lIns="0" rIns="0" tIns="0" bIns="0">
            <a:spAutoFit/>
          </a:bodyPr>
          <a:lstStyle/>
          <a:p>
            <a:pPr algn="l"/>
            <a:r>
              <a:rPr sz="950" b="1" i="0">
                <a:solidFill>
                  <a:srgbClr val="000000"/>
                </a:solidFill>
                <a:latin typeface="Times New Roman"/>
              </a:rPr>
              <a:t>37%</a:t>
            </a:r>
          </a:p>
        </p:txBody>
      </p:sp>
      <p:sp>
        <p:nvSpPr>
          <p:cNvPr id="169" name="TextBox 168"/>
          <p:cNvSpPr txBox="1"/>
          <p:nvPr/>
        </p:nvSpPr>
        <p:spPr>
          <a:xfrm>
            <a:off x="4892040" y="3675887"/>
            <a:ext cx="3749039" cy="1371600"/>
          </a:xfrm>
          <a:prstGeom prst="rect">
            <a:avLst/>
          </a:prstGeom>
          <a:noFill/>
        </p:spPr>
        <p:txBody>
          <a:bodyPr wrap="square" lIns="0" rIns="0" tIns="0" bIns="0">
            <a:spAutoFit/>
          </a:bodyPr>
          <a:lstStyle/>
          <a:p>
            <a:pPr algn="l"/>
            <a:r>
              <a:rPr sz="1000" b="0" i="0">
                <a:solidFill>
                  <a:srgbClr val="000000"/>
                </a:solidFill>
                <a:latin typeface="Times New Roman"/>
              </a:rPr>
              <a:t>Pure language-model agents score in the low single digits on both benchmarks. Pairing the model with a solver raises that to 93.9 percent on TravelPlanner (Hao et al.) and tenfold on ChinaTravel, the papers' own comparison. These are published figures, not ours, and they are why the plan here is computed by a solver and the model is kept out of the decision.</a:t>
            </a:r>
          </a:p>
        </p:txBody>
      </p:sp>
      <p:sp>
        <p:nvSpPr>
          <p:cNvPr id="170" name="TextBox 169"/>
          <p:cNvSpPr txBox="1"/>
          <p:nvPr/>
        </p:nvSpPr>
        <p:spPr>
          <a:xfrm>
            <a:off x="4892040" y="5029200"/>
            <a:ext cx="3749039" cy="548640"/>
          </a:xfrm>
          <a:prstGeom prst="rect">
            <a:avLst/>
          </a:prstGeom>
          <a:noFill/>
        </p:spPr>
        <p:txBody>
          <a:bodyPr wrap="square" lIns="0" rIns="0" tIns="0" bIns="0">
            <a:spAutoFit/>
          </a:bodyPr>
          <a:lstStyle/>
          <a:p>
            <a:pPr algn="l"/>
            <a:r>
              <a:rPr sz="1000" b="1" i="0">
                <a:solidFill>
                  <a:srgbClr val="000000"/>
                </a:solidFill>
                <a:latin typeface="Times New Roman"/>
              </a:rPr>
              <a:t>Our own result on the demonstration trip — 37 of 37 checks passed — is on the results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6" name="Google Shape;136;g3a64a40ef39_2_8"/>
          <p:cNvSpPr txBox="1">
            <a:spLocks noGrp="1"/>
          </p:cNvSpPr>
          <p:nvPr>
            <p:ph type="title"/>
          </p:nvPr>
        </p:nvSpPr>
        <p:spPr>
          <a:xfrm>
            <a:off x="457200" y="155448"/>
            <a:ext cx="8193024" cy="749808"/>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3000">
                <a:latin typeface="Times New Roman" panose="02020603050405020304" pitchFamily="18" charset="0"/>
                <a:cs typeface="Times New Roman" panose="02020603050405020304" pitchFamily="18" charset="0"/>
              </a:rPr>
              <a:t>METHODOLOGY (contd.)</a:t>
            </a:r>
            <a:endParaRPr dirty="0">
              <a:latin typeface="Times New Roman" panose="02020603050405020304" pitchFamily="18" charset="0"/>
              <a:cs typeface="Times New Roman" panose="02020603050405020304" pitchFamily="18" charset="0"/>
            </a:endParaRPr>
          </a:p>
        </p:txBody>
      </p:sp>
      <p:sp>
        <p:nvSpPr>
          <p:cNvPr id="137" name="Google Shape;137;g3a64a40ef39_2_8"/>
          <p:cNvSpPr txBox="1">
            <a:spLocks noGrp="1"/>
          </p:cNvSpPr>
          <p:nvPr>
            <p:ph type="body" idx="1"/>
          </p:nvPr>
        </p:nvSpPr>
        <p:spPr>
          <a:xfrm>
            <a:off x="457200" y="914400"/>
            <a:ext cx="8193024" cy="457200"/>
          </a:xfrm>
          <a:prstGeom prst="rect">
            <a:avLst/>
          </a:prstGeom>
        </p:spPr>
        <p:txBody>
          <a:bodyPr spcFirstLastPara="1" wrap="square" lIns="91425" tIns="45700" rIns="91425" bIns="45700" anchor="t" anchorCtr="0">
            <a:normAutofit/>
          </a:bodyPr>
          <a:lstStyle/>
          <a:p>
            <a:pPr marL="457200" indent="-368300" algn="l" rtl="0">
              <a:lnSpc>
                <a:spcPct val="115000"/>
              </a:lnSpc>
              <a:spcBef>
                <a:spcPts val="0"/>
              </a:spcBef>
              <a:spcAft>
                <a:spcPts val="200"/>
              </a:spcAft>
              <a:buSzPts val="2200"/>
              <a:buFont typeface="Roboto"/>
              <a:buChar char="●"/>
            </a:pPr>
            <a:r>
              <a:rPr lang="en-IN" sz="1400" b="1" dirty="0">
                <a:latin typeface="Times New Roman" panose="02020603050405020304" pitchFamily="18" charset="0"/>
                <a:ea typeface="Roboto"/>
                <a:cs typeface="Times New Roman" panose="02020603050405020304" pitchFamily="18" charset="0"/>
                <a:sym typeface="Roboto"/>
              </a:rPr>
              <a:t>Katha, the guide: the model speaks only from paragraphs we have written and stored, and every paragraph carries its source.</a:t>
            </a:r>
            <a:endParaRPr sz="2200" b="0" dirty="0">
              <a:latin typeface="Times New Roman" panose="02020603050405020304" pitchFamily="18" charset="0"/>
              <a:ea typeface="Roboto"/>
              <a:cs typeface="Times New Roman" panose="02020603050405020304" pitchFamily="18" charset="0"/>
              <a:sym typeface="Roboto"/>
            </a:endParaRPr>
          </a:p>
        </p:txBody>
      </p:sp>
      <p:sp>
        <p:nvSpPr>
          <p:cNvPr id="4" name="Slide Number Placeholder 3">
            <a:extLst>
              <a:ext uri="{FF2B5EF4-FFF2-40B4-BE49-F238E27FC236}">
                <a16:creationId xmlns:a16="http://schemas.microsoft.com/office/drawing/2014/main" id="{535B6E70-8782-7CF1-A492-D7C8D7532384}"/>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7</a:t>
            </a:fld>
            <a:endParaRPr lang="en-IN"/>
          </a:p>
        </p:txBody>
      </p:sp>
      <p:sp>
        <p:nvSpPr>
          <p:cNvPr id="5" name="Footer Placeholder 4">
            <a:extLst>
              <a:ext uri="{FF2B5EF4-FFF2-40B4-BE49-F238E27FC236}">
                <a16:creationId xmlns:a16="http://schemas.microsoft.com/office/drawing/2014/main" id="{FBF5039F-2A94-A08F-F818-4DDB82E2B044}"/>
              </a:ext>
            </a:extLst>
          </p:cNvPr>
          <p:cNvSpPr>
            <a:spLocks noGrp="1"/>
          </p:cNvSpPr>
          <p:nvPr>
            <p:ph type="ftr" idx="11"/>
          </p:nvPr>
        </p:nvSpPr>
        <p:spPr>
          <a:xfrm>
            <a:off x="457200" y="6492875"/>
            <a:ext cx="8065008" cy="283845"/>
          </a:xfrm>
        </p:spPr>
        <p:txBody>
          <a:bodyPr/>
          <a:lstStyle/>
          <a:p>
            <a:r>
              <a:rPr lang="en-US" dirty="0"/>
              <a:t>Dept. of ISE,BMSIT&amp;M                       7th Semester, MAJOR PROJECT PHASE-2 (BCS705) REVIEW ‘1                             AY : 2026-27 </a:t>
            </a:r>
            <a:endParaRPr lang="en-IN" dirty="0"/>
          </a:p>
        </p:txBody>
      </p:sp>
      <p:sp>
        <p:nvSpPr>
          <p:cNvPr id="138" name="TextBox 137"/>
          <p:cNvSpPr txBox="1"/>
          <p:nvPr/>
        </p:nvSpPr>
        <p:spPr>
          <a:xfrm>
            <a:off x="502920" y="1463040"/>
            <a:ext cx="3931920" cy="228600"/>
          </a:xfrm>
          <a:prstGeom prst="rect">
            <a:avLst/>
          </a:prstGeom>
          <a:noFill/>
        </p:spPr>
        <p:txBody>
          <a:bodyPr wrap="square" lIns="0" rIns="0" tIns="0" bIns="0">
            <a:spAutoFit/>
          </a:bodyPr>
          <a:lstStyle/>
          <a:p>
            <a:pPr algn="l"/>
            <a:r>
              <a:rPr sz="1100" b="1" i="0">
                <a:solidFill>
                  <a:srgbClr val="000000"/>
                </a:solidFill>
                <a:latin typeface="Times New Roman"/>
              </a:rPr>
              <a:t>City Katha — a fixed portrait</a:t>
            </a:r>
          </a:p>
        </p:txBody>
      </p:sp>
      <p:sp>
        <p:nvSpPr>
          <p:cNvPr id="139" name="Rectangle 138"/>
          <p:cNvSpPr/>
          <p:nvPr/>
        </p:nvSpPr>
        <p:spPr>
          <a:xfrm>
            <a:off x="502920" y="1737360"/>
            <a:ext cx="3931920" cy="2880360"/>
          </a:xfrm>
          <a:prstGeom prst="rect">
            <a:avLst/>
          </a:prstGeom>
          <a:solidFill>
            <a:srgbClr val="FFFFFF"/>
          </a:solidFill>
          <a:ln w="19050">
            <a:solidFill>
              <a:srgbClr val="526DB0"/>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00" b="0">
                <a:solidFill>
                  <a:srgbClr val="000000"/>
                </a:solidFill>
                <a:latin typeface="Times New Roman"/>
              </a:rPr>
              <a:t>What the city is · how it began · who ruled here · the city today · what it eats · festivals · worth your time · before you come</a:t>
            </a:r>
          </a:p>
          <a:p>
            <a:pPr algn="l"/>
            <a:r>
              <a:rPr sz="900" b="0">
                <a:solidFill>
                  <a:srgbClr val="000000"/>
                </a:solidFill>
                <a:latin typeface="Times New Roman"/>
              </a:rPr>
              <a:t/>
            </a:r>
          </a:p>
          <a:p>
            <a:pPr algn="l"/>
            <a:r>
              <a:rPr sz="900" b="0">
                <a:solidFill>
                  <a:srgbClr val="000000"/>
                </a:solidFill>
                <a:latin typeface="Times New Roman"/>
              </a:rPr>
              <a:t>Each paragraph sits at a tier — 2, 5 or 10 minutes — so a longer Katha is a superset of a shorter one. More minutes means more of the city, never more of the inside of one monument; that lives in the Place Katha behind “Go deeper”.</a:t>
            </a:r>
          </a:p>
          <a:p>
            <a:pPr algn="l"/>
            <a:r>
              <a:rPr sz="900" b="0">
                <a:solidFill>
                  <a:srgbClr val="000000"/>
                </a:solidFill>
                <a:latin typeface="Times New Roman"/>
              </a:rPr>
              <a:t/>
            </a:r>
          </a:p>
          <a:p>
            <a:pPr algn="l"/>
            <a:r>
              <a:rPr sz="900" b="0">
                <a:solidFill>
                  <a:srgbClr val="000000"/>
                </a:solidFill>
                <a:latin typeface="Times New Roman"/>
              </a:rPr>
              <a:t>No retrieval and no randomness on this path: the same city and the same minutes always tell the same story, in the same order. A city we have never seen gets its portrait drafted by the model and labelled.</a:t>
            </a:r>
          </a:p>
        </p:txBody>
      </p:sp>
      <p:sp>
        <p:nvSpPr>
          <p:cNvPr id="140" name="TextBox 139"/>
          <p:cNvSpPr txBox="1"/>
          <p:nvPr/>
        </p:nvSpPr>
        <p:spPr>
          <a:xfrm>
            <a:off x="4709160" y="1463040"/>
            <a:ext cx="3931920" cy="228600"/>
          </a:xfrm>
          <a:prstGeom prst="rect">
            <a:avLst/>
          </a:prstGeom>
          <a:noFill/>
        </p:spPr>
        <p:txBody>
          <a:bodyPr wrap="square" lIns="0" rIns="0" tIns="0" bIns="0">
            <a:spAutoFit/>
          </a:bodyPr>
          <a:lstStyle/>
          <a:p>
            <a:pPr algn="l"/>
            <a:r>
              <a:rPr sz="1100" b="1" i="0">
                <a:solidFill>
                  <a:srgbClr val="000000"/>
                </a:solidFill>
                <a:latin typeface="Times New Roman"/>
              </a:rPr>
              <a:t>Place and Day Kathas, and questions — retrieval</a:t>
            </a:r>
          </a:p>
        </p:txBody>
      </p:sp>
      <p:sp>
        <p:nvSpPr>
          <p:cNvPr id="141" name="Rectangle 140"/>
          <p:cNvSpPr/>
          <p:nvPr/>
        </p:nvSpPr>
        <p:spPr>
          <a:xfrm>
            <a:off x="4709160" y="1737360"/>
            <a:ext cx="3931920" cy="2880360"/>
          </a:xfrm>
          <a:prstGeom prst="rect">
            <a:avLst/>
          </a:prstGeom>
          <a:solidFill>
            <a:srgbClr val="FFFFFF"/>
          </a:solidFill>
          <a:ln w="19050">
            <a:solidFill>
              <a:srgbClr val="DC5924"/>
            </a:solidFill>
          </a:ln>
          <a:effectLst/>
        </p:spPr>
        <p:style>
          <a:lnRef idx="1">
            <a:schemeClr val="accent1"/>
          </a:lnRef>
          <a:fillRef idx="3">
            <a:schemeClr val="accent1"/>
          </a:fillRef>
          <a:effectRef idx="2">
            <a:schemeClr val="accent1"/>
          </a:effectRef>
          <a:fontRef idx="minor">
            <a:schemeClr val="lt1"/>
          </a:fontRef>
        </p:style>
        <p:txBody>
          <a:bodyPr rtlCol="0" anchor="t" wrap="square" lIns="36000" rIns="36000" tIns="54000" bIns="54000"/>
          <a:lstStyle/>
          <a:p>
            <a:pPr algn="l"/>
            <a:r>
              <a:rPr sz="1000" b="0">
                <a:solidFill>
                  <a:srgbClr val="000000"/>
                </a:solidFill>
                <a:latin typeface="Times New Roman"/>
              </a:rPr>
              <a:t>Every paragraph is turned into a list of numbers that captures its meaning, so a question asked in Kannada lands near an answer written in English. A second search matches exact words, for names. The two rankings are merged; below 0.81 similarity with no exact match the guide refuses rather than answers.</a:t>
            </a:r>
          </a:p>
          <a:p>
            <a:pPr algn="l"/>
            <a:r>
              <a:rPr sz="900" b="0">
                <a:solidFill>
                  <a:srgbClr val="000000"/>
                </a:solidFill>
                <a:latin typeface="Times New Roman"/>
              </a:rPr>
              <a:t/>
            </a:r>
          </a:p>
          <a:p>
            <a:pPr algn="l"/>
            <a:r>
              <a:rPr sz="900" b="0">
                <a:solidFill>
                  <a:srgbClr val="000000"/>
                </a:solidFill>
                <a:latin typeface="Times New Roman"/>
              </a:rPr>
              <a:t>After the model writes a paragraph, every date, number and name is checked against the source it was given. Anything of its own is thrown away and the model tries once more; if that fails too, the source text is spoken as it is.</a:t>
            </a:r>
          </a:p>
          <a:p>
            <a:pPr algn="l"/>
            <a:r>
              <a:rPr sz="900" b="0">
                <a:solidFill>
                  <a:srgbClr val="000000"/>
                </a:solidFill>
                <a:latin typeface="Times New Roman"/>
              </a:rPr>
              <a:t/>
            </a:r>
          </a:p>
          <a:p>
            <a:pPr algn="l"/>
            <a:r>
              <a:rPr sz="900" b="0">
                <a:solidFill>
                  <a:srgbClr val="000000"/>
                </a:solidFill>
                <a:latin typeface="Times New Roman"/>
              </a:rPr>
              <a:t>Speech is Sarvam, served from our own cache for the demo.</a:t>
            </a:r>
          </a:p>
        </p:txBody>
      </p:sp>
      <p:sp>
        <p:nvSpPr>
          <p:cNvPr id="142" name="TextBox 141"/>
          <p:cNvSpPr txBox="1"/>
          <p:nvPr/>
        </p:nvSpPr>
        <p:spPr>
          <a:xfrm>
            <a:off x="502920" y="4800600"/>
            <a:ext cx="8138160" cy="457200"/>
          </a:xfrm>
          <a:prstGeom prst="rect">
            <a:avLst/>
          </a:prstGeom>
          <a:noFill/>
        </p:spPr>
        <p:txBody>
          <a:bodyPr wrap="square" lIns="0" rIns="0" tIns="0" bIns="0">
            <a:spAutoFit/>
          </a:bodyPr>
          <a:lstStyle/>
          <a:p>
            <a:pPr algn="l"/>
            <a:r>
              <a:rPr sz="900" b="0" i="1">
                <a:solidFill>
                  <a:srgbClr val="7A7A7A"/>
                </a:solidFill>
                <a:latin typeface="Times New Roman"/>
              </a:rPr>
              <a:t>For the record: pgvector HNSW for the meaning search, tsvector for the exact words, reciprocal rank fusion (k = 60), multilingual-e5-small (384 dimensions), google/gemini-3.1-flash-lite for narration.</a:t>
            </a:r>
          </a:p>
        </p:txBody>
      </p:sp>
      <p:sp>
        <p:nvSpPr>
          <p:cNvPr id="143" name="TextBox 142"/>
          <p:cNvSpPr txBox="1"/>
          <p:nvPr/>
        </p:nvSpPr>
        <p:spPr>
          <a:xfrm>
            <a:off x="502920" y="5303520"/>
            <a:ext cx="8138160" cy="640080"/>
          </a:xfrm>
          <a:prstGeom prst="rect">
            <a:avLst/>
          </a:prstGeom>
          <a:noFill/>
        </p:spPr>
        <p:txBody>
          <a:bodyPr wrap="square" lIns="0" rIns="0" tIns="0" bIns="0">
            <a:spAutoFit/>
          </a:bodyPr>
          <a:lstStyle/>
          <a:p>
            <a:pPr algn="l"/>
            <a:r>
              <a:rPr sz="1000" b="0" i="1">
                <a:solidFill>
                  <a:srgbClr val="333333"/>
                </a:solidFill>
                <a:latin typeface="Times New Roman"/>
              </a:rPr>
              <a:t>Rhythm rules for a Place or Day Katha: a paragraph never repeats; it opens on a hook or a story when there is one; five minutes or more carries at least one story.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 (contd. 2/3)</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12b-plan-chat-edit.png"/>
          <p:cNvPicPr>
            <a:picLocks noChangeAspect="1"/>
          </p:cNvPicPr>
          <p:nvPr/>
        </p:nvPicPr>
        <p:blipFill>
          <a:blip r:embed="rId2"/>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A chat edit rebuilds Day 2 only; Days 1 and 3 untouched, and the reply says so.</a:t>
            </a:r>
          </a:p>
        </p:txBody>
      </p:sp>
      <p:pic>
        <p:nvPicPr>
          <p:cNvPr id="160" name="Picture 159" descr="17b-katha-city.png"/>
          <p:cNvPicPr>
            <a:picLocks noChangeAspect="1"/>
          </p:cNvPicPr>
          <p:nvPr/>
        </p:nvPicPr>
        <p:blipFill>
          <a:blip r:embed="rId3"/>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Mysuru city Katha at 2 minutes: a fixed portrait, no type labels, a source per paragraph.</a:t>
            </a:r>
          </a:p>
        </p:txBody>
      </p:sp>
      <p:pic>
        <p:nvPicPr>
          <p:cNvPr id="162" name="Picture 161" descr="14b-katha-place.png"/>
          <p:cNvPicPr>
            <a:picLocks noChangeAspect="1"/>
          </p:cNvPicPr>
          <p:nvPr/>
        </p:nvPicPr>
        <p:blipFill>
          <a:blip r:embed="rId4"/>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Place Katha for Mysore Palace, with the depth picker; monument interiors live here.</a:t>
            </a:r>
          </a:p>
        </p:txBody>
      </p:sp>
      <p:pic>
        <p:nvPicPr>
          <p:cNvPr id="164" name="Picture 163" descr="15b-katha-home.png"/>
          <p:cNvPicPr>
            <a:picLocks noChangeAspect="1"/>
          </p:cNvPicPr>
          <p:nvPr/>
        </p:nvPicPr>
        <p:blipFill>
          <a:blip r:embed="rId5"/>
          <a:stretch>
            <a:fillRect/>
          </a:stretch>
        </p:blipFill>
        <p:spPr>
          <a:xfrm>
            <a:off x="4572000" y="3675887"/>
            <a:ext cx="3611880" cy="2257425"/>
          </a:xfrm>
          <a:prstGeom prst="rect">
            <a:avLst/>
          </a:prstGeom>
          <a:ln w="9525">
            <a:solidFill>
              <a:srgbClr val="7A7A7A"/>
            </a:solidFill>
          </a:ln>
        </p:spPr>
      </p:pic>
      <p:sp>
        <p:nvSpPr>
          <p:cNvPr id="165" name="TextBox 164"/>
          <p:cNvSpPr txBox="1"/>
          <p:nvPr/>
        </p:nvSpPr>
        <p:spPr>
          <a:xfrm>
            <a:off x="457200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Katha home: one pin per region with its place count, on real tiles.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57" name="Google Shape;157;g3a64a40ef39_2_30"/>
          <p:cNvSpPr txBox="1">
            <a:spLocks noGrp="1"/>
          </p:cNvSpPr>
          <p:nvPr>
            <p:ph type="title"/>
          </p:nvPr>
        </p:nvSpPr>
        <p:spPr>
          <a:xfrm>
            <a:off x="457200" y="155448"/>
            <a:ext cx="8467344" cy="658368"/>
          </a:xfrm>
          <a:prstGeom prst="rect">
            <a:avLst/>
          </a:prstGeom>
        </p:spPr>
        <p:txBody>
          <a:bodyPr spcFirstLastPara="1" wrap="square" lIns="91425" tIns="45700" rIns="91425" bIns="45700" anchor="b" anchorCtr="0">
            <a:normAutofit/>
          </a:bodyPr>
          <a:lstStyle/>
          <a:p>
            <a:pPr marL="0" lvl="0" indent="0" algn="l" rtl="0">
              <a:lnSpc>
                <a:spcPct val="120000"/>
              </a:lnSpc>
              <a:spcBef>
                <a:spcPts val="1118"/>
              </a:spcBef>
              <a:spcAft>
                <a:spcPts val="0"/>
              </a:spcAft>
              <a:buNone/>
            </a:pPr>
            <a:r>
              <a:rPr lang="en-IN" sz="2400" b="1" dirty="0">
                <a:solidFill>
                  <a:schemeClr val="bg2"/>
                </a:solidFill>
                <a:latin typeface="Times New Roman" panose="02020603050405020304" pitchFamily="18" charset="0"/>
                <a:ea typeface="Bookman Old Style"/>
                <a:cs typeface="Times New Roman" panose="02020603050405020304" pitchFamily="18" charset="0"/>
                <a:sym typeface="Bookman Old Style"/>
              </a:rPr>
              <a:t>DEMONSTRATION OF PROJECT EXECUTION (contd. 3/3)</a:t>
            </a:r>
            <a:endParaRPr lang="en-IN" dirty="0">
              <a:solidFill>
                <a:schemeClr val="bg2"/>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55FDBD6-0110-1520-ABF8-F9C077D79D8A}"/>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8</a:t>
            </a:fld>
            <a:endParaRPr lang="en-IN"/>
          </a:p>
        </p:txBody>
      </p:sp>
      <p:sp>
        <p:nvSpPr>
          <p:cNvPr id="5" name="Footer Placeholder 4">
            <a:extLst>
              <a:ext uri="{FF2B5EF4-FFF2-40B4-BE49-F238E27FC236}">
                <a16:creationId xmlns:a16="http://schemas.microsoft.com/office/drawing/2014/main" id="{6E93C23F-4D2B-57A9-1A85-3DA16F71FCF3}"/>
              </a:ext>
            </a:extLst>
          </p:cNvPr>
          <p:cNvSpPr>
            <a:spLocks noGrp="1"/>
          </p:cNvSpPr>
          <p:nvPr>
            <p:ph type="ftr" idx="11"/>
          </p:nvPr>
        </p:nvSpPr>
        <p:spPr>
          <a:xfrm>
            <a:off x="457200" y="6492875"/>
            <a:ext cx="8119872" cy="283845"/>
          </a:xfrm>
        </p:spPr>
        <p:txBody>
          <a:bodyPr/>
          <a:lstStyle/>
          <a:p>
            <a:r>
              <a:rPr lang="en-US" dirty="0"/>
              <a:t>Dept. of ISE,BMSIT&amp;M                       7th Semester, MAJOR PROJECT PHASE-2 (BCS705) REVIEW ‘1                             AY : 2026-27 </a:t>
            </a:r>
            <a:endParaRPr lang="en-IN" dirty="0"/>
          </a:p>
        </p:txBody>
      </p:sp>
      <p:pic>
        <p:nvPicPr>
          <p:cNvPr id="158" name="Picture 157" descr="07c-building-coldstart.png"/>
          <p:cNvPicPr>
            <a:picLocks noChangeAspect="1"/>
          </p:cNvPicPr>
          <p:nvPr/>
        </p:nvPicPr>
        <p:blipFill>
          <a:blip r:embed="rId2"/>
          <a:stretch>
            <a:fillRect/>
          </a:stretch>
        </p:blipFill>
        <p:spPr>
          <a:xfrm>
            <a:off x="502920" y="1005840"/>
            <a:ext cx="3611880" cy="2257425"/>
          </a:xfrm>
          <a:prstGeom prst="rect">
            <a:avLst/>
          </a:prstGeom>
          <a:ln w="9525">
            <a:solidFill>
              <a:srgbClr val="7A7A7A"/>
            </a:solidFill>
          </a:ln>
        </p:spPr>
      </p:pic>
      <p:sp>
        <p:nvSpPr>
          <p:cNvPr id="159" name="TextBox 158"/>
          <p:cNvSpPr txBox="1"/>
          <p:nvPr/>
        </p:nvSpPr>
        <p:spPr>
          <a:xfrm>
            <a:off x="50292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Mangalore, never seen before: 23 places drafted in 32 s, labelled unverified.</a:t>
            </a:r>
          </a:p>
        </p:txBody>
      </p:sp>
      <p:pic>
        <p:nvPicPr>
          <p:cNvPr id="160" name="Picture 159" descr="09c-plan-mangalore.png"/>
          <p:cNvPicPr>
            <a:picLocks noChangeAspect="1"/>
          </p:cNvPicPr>
          <p:nvPr/>
        </p:nvPicPr>
        <p:blipFill>
          <a:blip r:embed="rId3"/>
          <a:stretch>
            <a:fillRect/>
          </a:stretch>
        </p:blipFill>
        <p:spPr>
          <a:xfrm>
            <a:off x="4572000" y="1005840"/>
            <a:ext cx="3611880" cy="2257425"/>
          </a:xfrm>
          <a:prstGeom prst="rect">
            <a:avLst/>
          </a:prstGeom>
          <a:ln w="9525">
            <a:solidFill>
              <a:srgbClr val="7A7A7A"/>
            </a:solidFill>
          </a:ln>
        </p:spPr>
      </p:pic>
      <p:sp>
        <p:nvSpPr>
          <p:cNvPr id="161" name="TextBox 160"/>
          <p:cNvSpPr txBox="1"/>
          <p:nvPr/>
        </p:nvSpPr>
        <p:spPr>
          <a:xfrm>
            <a:off x="4572000" y="3299841"/>
            <a:ext cx="3611880" cy="347472"/>
          </a:xfrm>
          <a:prstGeom prst="rect">
            <a:avLst/>
          </a:prstGeom>
          <a:noFill/>
        </p:spPr>
        <p:txBody>
          <a:bodyPr wrap="square" lIns="0" rIns="0" tIns="0" bIns="0">
            <a:spAutoFit/>
          </a:bodyPr>
          <a:lstStyle/>
          <a:p>
            <a:pPr algn="l"/>
            <a:r>
              <a:rPr sz="950" b="0" i="0">
                <a:solidFill>
                  <a:srgbClr val="333333"/>
                </a:solidFill>
                <a:latin typeface="Times New Roman"/>
              </a:rPr>
              <a:t>The Mangalore plan: our solver scheduled the draft; each stop says “AI-drafted · unverified”.</a:t>
            </a:r>
          </a:p>
        </p:txBody>
      </p:sp>
      <p:pic>
        <p:nvPicPr>
          <p:cNvPr id="162" name="Picture 161" descr="19c-doesnt-fit.png"/>
          <p:cNvPicPr>
            <a:picLocks noChangeAspect="1"/>
          </p:cNvPicPr>
          <p:nvPr/>
        </p:nvPicPr>
        <p:blipFill>
          <a:blip r:embed="rId4"/>
          <a:stretch>
            <a:fillRect/>
          </a:stretch>
        </p:blipFill>
        <p:spPr>
          <a:xfrm>
            <a:off x="502920" y="3675887"/>
            <a:ext cx="3611880" cy="2257425"/>
          </a:xfrm>
          <a:prstGeom prst="rect">
            <a:avLst/>
          </a:prstGeom>
          <a:ln w="9525">
            <a:solidFill>
              <a:srgbClr val="7A7A7A"/>
            </a:solidFill>
          </a:ln>
        </p:spPr>
      </p:pic>
      <p:sp>
        <p:nvSpPr>
          <p:cNvPr id="163" name="TextBox 162"/>
          <p:cNvSpPr txBox="1"/>
          <p:nvPr/>
        </p:nvSpPr>
        <p:spPr>
          <a:xfrm>
            <a:off x="502920" y="5969889"/>
            <a:ext cx="3611880" cy="347472"/>
          </a:xfrm>
          <a:prstGeom prst="rect">
            <a:avLst/>
          </a:prstGeom>
          <a:noFill/>
        </p:spPr>
        <p:txBody>
          <a:bodyPr wrap="square" lIns="0" rIns="0" tIns="0" bIns="0">
            <a:spAutoFit/>
          </a:bodyPr>
          <a:lstStyle/>
          <a:p>
            <a:pPr algn="l"/>
            <a:r>
              <a:rPr sz="950" b="0" i="0">
                <a:solidFill>
                  <a:srgbClr val="333333"/>
                </a:solidFill>
                <a:latin typeface="Times New Roman"/>
              </a:rPr>
              <a:t>Mysuru and Hampi in one day: refused with the arithmetic and two buildable alternatives.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4" name="Google Shape;164;g3a64a40ef39_2_37"/>
          <p:cNvSpPr txBox="1">
            <a:spLocks noGrp="1"/>
          </p:cNvSpPr>
          <p:nvPr>
            <p:ph type="title"/>
          </p:nvPr>
        </p:nvSpPr>
        <p:spPr>
          <a:xfrm>
            <a:off x="457200" y="155448"/>
            <a:ext cx="8193024" cy="603504"/>
          </a:xfrm>
          <a:prstGeom prst="rect">
            <a:avLst/>
          </a:prstGeom>
        </p:spPr>
        <p:txBody>
          <a:bodyPr spcFirstLastPara="1" wrap="square" lIns="91425" tIns="45700" rIns="91425" bIns="45700" anchor="t" anchorCtr="0">
            <a:normAutofit/>
          </a:bodyPr>
          <a:lstStyle/>
          <a:p>
            <a:pPr algn="l"/>
            <a:r>
              <a:rPr lang="en-IN" sz="2400" b="1" i="0" dirty="0">
                <a:solidFill>
                  <a:schemeClr val="bg2"/>
                </a:solidFill>
                <a:effectLst/>
                <a:latin typeface="Times New Roman" panose="02020603050405020304" pitchFamily="18" charset="0"/>
                <a:cs typeface="Times New Roman" panose="02020603050405020304" pitchFamily="18" charset="0"/>
              </a:rPr>
              <a:t>Experimental Setup, Results &amp; Analysis (contd.)</a:t>
            </a:r>
          </a:p>
        </p:txBody>
      </p:sp>
      <p:sp>
        <p:nvSpPr>
          <p:cNvPr id="5" name="Footer Placeholder 4">
            <a:extLst>
              <a:ext uri="{FF2B5EF4-FFF2-40B4-BE49-F238E27FC236}">
                <a16:creationId xmlns:a16="http://schemas.microsoft.com/office/drawing/2014/main" id="{A4487834-DEF6-FACB-92D2-96A8CFCC7AE5}"/>
              </a:ext>
            </a:extLst>
          </p:cNvPr>
          <p:cNvSpPr>
            <a:spLocks noGrp="1"/>
          </p:cNvSpPr>
          <p:nvPr>
            <p:ph type="ftr" idx="11"/>
          </p:nvPr>
        </p:nvSpPr>
        <p:spPr>
          <a:xfrm>
            <a:off x="457200" y="6492875"/>
            <a:ext cx="8037576"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09715EE9-9EC8-D6D1-7398-7FB1E6CB3F5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9</a:t>
            </a:fld>
            <a:endParaRPr lang="en-IN"/>
          </a:p>
        </p:txBody>
      </p:sp>
      <p:sp>
        <p:nvSpPr>
          <p:cNvPr id="165" name="TextBox 164"/>
          <p:cNvSpPr txBox="1"/>
          <p:nvPr/>
        </p:nvSpPr>
        <p:spPr>
          <a:xfrm>
            <a:off x="502920" y="914400"/>
            <a:ext cx="5120640" cy="228600"/>
          </a:xfrm>
          <a:prstGeom prst="rect">
            <a:avLst/>
          </a:prstGeom>
          <a:noFill/>
        </p:spPr>
        <p:txBody>
          <a:bodyPr wrap="square" lIns="0" rIns="0" tIns="0" bIns="0">
            <a:spAutoFit/>
          </a:bodyPr>
          <a:lstStyle/>
          <a:p>
            <a:pPr algn="l"/>
            <a:r>
              <a:rPr sz="1150" b="1" i="0">
                <a:solidFill>
                  <a:srgbClr val="000000"/>
                </a:solidFill>
                <a:latin typeface="Times New Roman"/>
              </a:rPr>
              <a:t>Retrieval — Recall@5, re-measured today (eval_run 10)</a:t>
            </a:r>
          </a:p>
        </p:txBody>
      </p:sp>
      <p:graphicFrame>
        <p:nvGraphicFramePr>
          <p:cNvPr id="166" name="Table 165"/>
          <p:cNvGraphicFramePr>
            <a:graphicFrameLocks noGrp="1"/>
          </p:cNvGraphicFramePr>
          <p:nvPr/>
        </p:nvGraphicFramePr>
        <p:xfrm>
          <a:off x="502920" y="1188720"/>
          <a:ext cx="5074920" cy="950976"/>
        </p:xfrm>
        <a:graphic>
          <a:graphicData uri="http://schemas.openxmlformats.org/drawingml/2006/table">
            <a:tbl>
              <a:tblPr firstRow="1" bandRow="1">
                <a:tableStyleId>{5C22544A-7EE6-4342-B048-85BDC9FD1C3A}</a:tableStyleId>
              </a:tblPr>
              <a:tblGrid>
                <a:gridCol w="1600200"/>
                <a:gridCol w="960120"/>
                <a:gridCol w="1143000"/>
                <a:gridCol w="685800"/>
                <a:gridCol w="685800"/>
              </a:tblGrid>
              <a:tr h="237744">
                <a:tc>
                  <a:txBody>
                    <a:bodyPr/>
                    <a:lstStyle/>
                    <a:p>
                      <a:pPr algn="l"/>
                      <a:r>
                        <a:rPr sz="950" b="1">
                          <a:latin typeface="Times New Roman"/>
                        </a:rPr>
                        <a:t>Method</a:t>
                      </a:r>
                    </a:p>
                  </a:txBody>
                  <a:tcPr marL="54000" marR="36000" marT="9000" marB="9000" anchor="ctr"/>
                </a:tc>
                <a:tc>
                  <a:txBody>
                    <a:bodyPr/>
                    <a:lstStyle/>
                    <a:p>
                      <a:pPr algn="ctr"/>
                      <a:r>
                        <a:rPr sz="950" b="1">
                          <a:latin typeface="Times New Roman"/>
                        </a:rPr>
                        <a:t>30 questions</a:t>
                      </a:r>
                    </a:p>
                  </a:txBody>
                  <a:tcPr marL="54000" marR="36000" marT="9000" marB="9000" anchor="ctr"/>
                </a:tc>
                <a:tc>
                  <a:txBody>
                    <a:bodyPr/>
                    <a:lstStyle/>
                    <a:p>
                      <a:pPr algn="ctr"/>
                      <a:r>
                        <a:rPr sz="950" b="1">
                          <a:latin typeface="Times New Roman"/>
                        </a:rPr>
                        <a:t>10 name lookups</a:t>
                      </a:r>
                    </a:p>
                  </a:txBody>
                  <a:tcPr marL="54000" marR="36000" marT="9000" marB="9000" anchor="ctr"/>
                </a:tc>
                <a:tc>
                  <a:txBody>
                    <a:bodyPr/>
                    <a:lstStyle/>
                    <a:p>
                      <a:pPr algn="ctr"/>
                      <a:r>
                        <a:rPr sz="950" b="1">
                          <a:latin typeface="Times New Roman"/>
                        </a:rPr>
                        <a:t>Kannada</a:t>
                      </a:r>
                    </a:p>
                  </a:txBody>
                  <a:tcPr marL="54000" marR="36000" marT="9000" marB="9000" anchor="ctr"/>
                </a:tc>
                <a:tc>
                  <a:txBody>
                    <a:bodyPr/>
                    <a:lstStyle/>
                    <a:p>
                      <a:pPr algn="ctr"/>
                      <a:r>
                        <a:rPr sz="950" b="1">
                          <a:latin typeface="Times New Roman"/>
                        </a:rPr>
                        <a:t>p50</a:t>
                      </a:r>
                    </a:p>
                  </a:txBody>
                  <a:tcPr marL="54000" marR="36000" marT="9000" marB="9000" anchor="ctr"/>
                </a:tc>
              </a:tr>
              <a:tr h="237744">
                <a:tc>
                  <a:txBody>
                    <a:bodyPr/>
                    <a:lstStyle/>
                    <a:p>
                      <a:pPr algn="l"/>
                      <a:r>
                        <a:rPr sz="950" b="0">
                          <a:latin typeface="Times New Roman"/>
                        </a:rPr>
                        <a:t>Dense (pgvector, e5)</a:t>
                      </a:r>
                    </a:p>
                  </a:txBody>
                  <a:tcPr marL="54000" marR="36000" marT="9000" marB="9000" anchor="ctr"/>
                </a:tc>
                <a:tc>
                  <a:txBody>
                    <a:bodyPr/>
                    <a:lstStyle/>
                    <a:p>
                      <a:pPr algn="ctr"/>
                      <a:r>
                        <a:rPr sz="950" b="0">
                          <a:latin typeface="Times New Roman"/>
                        </a:rPr>
                        <a:t>0.867</a:t>
                      </a:r>
                    </a:p>
                  </a:txBody>
                  <a:tcPr marL="54000" marR="36000" marT="9000" marB="9000" anchor="ctr"/>
                </a:tc>
                <a:tc>
                  <a:txBody>
                    <a:bodyPr/>
                    <a:lstStyle/>
                    <a:p>
                      <a:pPr algn="ctr"/>
                      <a:r>
                        <a:rPr sz="950" b="0">
                          <a:latin typeface="Times New Roman"/>
                        </a:rPr>
                        <a:t>0.900</a:t>
                      </a:r>
                    </a:p>
                  </a:txBody>
                  <a:tcPr marL="54000" marR="36000" marT="9000" marB="9000" anchor="ctr"/>
                </a:tc>
                <a:tc>
                  <a:txBody>
                    <a:bodyPr/>
                    <a:lstStyle/>
                    <a:p>
                      <a:pPr algn="ctr"/>
                      <a:r>
                        <a:rPr sz="950" b="0">
                          <a:latin typeface="Times New Roman"/>
                        </a:rPr>
                        <a:t>0.833</a:t>
                      </a:r>
                    </a:p>
                  </a:txBody>
                  <a:tcPr marL="54000" marR="36000" marT="9000" marB="9000" anchor="ctr"/>
                </a:tc>
                <a:tc>
                  <a:txBody>
                    <a:bodyPr/>
                    <a:lstStyle/>
                    <a:p>
                      <a:pPr algn="ctr"/>
                      <a:r>
                        <a:rPr sz="950" b="0">
                          <a:latin typeface="Times New Roman"/>
                        </a:rPr>
                        <a:t>69 ms</a:t>
                      </a:r>
                    </a:p>
                  </a:txBody>
                  <a:tcPr marL="54000" marR="36000" marT="9000" marB="9000" anchor="ctr"/>
                </a:tc>
              </a:tr>
              <a:tr h="237744">
                <a:tc>
                  <a:txBody>
                    <a:bodyPr/>
                    <a:lstStyle/>
                    <a:p>
                      <a:pPr algn="l"/>
                      <a:r>
                        <a:rPr sz="950" b="0">
                          <a:latin typeface="Times New Roman"/>
                        </a:rPr>
                        <a:t>Lexical (tsvector)</a:t>
                      </a:r>
                    </a:p>
                  </a:txBody>
                  <a:tcPr marL="54000" marR="36000" marT="9000" marB="9000" anchor="ctr"/>
                </a:tc>
                <a:tc>
                  <a:txBody>
                    <a:bodyPr/>
                    <a:lstStyle/>
                    <a:p>
                      <a:pPr algn="ctr"/>
                      <a:r>
                        <a:rPr sz="950" b="0">
                          <a:latin typeface="Times New Roman"/>
                        </a:rPr>
                        <a:t>0.600</a:t>
                      </a:r>
                    </a:p>
                  </a:txBody>
                  <a:tcPr marL="54000" marR="36000" marT="9000" marB="9000" anchor="ctr"/>
                </a:tc>
                <a:tc>
                  <a:txBody>
                    <a:bodyPr/>
                    <a:lstStyle/>
                    <a:p>
                      <a:pPr algn="ctr"/>
                      <a:r>
                        <a:rPr sz="950" b="0">
                          <a:latin typeface="Times New Roman"/>
                        </a:rPr>
                        <a:t>0.900</a:t>
                      </a:r>
                    </a:p>
                  </a:txBody>
                  <a:tcPr marL="54000" marR="36000" marT="9000" marB="9000" anchor="ctr"/>
                </a:tc>
                <a:tc>
                  <a:txBody>
                    <a:bodyPr/>
                    <a:lstStyle/>
                    <a:p>
                      <a:pPr algn="ctr"/>
                      <a:r>
                        <a:rPr sz="950" b="0">
                          <a:latin typeface="Times New Roman"/>
                        </a:rPr>
                        <a:t>0.167</a:t>
                      </a:r>
                    </a:p>
                  </a:txBody>
                  <a:tcPr marL="54000" marR="36000" marT="9000" marB="9000" anchor="ctr"/>
                </a:tc>
                <a:tc>
                  <a:txBody>
                    <a:bodyPr/>
                    <a:lstStyle/>
                    <a:p>
                      <a:pPr algn="ctr"/>
                      <a:r>
                        <a:rPr sz="950" b="0">
                          <a:latin typeface="Times New Roman"/>
                        </a:rPr>
                        <a:t>57 ms</a:t>
                      </a:r>
                    </a:p>
                  </a:txBody>
                  <a:tcPr marL="54000" marR="36000" marT="9000" marB="9000" anchor="ctr"/>
                </a:tc>
              </a:tr>
              <a:tr h="237744">
                <a:tc>
                  <a:txBody>
                    <a:bodyPr/>
                    <a:lstStyle/>
                    <a:p>
                      <a:pPr algn="l"/>
                      <a:r>
                        <a:rPr sz="950" b="0">
                          <a:latin typeface="Times New Roman"/>
                        </a:rPr>
                        <a:t>Hybrid + RRF</a:t>
                      </a:r>
                    </a:p>
                  </a:txBody>
                  <a:tcPr marL="54000" marR="36000" marT="9000" marB="9000" anchor="ctr"/>
                </a:tc>
                <a:tc>
                  <a:txBody>
                    <a:bodyPr/>
                    <a:lstStyle/>
                    <a:p>
                      <a:pPr algn="ctr"/>
                      <a:r>
                        <a:rPr sz="950" b="0">
                          <a:latin typeface="Times New Roman"/>
                        </a:rPr>
                        <a:t>0.867</a:t>
                      </a:r>
                    </a:p>
                  </a:txBody>
                  <a:tcPr marL="54000" marR="36000" marT="9000" marB="9000" anchor="ctr"/>
                </a:tc>
                <a:tc>
                  <a:txBody>
                    <a:bodyPr/>
                    <a:lstStyle/>
                    <a:p>
                      <a:pPr algn="ctr"/>
                      <a:r>
                        <a:rPr sz="950" b="0">
                          <a:latin typeface="Times New Roman"/>
                        </a:rPr>
                        <a:t>0.900</a:t>
                      </a:r>
                    </a:p>
                  </a:txBody>
                  <a:tcPr marL="54000" marR="36000" marT="9000" marB="9000" anchor="ctr"/>
                </a:tc>
                <a:tc>
                  <a:txBody>
                    <a:bodyPr/>
                    <a:lstStyle/>
                    <a:p>
                      <a:pPr algn="ctr"/>
                      <a:r>
                        <a:rPr sz="950" b="0">
                          <a:latin typeface="Times New Roman"/>
                        </a:rPr>
                        <a:t>0.833</a:t>
                      </a:r>
                    </a:p>
                  </a:txBody>
                  <a:tcPr marL="54000" marR="36000" marT="9000" marB="9000" anchor="ctr"/>
                </a:tc>
                <a:tc>
                  <a:txBody>
                    <a:bodyPr/>
                    <a:lstStyle/>
                    <a:p>
                      <a:pPr algn="ctr"/>
                      <a:r>
                        <a:rPr sz="950" b="0">
                          <a:latin typeface="Times New Roman"/>
                        </a:rPr>
                        <a:t>129 ms</a:t>
                      </a:r>
                    </a:p>
                  </a:txBody>
                  <a:tcPr marL="54000" marR="36000" marT="9000" marB="9000" anchor="ctr"/>
                </a:tc>
              </a:tr>
            </a:tbl>
          </a:graphicData>
        </a:graphic>
      </p:graphicFrame>
      <p:sp>
        <p:nvSpPr>
          <p:cNvPr id="167" name="TextBox 166"/>
          <p:cNvSpPr txBox="1"/>
          <p:nvPr/>
        </p:nvSpPr>
        <p:spPr>
          <a:xfrm>
            <a:off x="502920" y="2377440"/>
            <a:ext cx="5074920" cy="1325880"/>
          </a:xfrm>
          <a:prstGeom prst="rect">
            <a:avLst/>
          </a:prstGeom>
          <a:noFill/>
        </p:spPr>
        <p:txBody>
          <a:bodyPr wrap="square" lIns="0" rIns="0" tIns="0" bIns="0">
            <a:spAutoFit/>
          </a:bodyPr>
          <a:lstStyle/>
          <a:p>
            <a:pPr algn="l"/>
            <a:r>
              <a:rPr sz="1000" b="0" i="0">
                <a:solidFill>
                  <a:srgbClr val="000000"/>
                </a:solidFill>
                <a:latin typeface="Times New Roman"/>
              </a:rPr>
              <a:t>Reported honestly: hybrid retrieval tied dense rather than beating it, at nearly twice the latency. We keep it for one measured reason — on exact names the word search is as good as the meaning search (0.900 against 0.900) at less than half the time, which is how a traveller actually looks for a monument — and the meaning search carries Kannada (0.833 against 0.167), where the English index has almost nothing to match.</a:t>
            </a:r>
          </a:p>
        </p:txBody>
      </p:sp>
      <p:sp>
        <p:nvSpPr>
          <p:cNvPr id="168" name="TextBox 167"/>
          <p:cNvSpPr txBox="1"/>
          <p:nvPr/>
        </p:nvSpPr>
        <p:spPr>
          <a:xfrm>
            <a:off x="502920" y="3703320"/>
            <a:ext cx="5074920" cy="1143000"/>
          </a:xfrm>
          <a:prstGeom prst="rect">
            <a:avLst/>
          </a:prstGeom>
          <a:noFill/>
        </p:spPr>
        <p:txBody>
          <a:bodyPr wrap="square" lIns="0" rIns="0" tIns="0" bIns="0">
            <a:spAutoFit/>
          </a:bodyPr>
          <a:lstStyle/>
          <a:p>
            <a:pPr algn="l"/>
            <a:r>
              <a:rPr sz="1000" b="1" i="0">
                <a:solidFill>
                  <a:srgbClr val="000000"/>
                </a:solidFill>
                <a:latin typeface="Times New Roman"/>
              </a:rPr>
              <a:t>Also reported: Recall@5 fell from 0.933 to 0.867 when the hand-written corpus was merged in, and was not tuned back. Re-measured after today's city portrait layer: Recall@5 unchanged, MRR 0.772 → 0.753, p50 110 → 129 ms. The numbers stand as measured.</a:t>
            </a:r>
          </a:p>
        </p:txBody>
      </p:sp>
      <p:sp>
        <p:nvSpPr>
          <p:cNvPr id="169" name="TextBox 168"/>
          <p:cNvSpPr txBox="1"/>
          <p:nvPr/>
        </p:nvSpPr>
        <p:spPr>
          <a:xfrm>
            <a:off x="5806440" y="914400"/>
            <a:ext cx="2834640" cy="228600"/>
          </a:xfrm>
          <a:prstGeom prst="rect">
            <a:avLst/>
          </a:prstGeom>
          <a:noFill/>
        </p:spPr>
        <p:txBody>
          <a:bodyPr wrap="square" lIns="0" rIns="0" tIns="0" bIns="0">
            <a:spAutoFit/>
          </a:bodyPr>
          <a:lstStyle/>
          <a:p>
            <a:pPr algn="l"/>
            <a:r>
              <a:rPr sz="1150" b="1" i="0">
                <a:solidFill>
                  <a:srgbClr val="000000"/>
                </a:solidFill>
                <a:latin typeface="Times New Roman"/>
              </a:rPr>
              <a:t>Grounding, refusal, tests</a:t>
            </a:r>
          </a:p>
        </p:txBody>
      </p:sp>
      <p:graphicFrame>
        <p:nvGraphicFramePr>
          <p:cNvPr id="170" name="Table 169"/>
          <p:cNvGraphicFramePr>
            <a:graphicFrameLocks noGrp="1"/>
          </p:cNvGraphicFramePr>
          <p:nvPr/>
        </p:nvGraphicFramePr>
        <p:xfrm>
          <a:off x="5806440" y="1188720"/>
          <a:ext cx="2834639" cy="950976"/>
        </p:xfrm>
        <a:graphic>
          <a:graphicData uri="http://schemas.openxmlformats.org/drawingml/2006/table">
            <a:tbl>
              <a:tblPr firstRow="1" bandRow="1">
                <a:tableStyleId>{5C22544A-7EE6-4342-B048-85BDC9FD1C3A}</a:tableStyleId>
              </a:tblPr>
              <a:tblGrid>
                <a:gridCol w="1874519"/>
                <a:gridCol w="960120"/>
              </a:tblGrid>
              <a:tr h="237744">
                <a:tc>
                  <a:txBody>
                    <a:bodyPr/>
                    <a:lstStyle/>
                    <a:p>
                      <a:pPr algn="l"/>
                      <a:r>
                        <a:rPr sz="1000" b="1">
                          <a:latin typeface="Times New Roman"/>
                        </a:rPr>
                        <a:t>Measure</a:t>
                      </a:r>
                    </a:p>
                  </a:txBody>
                  <a:tcPr marL="54000" marR="36000" marT="9000" marB="9000" anchor="ctr"/>
                </a:tc>
                <a:tc>
                  <a:txBody>
                    <a:bodyPr/>
                    <a:lstStyle/>
                    <a:p>
                      <a:pPr algn="ctr"/>
                      <a:r>
                        <a:rPr sz="1000" b="1">
                          <a:latin typeface="Times New Roman"/>
                        </a:rPr>
                        <a:t>Result</a:t>
                      </a:r>
                    </a:p>
                  </a:txBody>
                  <a:tcPr marL="54000" marR="36000" marT="9000" marB="9000" anchor="ctr"/>
                </a:tc>
              </a:tr>
              <a:tr h="237744">
                <a:tc>
                  <a:txBody>
                    <a:bodyPr/>
                    <a:lstStyle/>
                    <a:p>
                      <a:pPr algn="l"/>
                      <a:r>
                        <a:rPr sz="1000" b="0">
                          <a:latin typeface="Times New Roman"/>
                        </a:rPr>
                        <a:t>Narrated segments passing the check</a:t>
                      </a:r>
                    </a:p>
                  </a:txBody>
                  <a:tcPr marL="54000" marR="36000" marT="9000" marB="9000" anchor="ctr"/>
                </a:tc>
                <a:tc>
                  <a:txBody>
                    <a:bodyPr/>
                    <a:lstStyle/>
                    <a:p>
                      <a:pPr algn="ctr"/>
                      <a:r>
                        <a:rPr sz="1000" b="0">
                          <a:latin typeface="Times New Roman"/>
                        </a:rPr>
                        <a:t>17 / 18</a:t>
                      </a:r>
                    </a:p>
                  </a:txBody>
                  <a:tcPr marL="54000" marR="36000" marT="9000" marB="9000" anchor="ctr"/>
                </a:tc>
              </a:tr>
              <a:tr h="237744">
                <a:tc>
                  <a:txBody>
                    <a:bodyPr/>
                    <a:lstStyle/>
                    <a:p>
                      <a:pPr algn="l"/>
                      <a:r>
                        <a:rPr sz="1000" b="0">
                          <a:latin typeface="Times New Roman"/>
                        </a:rPr>
                        <a:t>Refusal gate</a:t>
                      </a:r>
                    </a:p>
                  </a:txBody>
                  <a:tcPr marL="54000" marR="36000" marT="9000" marB="9000" anchor="ctr"/>
                </a:tc>
                <a:tc>
                  <a:txBody>
                    <a:bodyPr/>
                    <a:lstStyle/>
                    <a:p>
                      <a:pPr algn="ctr"/>
                      <a:r>
                        <a:rPr sz="1000" b="0">
                          <a:latin typeface="Times New Roman"/>
                        </a:rPr>
                        <a:t>6 / 6</a:t>
                      </a:r>
                    </a:p>
                  </a:txBody>
                  <a:tcPr marL="54000" marR="36000" marT="9000" marB="9000" anchor="ctr"/>
                </a:tc>
              </a:tr>
              <a:tr h="237744">
                <a:tc>
                  <a:txBody>
                    <a:bodyPr/>
                    <a:lstStyle/>
                    <a:p>
                      <a:pPr algn="l"/>
                      <a:r>
                        <a:rPr sz="1000" b="0">
                          <a:latin typeface="Times New Roman"/>
                        </a:rPr>
                        <a:t>Automated tests</a:t>
                      </a:r>
                    </a:p>
                  </a:txBody>
                  <a:tcPr marL="54000" marR="36000" marT="9000" marB="9000" anchor="ctr"/>
                </a:tc>
                <a:tc>
                  <a:txBody>
                    <a:bodyPr/>
                    <a:lstStyle/>
                    <a:p>
                      <a:pPr algn="ctr"/>
                      <a:r>
                        <a:rPr sz="1000" b="0">
                          <a:latin typeface="Times New Roman"/>
                        </a:rPr>
                        <a:t>144</a:t>
                      </a:r>
                    </a:p>
                  </a:txBody>
                  <a:tcPr marL="54000" marR="36000" marT="9000" marB="9000" anchor="ctr"/>
                </a:tc>
              </a:tr>
            </a:tbl>
          </a:graphicData>
        </a:graphic>
      </p:graphicFrame>
      <p:sp>
        <p:nvSpPr>
          <p:cNvPr id="171" name="TextBox 170"/>
          <p:cNvSpPr txBox="1"/>
          <p:nvPr/>
        </p:nvSpPr>
        <p:spPr>
          <a:xfrm>
            <a:off x="5806440" y="2331720"/>
            <a:ext cx="2834640" cy="228600"/>
          </a:xfrm>
          <a:prstGeom prst="rect">
            <a:avLst/>
          </a:prstGeom>
          <a:noFill/>
        </p:spPr>
        <p:txBody>
          <a:bodyPr wrap="square" lIns="0" rIns="0" tIns="0" bIns="0">
            <a:spAutoFit/>
          </a:bodyPr>
          <a:lstStyle/>
          <a:p>
            <a:pPr algn="l"/>
            <a:r>
              <a:rPr sz="1150" b="1" i="0">
                <a:solidFill>
                  <a:srgbClr val="000000"/>
                </a:solidFill>
                <a:latin typeface="Times New Roman"/>
              </a:rPr>
              <a:t>Cold start — a city never seen</a:t>
            </a:r>
          </a:p>
        </p:txBody>
      </p:sp>
      <p:graphicFrame>
        <p:nvGraphicFramePr>
          <p:cNvPr id="172" name="Table 171"/>
          <p:cNvGraphicFramePr>
            <a:graphicFrameLocks noGrp="1"/>
          </p:cNvGraphicFramePr>
          <p:nvPr/>
        </p:nvGraphicFramePr>
        <p:xfrm>
          <a:off x="5806440" y="2587752"/>
          <a:ext cx="2834640" cy="475488"/>
        </p:xfrm>
        <a:graphic>
          <a:graphicData uri="http://schemas.openxmlformats.org/drawingml/2006/table">
            <a:tbl>
              <a:tblPr firstRow="1" bandRow="1">
                <a:tableStyleId>{5C22544A-7EE6-4342-B048-85BDC9FD1C3A}</a:tableStyleId>
              </a:tblPr>
              <a:tblGrid>
                <a:gridCol w="822960"/>
                <a:gridCol w="502920"/>
                <a:gridCol w="685800"/>
                <a:gridCol w="411480"/>
                <a:gridCol w="411480"/>
              </a:tblGrid>
              <a:tr h="237744">
                <a:tc>
                  <a:txBody>
                    <a:bodyPr/>
                    <a:lstStyle/>
                    <a:p>
                      <a:pPr algn="l"/>
                      <a:r>
                        <a:rPr sz="900" b="1">
                          <a:latin typeface="Times New Roman"/>
                        </a:rPr>
                        <a:t>City</a:t>
                      </a:r>
                    </a:p>
                  </a:txBody>
                  <a:tcPr marL="54000" marR="36000" marT="9000" marB="9000" anchor="ctr"/>
                </a:tc>
                <a:tc>
                  <a:txBody>
                    <a:bodyPr/>
                    <a:lstStyle/>
                    <a:p>
                      <a:pPr algn="ctr"/>
                      <a:r>
                        <a:rPr sz="900" b="1">
                          <a:latin typeface="Times New Roman"/>
                        </a:rPr>
                        <a:t>Places</a:t>
                      </a:r>
                    </a:p>
                  </a:txBody>
                  <a:tcPr marL="54000" marR="36000" marT="9000" marB="9000" anchor="ctr"/>
                </a:tc>
                <a:tc>
                  <a:txBody>
                    <a:bodyPr/>
                    <a:lstStyle/>
                    <a:p>
                      <a:pPr algn="ctr"/>
                      <a:r>
                        <a:rPr sz="900" b="1">
                          <a:latin typeface="Times New Roman"/>
                        </a:rPr>
                        <a:t>Paragraphs</a:t>
                      </a:r>
                    </a:p>
                  </a:txBody>
                  <a:tcPr marL="54000" marR="36000" marT="9000" marB="9000" anchor="ctr"/>
                </a:tc>
                <a:tc>
                  <a:txBody>
                    <a:bodyPr/>
                    <a:lstStyle/>
                    <a:p>
                      <a:pPr algn="ctr"/>
                      <a:r>
                        <a:rPr sz="900" b="1">
                          <a:latin typeface="Times New Roman"/>
                        </a:rPr>
                        <a:t>Time</a:t>
                      </a:r>
                    </a:p>
                  </a:txBody>
                  <a:tcPr marL="54000" marR="36000" marT="9000" marB="9000" anchor="ctr"/>
                </a:tc>
                <a:tc>
                  <a:txBody>
                    <a:bodyPr/>
                    <a:lstStyle/>
                    <a:p>
                      <a:pPr algn="ctr"/>
                      <a:r>
                        <a:rPr sz="900" b="1">
                          <a:latin typeface="Times New Roman"/>
                        </a:rPr>
                        <a:t>Cost</a:t>
                      </a:r>
                    </a:p>
                  </a:txBody>
                  <a:tcPr marL="54000" marR="36000" marT="9000" marB="9000" anchor="ctr"/>
                </a:tc>
              </a:tr>
              <a:tr h="237744">
                <a:tc>
                  <a:txBody>
                    <a:bodyPr/>
                    <a:lstStyle/>
                    <a:p>
                      <a:pPr algn="l"/>
                      <a:r>
                        <a:rPr sz="900" b="0">
                          <a:latin typeface="Times New Roman"/>
                        </a:rPr>
                        <a:t>Mangalore</a:t>
                      </a:r>
                    </a:p>
                  </a:txBody>
                  <a:tcPr marL="54000" marR="36000" marT="9000" marB="9000" anchor="ctr"/>
                </a:tc>
                <a:tc>
                  <a:txBody>
                    <a:bodyPr/>
                    <a:lstStyle/>
                    <a:p>
                      <a:pPr algn="ctr"/>
                      <a:r>
                        <a:rPr sz="900" b="0">
                          <a:latin typeface="Times New Roman"/>
                        </a:rPr>
                        <a:t>23</a:t>
                      </a:r>
                    </a:p>
                  </a:txBody>
                  <a:tcPr marL="54000" marR="36000" marT="9000" marB="9000" anchor="ctr"/>
                </a:tc>
                <a:tc>
                  <a:txBody>
                    <a:bodyPr/>
                    <a:lstStyle/>
                    <a:p>
                      <a:pPr algn="ctr"/>
                      <a:r>
                        <a:rPr sz="900" b="0">
                          <a:latin typeface="Times New Roman"/>
                        </a:rPr>
                        <a:t>12</a:t>
                      </a:r>
                    </a:p>
                  </a:txBody>
                  <a:tcPr marL="54000" marR="36000" marT="9000" marB="9000" anchor="ctr"/>
                </a:tc>
                <a:tc>
                  <a:txBody>
                    <a:bodyPr/>
                    <a:lstStyle/>
                    <a:p>
                      <a:pPr algn="ctr"/>
                      <a:r>
                        <a:rPr sz="900" b="0">
                          <a:latin typeface="Times New Roman"/>
                        </a:rPr>
                        <a:t>32 s</a:t>
                      </a:r>
                    </a:p>
                  </a:txBody>
                  <a:tcPr marL="54000" marR="36000" marT="9000" marB="9000" anchor="ctr"/>
                </a:tc>
                <a:tc>
                  <a:txBody>
                    <a:bodyPr/>
                    <a:lstStyle/>
                    <a:p>
                      <a:pPr algn="ctr"/>
                      <a:r>
                        <a:rPr sz="900" b="0">
                          <a:latin typeface="Times New Roman"/>
                        </a:rPr>
                        <a:t>$0.009</a:t>
                      </a:r>
                    </a:p>
                  </a:txBody>
                  <a:tcPr marL="54000" marR="36000" marT="9000" marB="9000" anchor="ctr"/>
                </a:tc>
              </a:tr>
            </a:tbl>
          </a:graphicData>
        </a:graphic>
      </p:graphicFrame>
      <p:sp>
        <p:nvSpPr>
          <p:cNvPr id="173" name="TextBox 172"/>
          <p:cNvSpPr txBox="1"/>
          <p:nvPr/>
        </p:nvSpPr>
        <p:spPr>
          <a:xfrm>
            <a:off x="5806440" y="3246120"/>
            <a:ext cx="2834640" cy="1600200"/>
          </a:xfrm>
          <a:prstGeom prst="rect">
            <a:avLst/>
          </a:prstGeom>
          <a:noFill/>
        </p:spPr>
        <p:txBody>
          <a:bodyPr wrap="square" lIns="0" rIns="0" tIns="0" bIns="0">
            <a:spAutoFit/>
          </a:bodyPr>
          <a:lstStyle/>
          <a:p>
            <a:pPr algn="l"/>
            <a:r>
              <a:rPr sz="950" b="0" i="0">
                <a:solidFill>
                  <a:srgbClr val="000000"/>
                </a:solidFill>
                <a:latin typeface="Times New Roman"/>
              </a:rPr>
              <a:t>Every narrated segment is checked after generation against the paragraphs it was given: any date, number or English name not in the source fails, the segment is retried, then replaced by the source text itself.</a:t>
            </a:r>
          </a:p>
          <a:p>
            <a:pPr algn="l"/>
            <a:r>
              <a:rPr sz="950" b="0" i="0">
                <a:solidFill>
                  <a:srgbClr val="000000"/>
                </a:solidFill>
                <a:latin typeface="Times New Roman"/>
              </a:rPr>
              <a:t/>
            </a:r>
          </a:p>
          <a:p>
            <a:pPr algn="l"/>
            <a:r>
              <a:rPr sz="950" b="0" i="0">
                <a:solidFill>
                  <a:srgbClr val="000000"/>
                </a:solidFill>
                <a:latin typeface="Times New Roman"/>
              </a:rPr>
              <a:t>The refusal gate is the opposite test — six questions the corpus cannot answer, all six refused.</a:t>
            </a:r>
          </a:p>
        </p:txBody>
      </p:sp>
      <p:sp>
        <p:nvSpPr>
          <p:cNvPr id="174" name="TextBox 173"/>
          <p:cNvSpPr txBox="1"/>
          <p:nvPr/>
        </p:nvSpPr>
        <p:spPr>
          <a:xfrm>
            <a:off x="502920" y="4983480"/>
            <a:ext cx="8138160" cy="731520"/>
          </a:xfrm>
          <a:prstGeom prst="rect">
            <a:avLst/>
          </a:prstGeom>
          <a:noFill/>
        </p:spPr>
        <p:txBody>
          <a:bodyPr wrap="square" lIns="0" rIns="0" tIns="0" bIns="0">
            <a:spAutoFit/>
          </a:bodyPr>
          <a:lstStyle/>
          <a:p>
            <a:pPr algn="l"/>
            <a:r>
              <a:rPr sz="1100" b="0" i="1">
                <a:solidFill>
                  <a:srgbClr val="000000"/>
                </a:solidFill>
                <a:latin typeface="Times New Roman"/>
              </a:rPr>
              <a:t>Analysis: the planner result is a checklist result, not an opinion — 37 of 37 checks on a trip with an elder, a child, a fixed-time palace slot and a 7 pm evening. The retrieval result is reported as measured, including the regression, because a benchmark that only moves upward is not a benchmark.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2" name="Google Shape;192;g3a64a40ef39_0_0"/>
          <p:cNvSpPr txBox="1">
            <a:spLocks noGrp="1"/>
          </p:cNvSpPr>
          <p:nvPr>
            <p:ph type="title"/>
          </p:nvPr>
        </p:nvSpPr>
        <p:spPr>
          <a:xfrm>
            <a:off x="457200" y="155448"/>
            <a:ext cx="8193024" cy="640080"/>
          </a:xfrm>
          <a:prstGeom prst="rect">
            <a:avLst/>
          </a:prstGeom>
        </p:spPr>
        <p:txBody>
          <a:bodyPr spcFirstLastPara="1" wrap="square" lIns="91425" tIns="45700" rIns="91425" bIns="45700" anchor="t" anchorCtr="0">
            <a:normAutofit/>
          </a:bodyPr>
          <a:lstStyle/>
          <a:p>
            <a:pPr marL="0" lvl="0" indent="0" algn="l" rtl="0">
              <a:spcBef>
                <a:spcPts val="0"/>
              </a:spcBef>
              <a:spcAft>
                <a:spcPts val="0"/>
              </a:spcAft>
              <a:buNone/>
            </a:pPr>
            <a:r>
              <a:rPr lang="en-IN" dirty="0" sz="2800">
                <a:latin typeface="Times New Roman" panose="02020603050405020304" pitchFamily="18" charset="0"/>
                <a:cs typeface="Times New Roman" panose="02020603050405020304" pitchFamily="18" charset="0"/>
              </a:rPr>
              <a:t>REFERENCES (IEEE FORMAT)</a:t>
            </a:r>
            <a:endParaRPr dirty="0">
              <a:latin typeface="Times New Roman" panose="02020603050405020304" pitchFamily="18" charset="0"/>
              <a:cs typeface="Times New Roman" panose="02020603050405020304" pitchFamily="18" charset="0"/>
            </a:endParaRPr>
          </a:p>
        </p:txBody>
      </p:sp>
      <p:sp>
        <p:nvSpPr>
          <p:cNvPr id="193" name="Google Shape;193;g3a64a40ef39_0_0"/>
          <p:cNvSpPr txBox="1">
            <a:spLocks noGrp="1"/>
          </p:cNvSpPr>
          <p:nvPr>
            <p:ph type="body" idx="1"/>
          </p:nvPr>
        </p:nvSpPr>
        <p:spPr>
          <a:xfrm>
            <a:off x="457200" y="932688"/>
            <a:ext cx="8193024" cy="5440680"/>
          </a:xfrm>
          <a:prstGeom prst="rect">
            <a:avLst/>
          </a:prstGeom>
        </p:spPr>
        <p:txBody>
          <a:bodyPr spcFirstLastPara="1" wrap="square" lIns="91425" tIns="45700" rIns="91425" bIns="45700" anchor="t" anchorCtr="0">
            <a:normAutofit/>
          </a:bodyPr>
          <a:lstStyle/>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[1] J. Xie, K. Zhang, J. Chen, T. Zhu, R. Lou, Y. Tian, Y. Xiao and Y. Su, “TravelPlanner: A Benchmark for Real-World Planning with Language Agents,” in Proc. 41st Int. Conf. Machine Learning (ICML), 2024.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[2] Y. Hao, Y. Chen, Y. Zhang and C. Fan, “Large Language Models Can Solve Real-World Planning Rigorously with Formal Verification Tools,” in Proc. 2025 Conf. North American Chapter of the ACL (NAACL), 2025, pp. 3499–3557.</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[3] J.-J. Shao, B.-W. Zhang, X.-W. Yang, B. Chen, L.-Z. Guo and Y.-F. Li, “ChinaTravel: An Open-Ended Travel Planning Benchmark with Compositional Constraint Validation for Language Agents,” in Proc. Int. Conf. Learning Representations (ICLR), 2026.</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[4] P. Lewis et al., “Retrieval-Augmented Generation for Knowledge-Intensive NLP Tasks,” in Adv. Neural Inf. Process. Syst. (NeurIPS), vol. 33, 2020, pp. 9459–9474.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[5] L. Wang, N. Yang, X. Huang, L. Yang, R. Majumder and F. Wei, “Multilingual E5 Text Embeddings: A Technical Report,” arXiv:2402.05672, 2024.</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[6] G. V. Cormack, C. L. A. Clarke and S. Buettcher, “Reciprocal Rank Fusion Outperforms Condorcet and Individual Rank Learning Methods,” in Proc. 32nd Int. ACM SIGIR Conf., 2009, pp. 758–759.</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[7] G. A. Croes, “A Method for Solving Traveling-Salesman Problems,” Operations Research, vol. 6, no. 6, pp. 791–812, 1958.</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[8] D. Arthur and S. Vassilvitskii, “k-means++: The Advantages of Careful Seeding,” in Proc. 18th ACM-SIAM Symp. Discrete Algorithms (SODA), 2007, pp. 1027–1035.</a:t>
            </a:r>
            <a:endParaRPr sz="1800" b="0" dirty="0">
              <a:latin typeface="Times New Roman" panose="02020603050405020304" pitchFamily="18" charset="0"/>
              <a:cs typeface="Times New Roman" panose="02020603050405020304" pitchFamily="18" charset="0"/>
            </a:endParaRPr>
          </a:p>
          <a:p>
            <a:pPr marL="228600" indent="0" algn="l" rtl="0">
              <a:lnSpc>
                <a:spcPct val="150000"/>
              </a:lnSpc>
              <a:spcBef>
                <a:spcPts val="360"/>
              </a:spcBef>
              <a:spcAft>
                <a:spcPts val="400"/>
              </a:spcAft>
              <a:buClr>
                <a:schemeClr val="dk1"/>
              </a:buClr>
              <a:buSzPct val="90000"/>
              <a:buFont typeface="Arial"/>
              <a:buNone/>
            </a:pPr>
            <a:r>
              <a:rPr lang="en-IN" sz="1000" b="0" dirty="0">
                <a:latin typeface="Times New Roman" panose="02020603050405020304" pitchFamily="18" charset="0"/>
                <a:ea typeface="Bookman Old Style"/>
                <a:cs typeface="Times New Roman" panose="02020603050405020304" pitchFamily="18" charset="0"/>
                <a:sym typeface="Bookman Old Style"/>
              </a:rPr>
              <a:t>[9] S. P. Lloyd, “Least Squares Quantization in PCM,” IEEE Trans. Information Theory, vol. 28, no. 2, pp. 129–137, 1982.</a:t>
            </a:r>
            <a:endParaRPr sz="1800" b="0" dirty="0">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id="{8F7E51F1-3898-D2F1-E130-E335DF49869E}"/>
              </a:ext>
            </a:extLst>
          </p:cNvPr>
          <p:cNvSpPr>
            <a:spLocks noGrp="1"/>
          </p:cNvSpPr>
          <p:nvPr>
            <p:ph type="ftr" idx="11"/>
          </p:nvPr>
        </p:nvSpPr>
        <p:spPr>
          <a:xfrm>
            <a:off x="457200" y="6492875"/>
            <a:ext cx="7790688" cy="283845"/>
          </a:xfrm>
        </p:spPr>
        <p:txBody>
          <a:bodyPr/>
          <a:lstStyle/>
          <a:p>
            <a:r>
              <a:rPr lang="en-US" dirty="0"/>
              <a:t>Dept. of ISE,BMSIT&amp;M                       7th Semester, MAJOR PROJECT PHASE-2 (BCS705) REVIEW ‘1                             AY : 2026-27 </a:t>
            </a:r>
            <a:endParaRPr lang="en-IN" dirty="0"/>
          </a:p>
        </p:txBody>
      </p:sp>
      <p:sp>
        <p:nvSpPr>
          <p:cNvPr id="6" name="Slide Number Placeholder 5">
            <a:extLst>
              <a:ext uri="{FF2B5EF4-FFF2-40B4-BE49-F238E27FC236}">
                <a16:creationId xmlns:a16="http://schemas.microsoft.com/office/drawing/2014/main" id="{D4FBF170-66C7-99AD-5F18-88CCB6F91C6B}"/>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IN" smtClean="0"/>
              <a:t>11</a:t>
            </a:fld>
            <a:endParaRPr lang="en-IN"/>
          </a:p>
        </p:txBody>
      </p:sp>
    </p:spTree>
  </p:cSld>
  <p:clrMapOvr>
    <a:masterClrMapping/>
  </p:clrMapOvr>
</p:sld>
</file>

<file path=ppt/theme/theme1.xml><?xml version="1.0" encoding="utf-8"?>
<a:theme xmlns:a="http://schemas.openxmlformats.org/drawingml/2006/main" name="Essential">
  <a:themeElements>
    <a:clrScheme name="Essential">
      <a:dk1>
        <a:srgbClr val="000000"/>
      </a:dk1>
      <a:lt1>
        <a:srgbClr val="FFFFFF"/>
      </a:lt1>
      <a:dk2>
        <a:srgbClr val="D1282E"/>
      </a:dk2>
      <a:lt2>
        <a:srgbClr val="C8C8B1"/>
      </a:lt2>
      <a:accent1>
        <a:srgbClr val="7A7A7A"/>
      </a:accent1>
      <a:accent2>
        <a:srgbClr val="F5C201"/>
      </a:accent2>
      <a:accent3>
        <a:srgbClr val="526DB0"/>
      </a:accent3>
      <a:accent4>
        <a:srgbClr val="989AAC"/>
      </a:accent4>
      <a:accent5>
        <a:srgbClr val="DC5924"/>
      </a:accent5>
      <a:accent6>
        <a:srgbClr val="B4B392"/>
      </a:accent6>
      <a:hlink>
        <a:srgbClr val="CC9900"/>
      </a:hlink>
      <a:folHlink>
        <a:srgbClr val="969696"/>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TotalTime>
  <Words>759</Words>
  <Application>Microsoft Office PowerPoint</Application>
  <PresentationFormat>On-screen Show (4:3)</PresentationFormat>
  <Paragraphs>127</Paragraphs>
  <Slides>11</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11</vt:i4>
      </vt:variant>
    </vt:vector>
  </HeadingPairs>
  <TitlesOfParts>
    <vt:vector size="19" baseType="lpstr">
      <vt:lpstr>Cambria Math</vt:lpstr>
      <vt:lpstr>Arial Black</vt:lpstr>
      <vt:lpstr>Calibri</vt:lpstr>
      <vt:lpstr>Century Schoolbook</vt:lpstr>
      <vt:lpstr>Times New Roman</vt:lpstr>
      <vt:lpstr>Arial</vt:lpstr>
      <vt:lpstr>Roboto</vt:lpstr>
      <vt:lpstr>Essential</vt:lpstr>
      <vt:lpstr>PowerPoint Presentation</vt:lpstr>
      <vt:lpstr>CONTENT </vt:lpstr>
      <vt:lpstr>ABSTRACT</vt:lpstr>
      <vt:lpstr>INTRODUCTION</vt:lpstr>
      <vt:lpstr>PROBLEM STATEMENT</vt:lpstr>
      <vt:lpstr>OBJECTIVES OF THE WORK</vt:lpstr>
      <vt:lpstr>METHODOLOGY </vt:lpstr>
      <vt:lpstr>DEMONSTRATION OF PROJECT EXECUTION</vt:lpstr>
      <vt:lpstr>Experimental Setup, Results &amp; Analysis</vt:lpstr>
      <vt:lpstr>PROJECT STATUS, CONCLUSION </vt:lpstr>
      <vt:lpstr>PUBLICATIONS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Sri Kothapalli</cp:lastModifiedBy>
  <cp:revision>14</cp:revision>
  <dcterms:modified xsi:type="dcterms:W3CDTF">2026-08-27T05:30:32Z</dcterms:modified>
</cp:coreProperties>
</file>